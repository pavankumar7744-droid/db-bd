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Calibri (MS)" panose="020B0604020202020204" charset="0"/>
      <p:regular r:id="rId14"/>
    </p:embeddedFont>
    <p:embeddedFont>
      <p:font typeface="Calibri (MS) Bold" panose="020B0604020202020204" charset="0"/>
      <p:regular r:id="rId15"/>
    </p:embeddedFont>
    <p:embeddedFont>
      <p:font typeface="Calibri (MS) Italics" panose="020B0604020202020204" charset="0"/>
      <p:regular r:id="rId16"/>
    </p:embeddedFont>
    <p:embeddedFont>
      <p:font typeface="Courier New Bold" panose="02070609020205020404" pitchFamily="49" charset="0"/>
      <p:regular r:id="rId17"/>
      <p:bold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658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28.09.2026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264640" y="-2194560"/>
            <a:ext cx="7132320" cy="7132320"/>
            <a:chOff x="0" y="0"/>
            <a:chExt cx="9509760" cy="95097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509760" cy="9509760"/>
            </a:xfrm>
            <a:custGeom>
              <a:avLst/>
              <a:gdLst/>
              <a:ahLst/>
              <a:cxnLst/>
              <a:rect l="l" t="t" r="r" b="b"/>
              <a:pathLst>
                <a:path w="9509760" h="9509760">
                  <a:moveTo>
                    <a:pt x="0" y="4754880"/>
                  </a:moveTo>
                  <a:cubicBezTo>
                    <a:pt x="0" y="2128774"/>
                    <a:pt x="2128774" y="0"/>
                    <a:pt x="4754880" y="0"/>
                  </a:cubicBezTo>
                  <a:cubicBezTo>
                    <a:pt x="7380986" y="0"/>
                    <a:pt x="9509760" y="2128774"/>
                    <a:pt x="9509760" y="4754880"/>
                  </a:cubicBezTo>
                  <a:cubicBezTo>
                    <a:pt x="9509760" y="7380986"/>
                    <a:pt x="7380986" y="9509760"/>
                    <a:pt x="4754880" y="9509760"/>
                  </a:cubicBezTo>
                  <a:cubicBezTo>
                    <a:pt x="2128774" y="9509760"/>
                    <a:pt x="0" y="7380986"/>
                    <a:pt x="0" y="4754880"/>
                  </a:cubicBezTo>
                  <a:close/>
                </a:path>
              </a:pathLst>
            </a:custGeom>
            <a:solidFill>
              <a:srgbClr val="4F46E5">
                <a:alpha val="1176"/>
              </a:srgbClr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5910560" y="6309360"/>
            <a:ext cx="4663440" cy="4663440"/>
            <a:chOff x="0" y="0"/>
            <a:chExt cx="6217920" cy="62179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217920" cy="6217920"/>
            </a:xfrm>
            <a:custGeom>
              <a:avLst/>
              <a:gdLst/>
              <a:ahLst/>
              <a:cxnLst/>
              <a:rect l="l" t="t" r="r" b="b"/>
              <a:pathLst>
                <a:path w="6217920" h="6217920">
                  <a:moveTo>
                    <a:pt x="0" y="3108960"/>
                  </a:moveTo>
                  <a:cubicBezTo>
                    <a:pt x="0" y="1391920"/>
                    <a:pt x="1391920" y="0"/>
                    <a:pt x="3108960" y="0"/>
                  </a:cubicBezTo>
                  <a:cubicBezTo>
                    <a:pt x="4826000" y="0"/>
                    <a:pt x="6217920" y="1391920"/>
                    <a:pt x="6217920" y="3108960"/>
                  </a:cubicBezTo>
                  <a:cubicBezTo>
                    <a:pt x="6217920" y="4826000"/>
                    <a:pt x="4826000" y="6217920"/>
                    <a:pt x="3108960" y="6217920"/>
                  </a:cubicBezTo>
                  <a:cubicBezTo>
                    <a:pt x="1391920" y="6217920"/>
                    <a:pt x="0" y="4826000"/>
                    <a:pt x="0" y="3108960"/>
                  </a:cubicBezTo>
                  <a:close/>
                </a:path>
              </a:pathLst>
            </a:custGeom>
            <a:solidFill>
              <a:srgbClr val="22D3EE">
                <a:alpha val="784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-1920240" y="7063740"/>
            <a:ext cx="4937760" cy="4937760"/>
            <a:chOff x="0" y="0"/>
            <a:chExt cx="6583680" cy="65836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583680" cy="6583680"/>
            </a:xfrm>
            <a:custGeom>
              <a:avLst/>
              <a:gdLst/>
              <a:ahLst/>
              <a:cxnLst/>
              <a:rect l="l" t="t" r="r" b="b"/>
              <a:pathLst>
                <a:path w="6583680" h="6583680">
                  <a:moveTo>
                    <a:pt x="0" y="3291840"/>
                  </a:moveTo>
                  <a:cubicBezTo>
                    <a:pt x="0" y="1473835"/>
                    <a:pt x="1473835" y="0"/>
                    <a:pt x="3291840" y="0"/>
                  </a:cubicBezTo>
                  <a:cubicBezTo>
                    <a:pt x="5109845" y="0"/>
                    <a:pt x="6583680" y="1473835"/>
                    <a:pt x="6583680" y="3291840"/>
                  </a:cubicBezTo>
                  <a:cubicBezTo>
                    <a:pt x="6583680" y="5109845"/>
                    <a:pt x="5109845" y="6583680"/>
                    <a:pt x="3291840" y="6583680"/>
                  </a:cubicBezTo>
                  <a:cubicBezTo>
                    <a:pt x="1473835" y="6583680"/>
                    <a:pt x="0" y="5109845"/>
                    <a:pt x="0" y="3291840"/>
                  </a:cubicBezTo>
                  <a:close/>
                </a:path>
              </a:pathLst>
            </a:custGeom>
            <a:solidFill>
              <a:srgbClr val="4F46E5">
                <a:alpha val="784"/>
              </a:srgbClr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234440" y="1409700"/>
            <a:ext cx="15773400" cy="1783080"/>
            <a:chOff x="0" y="0"/>
            <a:chExt cx="21031200" cy="23774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031200" cy="2377440"/>
            </a:xfrm>
            <a:custGeom>
              <a:avLst/>
              <a:gdLst/>
              <a:ahLst/>
              <a:cxnLst/>
              <a:rect l="l" t="t" r="r" b="b"/>
              <a:pathLst>
                <a:path w="21031200" h="2377440">
                  <a:moveTo>
                    <a:pt x="0" y="0"/>
                  </a:moveTo>
                  <a:lnTo>
                    <a:pt x="21031200" y="0"/>
                  </a:lnTo>
                  <a:lnTo>
                    <a:pt x="2103120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2367" b="-122367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0"/>
              <a:ext cx="21031200" cy="2567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1160"/>
                </a:lnSpc>
              </a:pPr>
              <a:r>
                <a:rPr lang="en-US" sz="9300" b="1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INTTE</a:t>
              </a:r>
              <a:r>
                <a:rPr lang="en-US" sz="9300" b="1">
                  <a:solidFill>
                    <a:srgbClr val="818C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03020" y="2865120"/>
            <a:ext cx="14401800" cy="754380"/>
            <a:chOff x="0" y="0"/>
            <a:chExt cx="19202400" cy="100584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202400" cy="1005840"/>
            </a:xfrm>
            <a:custGeom>
              <a:avLst/>
              <a:gdLst/>
              <a:ahLst/>
              <a:cxnLst/>
              <a:rect l="l" t="t" r="r" b="b"/>
              <a:pathLst>
                <a:path w="19202400" h="1005840">
                  <a:moveTo>
                    <a:pt x="0" y="0"/>
                  </a:moveTo>
                  <a:lnTo>
                    <a:pt x="19202400" y="0"/>
                  </a:lnTo>
                  <a:lnTo>
                    <a:pt x="192024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1987" b="-321987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19202400" cy="10725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960"/>
                </a:lnSpc>
              </a:pPr>
              <a:r>
                <a:rPr lang="en-US" sz="33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Interview Practice &amp; Coaching Platform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93495" y="6819900"/>
            <a:ext cx="2830830" cy="457962"/>
            <a:chOff x="0" y="0"/>
            <a:chExt cx="3774440" cy="61061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774440" cy="610616"/>
            </a:xfrm>
            <a:custGeom>
              <a:avLst/>
              <a:gdLst/>
              <a:ahLst/>
              <a:cxnLst/>
              <a:rect l="l" t="t" r="r" b="b"/>
              <a:pathLst>
                <a:path w="3774440" h="610616">
                  <a:moveTo>
                    <a:pt x="0" y="152654"/>
                  </a:moveTo>
                  <a:cubicBezTo>
                    <a:pt x="0" y="68326"/>
                    <a:pt x="68326" y="0"/>
                    <a:pt x="152654" y="0"/>
                  </a:cubicBezTo>
                  <a:lnTo>
                    <a:pt x="3621786" y="0"/>
                  </a:lnTo>
                  <a:cubicBezTo>
                    <a:pt x="3706114" y="0"/>
                    <a:pt x="3774440" y="68326"/>
                    <a:pt x="3774440" y="152654"/>
                  </a:cubicBezTo>
                  <a:lnTo>
                    <a:pt x="3774440" y="457962"/>
                  </a:lnTo>
                  <a:cubicBezTo>
                    <a:pt x="3774440" y="542290"/>
                    <a:pt x="3706114" y="610616"/>
                    <a:pt x="3621786" y="610616"/>
                  </a:cubicBezTo>
                  <a:lnTo>
                    <a:pt x="152654" y="610616"/>
                  </a:lnTo>
                  <a:cubicBezTo>
                    <a:pt x="68326" y="610616"/>
                    <a:pt x="0" y="542290"/>
                    <a:pt x="0" y="457962"/>
                  </a:cubicBezTo>
                  <a:close/>
                </a:path>
              </a:pathLst>
            </a:custGeom>
            <a:solidFill>
              <a:srgbClr val="818CF8">
                <a:alpha val="3137"/>
              </a:srgbClr>
            </a:solidFill>
            <a:ln w="19050" cap="sq">
              <a:solidFill>
                <a:srgbClr val="818CF8"/>
              </a:solidFill>
              <a:prstDash val="solid"/>
              <a:miter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1303020" y="6819900"/>
            <a:ext cx="2811780" cy="457200"/>
            <a:chOff x="0" y="-24384"/>
            <a:chExt cx="3749040" cy="6096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749040" cy="585216"/>
            </a:xfrm>
            <a:custGeom>
              <a:avLst/>
              <a:gdLst/>
              <a:ahLst/>
              <a:cxnLst/>
              <a:rect l="l" t="t" r="r" b="b"/>
              <a:pathLst>
                <a:path w="3749040" h="585216">
                  <a:moveTo>
                    <a:pt x="0" y="0"/>
                  </a:moveTo>
                  <a:lnTo>
                    <a:pt x="3749040" y="0"/>
                  </a:lnTo>
                  <a:lnTo>
                    <a:pt x="37490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4826" b="-74826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24384"/>
              <a:ext cx="3749040" cy="60426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b="1" dirty="0">
                  <a:solidFill>
                    <a:srgbClr val="818C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MERN STACK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242435" y="6819900"/>
            <a:ext cx="3173730" cy="457962"/>
            <a:chOff x="0" y="0"/>
            <a:chExt cx="4231640" cy="61061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231640" cy="610616"/>
            </a:xfrm>
            <a:custGeom>
              <a:avLst/>
              <a:gdLst/>
              <a:ahLst/>
              <a:cxnLst/>
              <a:rect l="l" t="t" r="r" b="b"/>
              <a:pathLst>
                <a:path w="4231640" h="610616">
                  <a:moveTo>
                    <a:pt x="0" y="152654"/>
                  </a:moveTo>
                  <a:cubicBezTo>
                    <a:pt x="0" y="68326"/>
                    <a:pt x="68326" y="0"/>
                    <a:pt x="152654" y="0"/>
                  </a:cubicBezTo>
                  <a:lnTo>
                    <a:pt x="4078986" y="0"/>
                  </a:lnTo>
                  <a:cubicBezTo>
                    <a:pt x="4163314" y="0"/>
                    <a:pt x="4231640" y="68326"/>
                    <a:pt x="4231640" y="152654"/>
                  </a:cubicBezTo>
                  <a:lnTo>
                    <a:pt x="4231640" y="457962"/>
                  </a:lnTo>
                  <a:cubicBezTo>
                    <a:pt x="4231640" y="542290"/>
                    <a:pt x="4163314" y="610616"/>
                    <a:pt x="4078986" y="610616"/>
                  </a:cubicBezTo>
                  <a:lnTo>
                    <a:pt x="152654" y="610616"/>
                  </a:lnTo>
                  <a:cubicBezTo>
                    <a:pt x="68326" y="610616"/>
                    <a:pt x="0" y="542290"/>
                    <a:pt x="0" y="457962"/>
                  </a:cubicBezTo>
                  <a:close/>
                </a:path>
              </a:pathLst>
            </a:custGeom>
            <a:solidFill>
              <a:srgbClr val="34D399">
                <a:alpha val="3137"/>
              </a:srgbClr>
            </a:solidFill>
            <a:ln w="19050" cap="sq">
              <a:solidFill>
                <a:srgbClr val="34D399"/>
              </a:solidFill>
              <a:prstDash val="solid"/>
              <a:miter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4251960" y="6838188"/>
            <a:ext cx="3154680" cy="438912"/>
            <a:chOff x="0" y="0"/>
            <a:chExt cx="4206240" cy="58521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206240" cy="585216"/>
            </a:xfrm>
            <a:custGeom>
              <a:avLst/>
              <a:gdLst/>
              <a:ahLst/>
              <a:cxnLst/>
              <a:rect l="l" t="t" r="r" b="b"/>
              <a:pathLst>
                <a:path w="4206240" h="585216">
                  <a:moveTo>
                    <a:pt x="0" y="0"/>
                  </a:moveTo>
                  <a:lnTo>
                    <a:pt x="4206240" y="0"/>
                  </a:lnTo>
                  <a:lnTo>
                    <a:pt x="42062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0048" b="-90048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4206240" cy="6042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34D3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GEMINI AI API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534275" y="6819900"/>
            <a:ext cx="3516630" cy="457962"/>
            <a:chOff x="0" y="0"/>
            <a:chExt cx="4688840" cy="610616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688840" cy="610616"/>
            </a:xfrm>
            <a:custGeom>
              <a:avLst/>
              <a:gdLst/>
              <a:ahLst/>
              <a:cxnLst/>
              <a:rect l="l" t="t" r="r" b="b"/>
              <a:pathLst>
                <a:path w="4688840" h="610616">
                  <a:moveTo>
                    <a:pt x="0" y="152654"/>
                  </a:moveTo>
                  <a:cubicBezTo>
                    <a:pt x="0" y="68326"/>
                    <a:pt x="68326" y="0"/>
                    <a:pt x="152654" y="0"/>
                  </a:cubicBezTo>
                  <a:lnTo>
                    <a:pt x="4536186" y="0"/>
                  </a:lnTo>
                  <a:cubicBezTo>
                    <a:pt x="4620514" y="0"/>
                    <a:pt x="4688840" y="68326"/>
                    <a:pt x="4688840" y="152654"/>
                  </a:cubicBezTo>
                  <a:lnTo>
                    <a:pt x="4688840" y="457962"/>
                  </a:lnTo>
                  <a:cubicBezTo>
                    <a:pt x="4688840" y="542290"/>
                    <a:pt x="4620514" y="610616"/>
                    <a:pt x="4536186" y="610616"/>
                  </a:cubicBezTo>
                  <a:lnTo>
                    <a:pt x="152654" y="610616"/>
                  </a:lnTo>
                  <a:cubicBezTo>
                    <a:pt x="68326" y="610616"/>
                    <a:pt x="0" y="542290"/>
                    <a:pt x="0" y="457962"/>
                  </a:cubicBezTo>
                  <a:close/>
                </a:path>
              </a:pathLst>
            </a:custGeom>
            <a:solidFill>
              <a:srgbClr val="22D3EE">
                <a:alpha val="3137"/>
              </a:srgbClr>
            </a:solidFill>
            <a:ln w="19050" cap="sq">
              <a:solidFill>
                <a:srgbClr val="22D3EE"/>
              </a:solidFill>
              <a:prstDash val="solid"/>
              <a:miter/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7543800" y="6838188"/>
            <a:ext cx="3497580" cy="438912"/>
            <a:chOff x="0" y="0"/>
            <a:chExt cx="4663440" cy="58521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663440" cy="585216"/>
            </a:xfrm>
            <a:custGeom>
              <a:avLst/>
              <a:gdLst/>
              <a:ahLst/>
              <a:cxnLst/>
              <a:rect l="l" t="t" r="r" b="b"/>
              <a:pathLst>
                <a:path w="4663440" h="585216">
                  <a:moveTo>
                    <a:pt x="0" y="0"/>
                  </a:moveTo>
                  <a:lnTo>
                    <a:pt x="4663440" y="0"/>
                  </a:lnTo>
                  <a:lnTo>
                    <a:pt x="46634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5271" b="-105271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-19050"/>
              <a:ext cx="4663440" cy="6042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JWT AUTHENTICATION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E999240-5E9E-E221-2D9B-D04CBFF2FE8C}"/>
              </a:ext>
            </a:extLst>
          </p:cNvPr>
          <p:cNvSpPr txBox="1"/>
          <p:nvPr/>
        </p:nvSpPr>
        <p:spPr>
          <a:xfrm>
            <a:off x="1303020" y="7886700"/>
            <a:ext cx="65836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K. Pavan Kumar  -  2520090038</a:t>
            </a:r>
          </a:p>
          <a:p>
            <a:r>
              <a:rPr lang="en-IN" sz="2800" dirty="0">
                <a:solidFill>
                  <a:schemeClr val="bg1"/>
                </a:solidFill>
              </a:rPr>
              <a:t>P. Harsha Vardhan   -  2520090180</a:t>
            </a:r>
            <a:endParaRPr lang="en-IN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480060"/>
            <a:ext cx="10972800" cy="411480"/>
            <a:chOff x="0" y="0"/>
            <a:chExt cx="14630400" cy="5486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0400" cy="548640"/>
            </a:xfrm>
            <a:custGeom>
              <a:avLst/>
              <a:gdLst/>
              <a:ahLst/>
              <a:cxnLst/>
              <a:rect l="l" t="t" r="r" b="b"/>
              <a:pathLst>
                <a:path w="14630400" h="54864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9601" b="-469601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300">
                  <a:solidFill>
                    <a:srgbClr val="818C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PROJECT OVERVIEW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850392"/>
            <a:ext cx="15773400" cy="960120"/>
            <a:chOff x="0" y="0"/>
            <a:chExt cx="21031200" cy="12801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031200" cy="1280160"/>
            </a:xfrm>
            <a:custGeom>
              <a:avLst/>
              <a:gdLst/>
              <a:ahLst/>
              <a:cxnLst/>
              <a:rect l="l" t="t" r="r" b="b"/>
              <a:pathLst>
                <a:path w="21031200" h="128016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0111" b="-270111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21031200" cy="13658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Intteree Does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035583" y="548640"/>
            <a:ext cx="3429000" cy="411480"/>
            <a:chOff x="0" y="0"/>
            <a:chExt cx="4572000" cy="5486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572000" cy="548640"/>
            </a:xfrm>
            <a:custGeom>
              <a:avLst/>
              <a:gdLst/>
              <a:ahLst/>
              <a:cxnLst/>
              <a:rect l="l" t="t" r="r" b="b"/>
              <a:pathLst>
                <a:path w="4572000" h="548640">
                  <a:moveTo>
                    <a:pt x="0" y="0"/>
                  </a:moveTo>
                  <a:lnTo>
                    <a:pt x="4572000" y="0"/>
                  </a:lnTo>
                  <a:lnTo>
                    <a:pt x="4572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2375" b="-112375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45720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980"/>
                </a:lnSpc>
              </a:pPr>
              <a:r>
                <a:rPr lang="en-US" sz="1650" b="1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INTTE</a:t>
              </a:r>
              <a:r>
                <a:rPr lang="en-US" sz="1650" b="1">
                  <a:solidFill>
                    <a:srgbClr val="818C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REE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 rot="3960">
            <a:off x="813425" y="1750886"/>
            <a:ext cx="16660682" cy="0"/>
          </a:xfrm>
          <a:prstGeom prst="line">
            <a:avLst/>
          </a:prstGeom>
          <a:ln w="9525" cap="rnd">
            <a:solidFill>
              <a:srgbClr val="2E3B5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>
            <a:off x="1057942" y="2114074"/>
            <a:ext cx="490156" cy="490156"/>
            <a:chOff x="0" y="0"/>
            <a:chExt cx="653542" cy="65354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53542" cy="653542"/>
            </a:xfrm>
            <a:custGeom>
              <a:avLst/>
              <a:gdLst/>
              <a:ahLst/>
              <a:cxnLst/>
              <a:rect l="l" t="t" r="r" b="b"/>
              <a:pathLst>
                <a:path w="653542" h="653542">
                  <a:moveTo>
                    <a:pt x="0" y="326771"/>
                  </a:moveTo>
                  <a:cubicBezTo>
                    <a:pt x="0" y="146304"/>
                    <a:pt x="146304" y="0"/>
                    <a:pt x="326771" y="0"/>
                  </a:cubicBezTo>
                  <a:cubicBezTo>
                    <a:pt x="507238" y="0"/>
                    <a:pt x="653542" y="146304"/>
                    <a:pt x="653542" y="326771"/>
                  </a:cubicBezTo>
                  <a:cubicBezTo>
                    <a:pt x="653542" y="507238"/>
                    <a:pt x="507238" y="653542"/>
                    <a:pt x="326771" y="653542"/>
                  </a:cubicBezTo>
                  <a:cubicBezTo>
                    <a:pt x="146304" y="653542"/>
                    <a:pt x="0" y="507238"/>
                    <a:pt x="0" y="326771"/>
                  </a:cubicBezTo>
                  <a:close/>
                </a:path>
              </a:pathLst>
            </a:custGeom>
            <a:solidFill>
              <a:srgbClr val="818CF8">
                <a:alpha val="3137"/>
              </a:srgbClr>
            </a:solidFill>
            <a:ln w="23812" cap="sq">
              <a:solidFill>
                <a:srgbClr val="818CF8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069848" y="2125980"/>
            <a:ext cx="466344" cy="466344"/>
            <a:chOff x="0" y="0"/>
            <a:chExt cx="621792" cy="62179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21792" cy="621792"/>
            </a:xfrm>
            <a:custGeom>
              <a:avLst/>
              <a:gdLst/>
              <a:ahLst/>
              <a:cxnLst/>
              <a:rect l="l" t="t" r="r" b="b"/>
              <a:pathLst>
                <a:path w="621792" h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621792" cy="65036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591"/>
                </a:lnSpc>
              </a:pPr>
              <a:r>
                <a:rPr lang="en-US" sz="1326" b="1">
                  <a:solidFill>
                    <a:srgbClr val="818C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•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851660" y="2098548"/>
            <a:ext cx="7680960" cy="411480"/>
            <a:chOff x="0" y="0"/>
            <a:chExt cx="10241280" cy="54864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241280" cy="548640"/>
            </a:xfrm>
            <a:custGeom>
              <a:avLst/>
              <a:gdLst/>
              <a:ahLst/>
              <a:cxnLst/>
              <a:rect l="l" t="t" r="r" b="b"/>
              <a:pathLst>
                <a:path w="10241280" h="548640">
                  <a:moveTo>
                    <a:pt x="0" y="0"/>
                  </a:moveTo>
                  <a:lnTo>
                    <a:pt x="10241280" y="0"/>
                  </a:lnTo>
                  <a:lnTo>
                    <a:pt x="10241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3720" b="-313720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10241280" cy="5962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Purpose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851660" y="2482596"/>
            <a:ext cx="7818120" cy="754380"/>
            <a:chOff x="0" y="0"/>
            <a:chExt cx="10424160" cy="100584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424160" cy="1005840"/>
            </a:xfrm>
            <a:custGeom>
              <a:avLst/>
              <a:gdLst/>
              <a:ahLst/>
              <a:cxnLst/>
              <a:rect l="l" t="t" r="r" b="b"/>
              <a:pathLst>
                <a:path w="10424160" h="1005840">
                  <a:moveTo>
                    <a:pt x="0" y="0"/>
                  </a:moveTo>
                  <a:lnTo>
                    <a:pt x="10424160" y="0"/>
                  </a:lnTo>
                  <a:lnTo>
                    <a:pt x="104241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1935" b="-151935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10424160" cy="10629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77"/>
                </a:lnSpc>
              </a:pPr>
              <a:r>
                <a:rPr lang="en-US" sz="165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 AI-powered mock-interview coach for Technical, Behavioral, HR and System Design rounds.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57942" y="3513106"/>
            <a:ext cx="490156" cy="490156"/>
            <a:chOff x="0" y="0"/>
            <a:chExt cx="653542" cy="65354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53542" cy="653542"/>
            </a:xfrm>
            <a:custGeom>
              <a:avLst/>
              <a:gdLst/>
              <a:ahLst/>
              <a:cxnLst/>
              <a:rect l="l" t="t" r="r" b="b"/>
              <a:pathLst>
                <a:path w="653542" h="653542">
                  <a:moveTo>
                    <a:pt x="0" y="326771"/>
                  </a:moveTo>
                  <a:cubicBezTo>
                    <a:pt x="0" y="146304"/>
                    <a:pt x="146304" y="0"/>
                    <a:pt x="326771" y="0"/>
                  </a:cubicBezTo>
                  <a:cubicBezTo>
                    <a:pt x="507238" y="0"/>
                    <a:pt x="653542" y="146304"/>
                    <a:pt x="653542" y="326771"/>
                  </a:cubicBezTo>
                  <a:cubicBezTo>
                    <a:pt x="653542" y="507238"/>
                    <a:pt x="507238" y="653542"/>
                    <a:pt x="326771" y="653542"/>
                  </a:cubicBezTo>
                  <a:cubicBezTo>
                    <a:pt x="146304" y="653542"/>
                    <a:pt x="0" y="507238"/>
                    <a:pt x="0" y="326771"/>
                  </a:cubicBezTo>
                  <a:close/>
                </a:path>
              </a:pathLst>
            </a:custGeom>
            <a:solidFill>
              <a:srgbClr val="818CF8">
                <a:alpha val="3137"/>
              </a:srgbClr>
            </a:solidFill>
            <a:ln w="23812" cap="sq">
              <a:solidFill>
                <a:srgbClr val="818CF8"/>
              </a:solidFill>
              <a:prstDash val="solid"/>
              <a:miter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1069848" y="3525012"/>
            <a:ext cx="466344" cy="466344"/>
            <a:chOff x="0" y="0"/>
            <a:chExt cx="621792" cy="62179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21792" cy="621792"/>
            </a:xfrm>
            <a:custGeom>
              <a:avLst/>
              <a:gdLst/>
              <a:ahLst/>
              <a:cxnLst/>
              <a:rect l="l" t="t" r="r" b="b"/>
              <a:pathLst>
                <a:path w="621792" h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28575"/>
              <a:ext cx="621792" cy="65036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591"/>
                </a:lnSpc>
              </a:pPr>
              <a:r>
                <a:rPr lang="en-US" sz="1326" b="1">
                  <a:solidFill>
                    <a:srgbClr val="818C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•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851660" y="3497580"/>
            <a:ext cx="7680960" cy="411480"/>
            <a:chOff x="0" y="0"/>
            <a:chExt cx="10241280" cy="54864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0241280" cy="548640"/>
            </a:xfrm>
            <a:custGeom>
              <a:avLst/>
              <a:gdLst/>
              <a:ahLst/>
              <a:cxnLst/>
              <a:rect l="l" t="t" r="r" b="b"/>
              <a:pathLst>
                <a:path w="10241280" h="548640">
                  <a:moveTo>
                    <a:pt x="0" y="0"/>
                  </a:moveTo>
                  <a:lnTo>
                    <a:pt x="10241280" y="0"/>
                  </a:lnTo>
                  <a:lnTo>
                    <a:pt x="10241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3720" b="-313720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47625"/>
              <a:ext cx="10241280" cy="5962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Personalization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851660" y="3881628"/>
            <a:ext cx="7818120" cy="754380"/>
            <a:chOff x="0" y="0"/>
            <a:chExt cx="10424160" cy="100584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0424160" cy="1005840"/>
            </a:xfrm>
            <a:custGeom>
              <a:avLst/>
              <a:gdLst/>
              <a:ahLst/>
              <a:cxnLst/>
              <a:rect l="l" t="t" r="r" b="b"/>
              <a:pathLst>
                <a:path w="10424160" h="1005840">
                  <a:moveTo>
                    <a:pt x="0" y="0"/>
                  </a:moveTo>
                  <a:lnTo>
                    <a:pt x="10424160" y="0"/>
                  </a:lnTo>
                  <a:lnTo>
                    <a:pt x="104241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1935" b="-151935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57150"/>
              <a:ext cx="10424160" cy="10629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77"/>
                </a:lnSpc>
              </a:pPr>
              <a:r>
                <a:rPr lang="en-US" sz="165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Candidates set a target role and experience level; the question bank adapts to both.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057942" y="4912138"/>
            <a:ext cx="490156" cy="490156"/>
            <a:chOff x="0" y="0"/>
            <a:chExt cx="653542" cy="653542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653542" cy="653542"/>
            </a:xfrm>
            <a:custGeom>
              <a:avLst/>
              <a:gdLst/>
              <a:ahLst/>
              <a:cxnLst/>
              <a:rect l="l" t="t" r="r" b="b"/>
              <a:pathLst>
                <a:path w="653542" h="653542">
                  <a:moveTo>
                    <a:pt x="0" y="326771"/>
                  </a:moveTo>
                  <a:cubicBezTo>
                    <a:pt x="0" y="146304"/>
                    <a:pt x="146304" y="0"/>
                    <a:pt x="326771" y="0"/>
                  </a:cubicBezTo>
                  <a:cubicBezTo>
                    <a:pt x="507238" y="0"/>
                    <a:pt x="653542" y="146304"/>
                    <a:pt x="653542" y="326771"/>
                  </a:cubicBezTo>
                  <a:cubicBezTo>
                    <a:pt x="653542" y="507238"/>
                    <a:pt x="507238" y="653542"/>
                    <a:pt x="326771" y="653542"/>
                  </a:cubicBezTo>
                  <a:cubicBezTo>
                    <a:pt x="146304" y="653542"/>
                    <a:pt x="0" y="507238"/>
                    <a:pt x="0" y="326771"/>
                  </a:cubicBezTo>
                  <a:close/>
                </a:path>
              </a:pathLst>
            </a:custGeom>
            <a:solidFill>
              <a:srgbClr val="818CF8">
                <a:alpha val="3137"/>
              </a:srgbClr>
            </a:solidFill>
            <a:ln w="23812" cap="sq">
              <a:solidFill>
                <a:srgbClr val="818CF8"/>
              </a:solidFill>
              <a:prstDash val="solid"/>
              <a:miter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1069848" y="4924044"/>
            <a:ext cx="466344" cy="466344"/>
            <a:chOff x="0" y="0"/>
            <a:chExt cx="621792" cy="62179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621792" cy="621792"/>
            </a:xfrm>
            <a:custGeom>
              <a:avLst/>
              <a:gdLst/>
              <a:ahLst/>
              <a:cxnLst/>
              <a:rect l="l" t="t" r="r" b="b"/>
              <a:pathLst>
                <a:path w="621792" h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28575"/>
              <a:ext cx="621792" cy="65036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591"/>
                </a:lnSpc>
              </a:pPr>
              <a:r>
                <a:rPr lang="en-US" sz="1326" b="1">
                  <a:solidFill>
                    <a:srgbClr val="818C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•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851660" y="4896612"/>
            <a:ext cx="7680960" cy="411480"/>
            <a:chOff x="0" y="0"/>
            <a:chExt cx="10241280" cy="54864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0241280" cy="548640"/>
            </a:xfrm>
            <a:custGeom>
              <a:avLst/>
              <a:gdLst/>
              <a:ahLst/>
              <a:cxnLst/>
              <a:rect l="l" t="t" r="r" b="b"/>
              <a:pathLst>
                <a:path w="10241280" h="548640">
                  <a:moveTo>
                    <a:pt x="0" y="0"/>
                  </a:moveTo>
                  <a:lnTo>
                    <a:pt x="10241280" y="0"/>
                  </a:lnTo>
                  <a:lnTo>
                    <a:pt x="10241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3720" b="-313720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47625"/>
              <a:ext cx="10241280" cy="5962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Real AI grading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851660" y="5280660"/>
            <a:ext cx="7818120" cy="754380"/>
            <a:chOff x="0" y="0"/>
            <a:chExt cx="10424160" cy="100584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0424160" cy="1005840"/>
            </a:xfrm>
            <a:custGeom>
              <a:avLst/>
              <a:gdLst/>
              <a:ahLst/>
              <a:cxnLst/>
              <a:rect l="l" t="t" r="r" b="b"/>
              <a:pathLst>
                <a:path w="10424160" h="1005840">
                  <a:moveTo>
                    <a:pt x="0" y="0"/>
                  </a:moveTo>
                  <a:lnTo>
                    <a:pt x="10424160" y="0"/>
                  </a:lnTo>
                  <a:lnTo>
                    <a:pt x="104241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1935" b="-151935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57150"/>
              <a:ext cx="10424160" cy="10629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77"/>
                </a:lnSpc>
              </a:pPr>
              <a:r>
                <a:rPr lang="en-US" sz="165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Every answer is scored live by Google Gemini across five evaluation dimensions.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057942" y="6311170"/>
            <a:ext cx="490156" cy="490156"/>
            <a:chOff x="0" y="0"/>
            <a:chExt cx="653542" cy="653542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653542" cy="653542"/>
            </a:xfrm>
            <a:custGeom>
              <a:avLst/>
              <a:gdLst/>
              <a:ahLst/>
              <a:cxnLst/>
              <a:rect l="l" t="t" r="r" b="b"/>
              <a:pathLst>
                <a:path w="653542" h="653542">
                  <a:moveTo>
                    <a:pt x="0" y="326771"/>
                  </a:moveTo>
                  <a:cubicBezTo>
                    <a:pt x="0" y="146304"/>
                    <a:pt x="146304" y="0"/>
                    <a:pt x="326771" y="0"/>
                  </a:cubicBezTo>
                  <a:cubicBezTo>
                    <a:pt x="507238" y="0"/>
                    <a:pt x="653542" y="146304"/>
                    <a:pt x="653542" y="326771"/>
                  </a:cubicBezTo>
                  <a:cubicBezTo>
                    <a:pt x="653542" y="507238"/>
                    <a:pt x="507238" y="653542"/>
                    <a:pt x="326771" y="653542"/>
                  </a:cubicBezTo>
                  <a:cubicBezTo>
                    <a:pt x="146304" y="653542"/>
                    <a:pt x="0" y="507238"/>
                    <a:pt x="0" y="326771"/>
                  </a:cubicBezTo>
                  <a:close/>
                </a:path>
              </a:pathLst>
            </a:custGeom>
            <a:solidFill>
              <a:srgbClr val="818CF8">
                <a:alpha val="3137"/>
              </a:srgbClr>
            </a:solidFill>
            <a:ln w="23812" cap="sq">
              <a:solidFill>
                <a:srgbClr val="818CF8"/>
              </a:solidFill>
              <a:prstDash val="solid"/>
              <a:miter/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1069848" y="6323076"/>
            <a:ext cx="466344" cy="466344"/>
            <a:chOff x="0" y="0"/>
            <a:chExt cx="621792" cy="621792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621792" cy="621792"/>
            </a:xfrm>
            <a:custGeom>
              <a:avLst/>
              <a:gdLst/>
              <a:ahLst/>
              <a:cxnLst/>
              <a:rect l="l" t="t" r="r" b="b"/>
              <a:pathLst>
                <a:path w="621792" h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28575"/>
              <a:ext cx="621792" cy="65036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591"/>
                </a:lnSpc>
              </a:pPr>
              <a:r>
                <a:rPr lang="en-US" sz="1326" b="1">
                  <a:solidFill>
                    <a:srgbClr val="818C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•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851660" y="6295644"/>
            <a:ext cx="7680960" cy="411480"/>
            <a:chOff x="0" y="0"/>
            <a:chExt cx="10241280" cy="54864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0241280" cy="548640"/>
            </a:xfrm>
            <a:custGeom>
              <a:avLst/>
              <a:gdLst/>
              <a:ahLst/>
              <a:cxnLst/>
              <a:rect l="l" t="t" r="r" b="b"/>
              <a:pathLst>
                <a:path w="10241280" h="548640">
                  <a:moveTo>
                    <a:pt x="0" y="0"/>
                  </a:moveTo>
                  <a:lnTo>
                    <a:pt x="10241280" y="0"/>
                  </a:lnTo>
                  <a:lnTo>
                    <a:pt x="10241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3720" b="-313720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47625"/>
              <a:ext cx="10241280" cy="5962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Actionable feedback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851660" y="6679692"/>
            <a:ext cx="7818120" cy="754380"/>
            <a:chOff x="0" y="0"/>
            <a:chExt cx="10424160" cy="100584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0424160" cy="1005840"/>
            </a:xfrm>
            <a:custGeom>
              <a:avLst/>
              <a:gdLst/>
              <a:ahLst/>
              <a:cxnLst/>
              <a:rect l="l" t="t" r="r" b="b"/>
              <a:pathLst>
                <a:path w="10424160" h="1005840">
                  <a:moveTo>
                    <a:pt x="0" y="0"/>
                  </a:moveTo>
                  <a:lnTo>
                    <a:pt x="10424160" y="0"/>
                  </a:lnTo>
                  <a:lnTo>
                    <a:pt x="104241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1935" b="-151935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57150"/>
              <a:ext cx="10424160" cy="10629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77"/>
                </a:lnSpc>
              </a:pPr>
              <a:r>
                <a:rPr lang="en-US" sz="165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Each answer returns strengths, weaknesses, tips and a stronger example response.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057942" y="7710202"/>
            <a:ext cx="490156" cy="490156"/>
            <a:chOff x="0" y="0"/>
            <a:chExt cx="653542" cy="653542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653542" cy="653542"/>
            </a:xfrm>
            <a:custGeom>
              <a:avLst/>
              <a:gdLst/>
              <a:ahLst/>
              <a:cxnLst/>
              <a:rect l="l" t="t" r="r" b="b"/>
              <a:pathLst>
                <a:path w="653542" h="653542">
                  <a:moveTo>
                    <a:pt x="0" y="326771"/>
                  </a:moveTo>
                  <a:cubicBezTo>
                    <a:pt x="0" y="146304"/>
                    <a:pt x="146304" y="0"/>
                    <a:pt x="326771" y="0"/>
                  </a:cubicBezTo>
                  <a:cubicBezTo>
                    <a:pt x="507238" y="0"/>
                    <a:pt x="653542" y="146304"/>
                    <a:pt x="653542" y="326771"/>
                  </a:cubicBezTo>
                  <a:cubicBezTo>
                    <a:pt x="653542" y="507238"/>
                    <a:pt x="507238" y="653542"/>
                    <a:pt x="326771" y="653542"/>
                  </a:cubicBezTo>
                  <a:cubicBezTo>
                    <a:pt x="146304" y="653542"/>
                    <a:pt x="0" y="507238"/>
                    <a:pt x="0" y="326771"/>
                  </a:cubicBezTo>
                  <a:close/>
                </a:path>
              </a:pathLst>
            </a:custGeom>
            <a:solidFill>
              <a:srgbClr val="818CF8">
                <a:alpha val="3137"/>
              </a:srgbClr>
            </a:solidFill>
            <a:ln w="23812" cap="sq">
              <a:solidFill>
                <a:srgbClr val="818CF8"/>
              </a:solidFill>
              <a:prstDash val="solid"/>
              <a:miter/>
            </a:ln>
          </p:spPr>
        </p:sp>
      </p:grpSp>
      <p:grpSp>
        <p:nvGrpSpPr>
          <p:cNvPr id="58" name="Group 58"/>
          <p:cNvGrpSpPr/>
          <p:nvPr/>
        </p:nvGrpSpPr>
        <p:grpSpPr>
          <a:xfrm>
            <a:off x="1069848" y="7722108"/>
            <a:ext cx="466344" cy="466344"/>
            <a:chOff x="0" y="0"/>
            <a:chExt cx="621792" cy="621792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621792" cy="621792"/>
            </a:xfrm>
            <a:custGeom>
              <a:avLst/>
              <a:gdLst/>
              <a:ahLst/>
              <a:cxnLst/>
              <a:rect l="l" t="t" r="r" b="b"/>
              <a:pathLst>
                <a:path w="621792" h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60" name="TextBox 60"/>
            <p:cNvSpPr txBox="1"/>
            <p:nvPr/>
          </p:nvSpPr>
          <p:spPr>
            <a:xfrm>
              <a:off x="0" y="-28575"/>
              <a:ext cx="621792" cy="65036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591"/>
                </a:lnSpc>
              </a:pPr>
              <a:r>
                <a:rPr lang="en-US" sz="1326" b="1">
                  <a:solidFill>
                    <a:srgbClr val="818C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•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851660" y="7694676"/>
            <a:ext cx="7680960" cy="411480"/>
            <a:chOff x="0" y="0"/>
            <a:chExt cx="10241280" cy="54864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10241280" cy="548640"/>
            </a:xfrm>
            <a:custGeom>
              <a:avLst/>
              <a:gdLst/>
              <a:ahLst/>
              <a:cxnLst/>
              <a:rect l="l" t="t" r="r" b="b"/>
              <a:pathLst>
                <a:path w="10241280" h="548640">
                  <a:moveTo>
                    <a:pt x="0" y="0"/>
                  </a:moveTo>
                  <a:lnTo>
                    <a:pt x="10241280" y="0"/>
                  </a:lnTo>
                  <a:lnTo>
                    <a:pt x="10241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3720" b="-313720"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0" y="-47625"/>
              <a:ext cx="10241280" cy="5962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Growth tracking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851660" y="8078724"/>
            <a:ext cx="7818120" cy="754380"/>
            <a:chOff x="0" y="0"/>
            <a:chExt cx="10424160" cy="100584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10424160" cy="1005840"/>
            </a:xfrm>
            <a:custGeom>
              <a:avLst/>
              <a:gdLst/>
              <a:ahLst/>
              <a:cxnLst/>
              <a:rect l="l" t="t" r="r" b="b"/>
              <a:pathLst>
                <a:path w="10424160" h="1005840">
                  <a:moveTo>
                    <a:pt x="0" y="0"/>
                  </a:moveTo>
                  <a:lnTo>
                    <a:pt x="10424160" y="0"/>
                  </a:lnTo>
                  <a:lnTo>
                    <a:pt x="104241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1935" b="-151935"/>
              </a:stretch>
            </a:blipFill>
          </p:spPr>
        </p:sp>
        <p:sp>
          <p:nvSpPr>
            <p:cNvPr id="66" name="TextBox 66"/>
            <p:cNvSpPr txBox="1"/>
            <p:nvPr/>
          </p:nvSpPr>
          <p:spPr>
            <a:xfrm>
              <a:off x="0" y="-57150"/>
              <a:ext cx="10424160" cy="10629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77"/>
                </a:lnSpc>
              </a:pPr>
              <a:r>
                <a:rPr lang="en-US" sz="165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Progress dashboard charts score trends and surfaces recurring weak spots.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0346055" y="2047875"/>
            <a:ext cx="7151370" cy="7357110"/>
            <a:chOff x="0" y="0"/>
            <a:chExt cx="9535160" cy="980948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9535160" cy="9809480"/>
            </a:xfrm>
            <a:custGeom>
              <a:avLst/>
              <a:gdLst/>
              <a:ahLst/>
              <a:cxnLst/>
              <a:rect l="l" t="t" r="r" b="b"/>
              <a:pathLst>
                <a:path w="9535160" h="9809480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9370060" y="0"/>
                  </a:lnTo>
                  <a:cubicBezTo>
                    <a:pt x="9461246" y="0"/>
                    <a:pt x="9535160" y="73914"/>
                    <a:pt x="9535160" y="165100"/>
                  </a:cubicBezTo>
                  <a:lnTo>
                    <a:pt x="9535160" y="9644380"/>
                  </a:lnTo>
                  <a:cubicBezTo>
                    <a:pt x="9535160" y="9735566"/>
                    <a:pt x="9461246" y="9809480"/>
                    <a:pt x="9370060" y="9809480"/>
                  </a:cubicBezTo>
                  <a:lnTo>
                    <a:pt x="165100" y="9809480"/>
                  </a:lnTo>
                  <a:cubicBezTo>
                    <a:pt x="73914" y="9809480"/>
                    <a:pt x="0" y="9735566"/>
                    <a:pt x="0" y="9644380"/>
                  </a:cubicBezTo>
                  <a:close/>
                </a:path>
              </a:pathLst>
            </a:custGeom>
            <a:solidFill>
              <a:srgbClr val="1E293B"/>
            </a:solidFill>
            <a:ln w="19050" cap="sq">
              <a:solidFill>
                <a:srgbClr val="2E3B52"/>
              </a:solidFill>
              <a:prstDash val="solid"/>
              <a:miter/>
            </a:ln>
          </p:spPr>
        </p:sp>
      </p:grpSp>
      <p:grpSp>
        <p:nvGrpSpPr>
          <p:cNvPr id="69" name="Group 69"/>
          <p:cNvGrpSpPr/>
          <p:nvPr/>
        </p:nvGrpSpPr>
        <p:grpSpPr>
          <a:xfrm>
            <a:off x="10767060" y="2331720"/>
            <a:ext cx="6309360" cy="411480"/>
            <a:chOff x="0" y="0"/>
            <a:chExt cx="8412480" cy="54864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8412480" cy="548640"/>
            </a:xfrm>
            <a:custGeom>
              <a:avLst/>
              <a:gdLst/>
              <a:ahLst/>
              <a:cxnLst/>
              <a:rect l="l" t="t" r="r" b="b"/>
              <a:pathLst>
                <a:path w="8412480" h="548640">
                  <a:moveTo>
                    <a:pt x="0" y="0"/>
                  </a:moveTo>
                  <a:lnTo>
                    <a:pt x="8412480" y="0"/>
                  </a:lnTo>
                  <a:lnTo>
                    <a:pt x="84124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8770" b="-248770"/>
              </a:stretch>
            </a:blipFill>
          </p:spPr>
        </p:sp>
        <p:sp>
          <p:nvSpPr>
            <p:cNvPr id="71" name="TextBox 71"/>
            <p:cNvSpPr txBox="1"/>
            <p:nvPr/>
          </p:nvSpPr>
          <p:spPr>
            <a:xfrm>
              <a:off x="0" y="-38100"/>
              <a:ext cx="841248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225">
                  <a:solidFill>
                    <a:srgbClr val="818C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SESSION FLOW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11098054" y="3060478"/>
            <a:ext cx="709612" cy="709612"/>
            <a:chOff x="0" y="0"/>
            <a:chExt cx="946150" cy="946150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946150" cy="946150"/>
            </a:xfrm>
            <a:custGeom>
              <a:avLst/>
              <a:gdLst/>
              <a:ahLst/>
              <a:cxnLst/>
              <a:rect l="l" t="t" r="r" b="b"/>
              <a:pathLst>
                <a:path w="946150" h="946150">
                  <a:moveTo>
                    <a:pt x="0" y="473075"/>
                  </a:moveTo>
                  <a:cubicBezTo>
                    <a:pt x="0" y="211836"/>
                    <a:pt x="211836" y="0"/>
                    <a:pt x="473075" y="0"/>
                  </a:cubicBezTo>
                  <a:cubicBezTo>
                    <a:pt x="734314" y="0"/>
                    <a:pt x="946150" y="211836"/>
                    <a:pt x="946150" y="473075"/>
                  </a:cubicBezTo>
                  <a:cubicBezTo>
                    <a:pt x="946150" y="734314"/>
                    <a:pt x="734314" y="946150"/>
                    <a:pt x="473075" y="946150"/>
                  </a:cubicBezTo>
                  <a:cubicBezTo>
                    <a:pt x="211836" y="946150"/>
                    <a:pt x="0" y="734314"/>
                    <a:pt x="0" y="473075"/>
                  </a:cubicBezTo>
                  <a:close/>
                </a:path>
              </a:pathLst>
            </a:custGeom>
            <a:solidFill>
              <a:srgbClr val="34D399">
                <a:alpha val="3137"/>
              </a:srgbClr>
            </a:solidFill>
            <a:ln w="23812" cap="sq">
              <a:solidFill>
                <a:srgbClr val="34D399"/>
              </a:solidFill>
              <a:prstDash val="solid"/>
              <a:miter/>
            </a:ln>
          </p:spPr>
        </p:sp>
      </p:grpSp>
      <p:grpSp>
        <p:nvGrpSpPr>
          <p:cNvPr id="74" name="Group 74"/>
          <p:cNvGrpSpPr/>
          <p:nvPr/>
        </p:nvGrpSpPr>
        <p:grpSpPr>
          <a:xfrm>
            <a:off x="11109960" y="3072384"/>
            <a:ext cx="685800" cy="685800"/>
            <a:chOff x="0" y="0"/>
            <a:chExt cx="914400" cy="91440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76" name="TextBox 76"/>
            <p:cNvSpPr txBox="1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34D3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12138660" y="3086100"/>
            <a:ext cx="5074920" cy="658368"/>
            <a:chOff x="0" y="0"/>
            <a:chExt cx="6766560" cy="877824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6766560" cy="877824"/>
            </a:xfrm>
            <a:custGeom>
              <a:avLst/>
              <a:gdLst/>
              <a:ahLst/>
              <a:cxnLst/>
              <a:rect l="l" t="t" r="r" b="b"/>
              <a:pathLst>
                <a:path w="6766560" h="877824">
                  <a:moveTo>
                    <a:pt x="0" y="0"/>
                  </a:moveTo>
                  <a:lnTo>
                    <a:pt x="6766560" y="0"/>
                  </a:lnTo>
                  <a:lnTo>
                    <a:pt x="67665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0197" b="-100197"/>
              </a:stretch>
            </a:blipFill>
          </p:spPr>
        </p:sp>
        <p:sp>
          <p:nvSpPr>
            <p:cNvPr id="79" name="TextBox 79"/>
            <p:cNvSpPr txBox="1"/>
            <p:nvPr/>
          </p:nvSpPr>
          <p:spPr>
            <a:xfrm>
              <a:off x="0" y="-38100"/>
              <a:ext cx="6766560" cy="9159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b="1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Register / Login</a:t>
              </a:r>
            </a:p>
          </p:txBody>
        </p:sp>
      </p:grpSp>
      <p:sp>
        <p:nvSpPr>
          <p:cNvPr id="80" name="AutoShape 80"/>
          <p:cNvSpPr/>
          <p:nvPr/>
        </p:nvSpPr>
        <p:spPr>
          <a:xfrm rot="5237640">
            <a:off x="11150203" y="4050411"/>
            <a:ext cx="605323" cy="0"/>
          </a:xfrm>
          <a:prstGeom prst="line">
            <a:avLst/>
          </a:prstGeom>
          <a:ln w="19050" cap="rnd">
            <a:solidFill>
              <a:srgbClr val="2E3B5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1" name="Group 81"/>
          <p:cNvGrpSpPr/>
          <p:nvPr/>
        </p:nvGrpSpPr>
        <p:grpSpPr>
          <a:xfrm>
            <a:off x="11098054" y="4322350"/>
            <a:ext cx="709612" cy="709612"/>
            <a:chOff x="0" y="0"/>
            <a:chExt cx="946150" cy="946150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946150" cy="946150"/>
            </a:xfrm>
            <a:custGeom>
              <a:avLst/>
              <a:gdLst/>
              <a:ahLst/>
              <a:cxnLst/>
              <a:rect l="l" t="t" r="r" b="b"/>
              <a:pathLst>
                <a:path w="946150" h="946150">
                  <a:moveTo>
                    <a:pt x="0" y="473075"/>
                  </a:moveTo>
                  <a:cubicBezTo>
                    <a:pt x="0" y="211836"/>
                    <a:pt x="211836" y="0"/>
                    <a:pt x="473075" y="0"/>
                  </a:cubicBezTo>
                  <a:cubicBezTo>
                    <a:pt x="734314" y="0"/>
                    <a:pt x="946150" y="211836"/>
                    <a:pt x="946150" y="473075"/>
                  </a:cubicBezTo>
                  <a:cubicBezTo>
                    <a:pt x="946150" y="734314"/>
                    <a:pt x="734314" y="946150"/>
                    <a:pt x="473075" y="946150"/>
                  </a:cubicBezTo>
                  <a:cubicBezTo>
                    <a:pt x="211836" y="946150"/>
                    <a:pt x="0" y="734314"/>
                    <a:pt x="0" y="473075"/>
                  </a:cubicBezTo>
                  <a:close/>
                </a:path>
              </a:pathLst>
            </a:custGeom>
            <a:solidFill>
              <a:srgbClr val="818CF8">
                <a:alpha val="3137"/>
              </a:srgbClr>
            </a:solidFill>
            <a:ln w="23812" cap="sq">
              <a:solidFill>
                <a:srgbClr val="818CF8"/>
              </a:solidFill>
              <a:prstDash val="solid"/>
              <a:miter/>
            </a:ln>
          </p:spPr>
        </p:sp>
      </p:grpSp>
      <p:grpSp>
        <p:nvGrpSpPr>
          <p:cNvPr id="83" name="Group 83"/>
          <p:cNvGrpSpPr/>
          <p:nvPr/>
        </p:nvGrpSpPr>
        <p:grpSpPr>
          <a:xfrm>
            <a:off x="11109960" y="4334256"/>
            <a:ext cx="685800" cy="685800"/>
            <a:chOff x="0" y="0"/>
            <a:chExt cx="914400" cy="914400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85" name="TextBox 85"/>
            <p:cNvSpPr txBox="1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818C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12138660" y="4347972"/>
            <a:ext cx="5074920" cy="658368"/>
            <a:chOff x="0" y="0"/>
            <a:chExt cx="6766560" cy="877824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6766560" cy="877824"/>
            </a:xfrm>
            <a:custGeom>
              <a:avLst/>
              <a:gdLst/>
              <a:ahLst/>
              <a:cxnLst/>
              <a:rect l="l" t="t" r="r" b="b"/>
              <a:pathLst>
                <a:path w="6766560" h="877824">
                  <a:moveTo>
                    <a:pt x="0" y="0"/>
                  </a:moveTo>
                  <a:lnTo>
                    <a:pt x="6766560" y="0"/>
                  </a:lnTo>
                  <a:lnTo>
                    <a:pt x="67665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0197" b="-100197"/>
              </a:stretch>
            </a:blipFill>
          </p:spPr>
        </p:sp>
        <p:sp>
          <p:nvSpPr>
            <p:cNvPr id="88" name="TextBox 88"/>
            <p:cNvSpPr txBox="1"/>
            <p:nvPr/>
          </p:nvSpPr>
          <p:spPr>
            <a:xfrm>
              <a:off x="0" y="-38100"/>
              <a:ext cx="6766560" cy="9159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b="1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Pick category, role &amp; question count</a:t>
              </a:r>
            </a:p>
          </p:txBody>
        </p:sp>
      </p:grpSp>
      <p:sp>
        <p:nvSpPr>
          <p:cNvPr id="89" name="AutoShape 89"/>
          <p:cNvSpPr/>
          <p:nvPr/>
        </p:nvSpPr>
        <p:spPr>
          <a:xfrm rot="5237640">
            <a:off x="11150203" y="5312283"/>
            <a:ext cx="605323" cy="0"/>
          </a:xfrm>
          <a:prstGeom prst="line">
            <a:avLst/>
          </a:prstGeom>
          <a:ln w="19050" cap="rnd">
            <a:solidFill>
              <a:srgbClr val="2E3B5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0" name="Group 90"/>
          <p:cNvGrpSpPr/>
          <p:nvPr/>
        </p:nvGrpSpPr>
        <p:grpSpPr>
          <a:xfrm>
            <a:off x="11098054" y="5584222"/>
            <a:ext cx="709612" cy="709612"/>
            <a:chOff x="0" y="0"/>
            <a:chExt cx="946150" cy="946150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946150" cy="946150"/>
            </a:xfrm>
            <a:custGeom>
              <a:avLst/>
              <a:gdLst/>
              <a:ahLst/>
              <a:cxnLst/>
              <a:rect l="l" t="t" r="r" b="b"/>
              <a:pathLst>
                <a:path w="946150" h="946150">
                  <a:moveTo>
                    <a:pt x="0" y="473075"/>
                  </a:moveTo>
                  <a:cubicBezTo>
                    <a:pt x="0" y="211836"/>
                    <a:pt x="211836" y="0"/>
                    <a:pt x="473075" y="0"/>
                  </a:cubicBezTo>
                  <a:cubicBezTo>
                    <a:pt x="734314" y="0"/>
                    <a:pt x="946150" y="211836"/>
                    <a:pt x="946150" y="473075"/>
                  </a:cubicBezTo>
                  <a:cubicBezTo>
                    <a:pt x="946150" y="734314"/>
                    <a:pt x="734314" y="946150"/>
                    <a:pt x="473075" y="946150"/>
                  </a:cubicBezTo>
                  <a:cubicBezTo>
                    <a:pt x="211836" y="946150"/>
                    <a:pt x="0" y="734314"/>
                    <a:pt x="0" y="473075"/>
                  </a:cubicBezTo>
                  <a:close/>
                </a:path>
              </a:pathLst>
            </a:custGeom>
            <a:solidFill>
              <a:srgbClr val="22D3EE">
                <a:alpha val="3137"/>
              </a:srgbClr>
            </a:solidFill>
            <a:ln w="23812" cap="sq">
              <a:solidFill>
                <a:srgbClr val="22D3EE"/>
              </a:solidFill>
              <a:prstDash val="solid"/>
              <a:miter/>
            </a:ln>
          </p:spPr>
        </p:sp>
      </p:grpSp>
      <p:grpSp>
        <p:nvGrpSpPr>
          <p:cNvPr id="92" name="Group 92"/>
          <p:cNvGrpSpPr/>
          <p:nvPr/>
        </p:nvGrpSpPr>
        <p:grpSpPr>
          <a:xfrm>
            <a:off x="11109960" y="5596128"/>
            <a:ext cx="685800" cy="685800"/>
            <a:chOff x="0" y="0"/>
            <a:chExt cx="914400" cy="914400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94" name="TextBox 94"/>
            <p:cNvSpPr txBox="1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12138660" y="5609844"/>
            <a:ext cx="5074920" cy="658368"/>
            <a:chOff x="0" y="0"/>
            <a:chExt cx="6766560" cy="877824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6766560" cy="877824"/>
            </a:xfrm>
            <a:custGeom>
              <a:avLst/>
              <a:gdLst/>
              <a:ahLst/>
              <a:cxnLst/>
              <a:rect l="l" t="t" r="r" b="b"/>
              <a:pathLst>
                <a:path w="6766560" h="877824">
                  <a:moveTo>
                    <a:pt x="0" y="0"/>
                  </a:moveTo>
                  <a:lnTo>
                    <a:pt x="6766560" y="0"/>
                  </a:lnTo>
                  <a:lnTo>
                    <a:pt x="67665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0197" b="-100197"/>
              </a:stretch>
            </a:blipFill>
          </p:spPr>
        </p:sp>
        <p:sp>
          <p:nvSpPr>
            <p:cNvPr id="97" name="TextBox 97"/>
            <p:cNvSpPr txBox="1"/>
            <p:nvPr/>
          </p:nvSpPr>
          <p:spPr>
            <a:xfrm>
              <a:off x="0" y="-38100"/>
              <a:ext cx="6766560" cy="9159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b="1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Answer 5 timed questions</a:t>
              </a:r>
            </a:p>
          </p:txBody>
        </p:sp>
      </p:grpSp>
      <p:sp>
        <p:nvSpPr>
          <p:cNvPr id="98" name="AutoShape 98"/>
          <p:cNvSpPr/>
          <p:nvPr/>
        </p:nvSpPr>
        <p:spPr>
          <a:xfrm rot="5237640">
            <a:off x="11150203" y="6574155"/>
            <a:ext cx="605323" cy="0"/>
          </a:xfrm>
          <a:prstGeom prst="line">
            <a:avLst/>
          </a:prstGeom>
          <a:ln w="19050" cap="rnd">
            <a:solidFill>
              <a:srgbClr val="2E3B5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9" name="Group 99"/>
          <p:cNvGrpSpPr/>
          <p:nvPr/>
        </p:nvGrpSpPr>
        <p:grpSpPr>
          <a:xfrm>
            <a:off x="11098054" y="6846094"/>
            <a:ext cx="709612" cy="709612"/>
            <a:chOff x="0" y="0"/>
            <a:chExt cx="946150" cy="946150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946150" cy="946150"/>
            </a:xfrm>
            <a:custGeom>
              <a:avLst/>
              <a:gdLst/>
              <a:ahLst/>
              <a:cxnLst/>
              <a:rect l="l" t="t" r="r" b="b"/>
              <a:pathLst>
                <a:path w="946150" h="946150">
                  <a:moveTo>
                    <a:pt x="0" y="473075"/>
                  </a:moveTo>
                  <a:cubicBezTo>
                    <a:pt x="0" y="211836"/>
                    <a:pt x="211836" y="0"/>
                    <a:pt x="473075" y="0"/>
                  </a:cubicBezTo>
                  <a:cubicBezTo>
                    <a:pt x="734314" y="0"/>
                    <a:pt x="946150" y="211836"/>
                    <a:pt x="946150" y="473075"/>
                  </a:cubicBezTo>
                  <a:cubicBezTo>
                    <a:pt x="946150" y="734314"/>
                    <a:pt x="734314" y="946150"/>
                    <a:pt x="473075" y="946150"/>
                  </a:cubicBezTo>
                  <a:cubicBezTo>
                    <a:pt x="211836" y="946150"/>
                    <a:pt x="0" y="734314"/>
                    <a:pt x="0" y="473075"/>
                  </a:cubicBezTo>
                  <a:close/>
                </a:path>
              </a:pathLst>
            </a:custGeom>
            <a:solidFill>
              <a:srgbClr val="FBBF24">
                <a:alpha val="3137"/>
              </a:srgbClr>
            </a:solidFill>
            <a:ln w="23812" cap="sq">
              <a:solidFill>
                <a:srgbClr val="FBBF24"/>
              </a:solidFill>
              <a:prstDash val="solid"/>
              <a:miter/>
            </a:ln>
          </p:spPr>
        </p:sp>
      </p:grpSp>
      <p:grpSp>
        <p:nvGrpSpPr>
          <p:cNvPr id="101" name="Group 101"/>
          <p:cNvGrpSpPr/>
          <p:nvPr/>
        </p:nvGrpSpPr>
        <p:grpSpPr>
          <a:xfrm>
            <a:off x="11109960" y="6858000"/>
            <a:ext cx="685800" cy="685800"/>
            <a:chOff x="0" y="0"/>
            <a:chExt cx="914400" cy="914400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03" name="TextBox 103"/>
            <p:cNvSpPr txBox="1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BBF2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12138660" y="6871716"/>
            <a:ext cx="5074920" cy="658368"/>
            <a:chOff x="0" y="0"/>
            <a:chExt cx="6766560" cy="877824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6766560" cy="877824"/>
            </a:xfrm>
            <a:custGeom>
              <a:avLst/>
              <a:gdLst/>
              <a:ahLst/>
              <a:cxnLst/>
              <a:rect l="l" t="t" r="r" b="b"/>
              <a:pathLst>
                <a:path w="6766560" h="877824">
                  <a:moveTo>
                    <a:pt x="0" y="0"/>
                  </a:moveTo>
                  <a:lnTo>
                    <a:pt x="6766560" y="0"/>
                  </a:lnTo>
                  <a:lnTo>
                    <a:pt x="67665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0197" b="-100197"/>
              </a:stretch>
            </a:blipFill>
          </p:spPr>
        </p:sp>
        <p:sp>
          <p:nvSpPr>
            <p:cNvPr id="106" name="TextBox 106"/>
            <p:cNvSpPr txBox="1"/>
            <p:nvPr/>
          </p:nvSpPr>
          <p:spPr>
            <a:xfrm>
              <a:off x="0" y="-38100"/>
              <a:ext cx="6766560" cy="9159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b="1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Gemini scores each answer instantly</a:t>
              </a:r>
            </a:p>
          </p:txBody>
        </p:sp>
      </p:grpSp>
      <p:sp>
        <p:nvSpPr>
          <p:cNvPr id="107" name="AutoShape 107"/>
          <p:cNvSpPr/>
          <p:nvPr/>
        </p:nvSpPr>
        <p:spPr>
          <a:xfrm rot="5237640">
            <a:off x="11150203" y="7836027"/>
            <a:ext cx="605323" cy="0"/>
          </a:xfrm>
          <a:prstGeom prst="line">
            <a:avLst/>
          </a:prstGeom>
          <a:ln w="19050" cap="rnd">
            <a:solidFill>
              <a:srgbClr val="2E3B5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8" name="Group 108"/>
          <p:cNvGrpSpPr/>
          <p:nvPr/>
        </p:nvGrpSpPr>
        <p:grpSpPr>
          <a:xfrm>
            <a:off x="11098054" y="8107966"/>
            <a:ext cx="709612" cy="709612"/>
            <a:chOff x="0" y="0"/>
            <a:chExt cx="946150" cy="946150"/>
          </a:xfrm>
        </p:grpSpPr>
        <p:sp>
          <p:nvSpPr>
            <p:cNvPr id="109" name="Freeform 109"/>
            <p:cNvSpPr/>
            <p:nvPr/>
          </p:nvSpPr>
          <p:spPr>
            <a:xfrm>
              <a:off x="0" y="0"/>
              <a:ext cx="946150" cy="946150"/>
            </a:xfrm>
            <a:custGeom>
              <a:avLst/>
              <a:gdLst/>
              <a:ahLst/>
              <a:cxnLst/>
              <a:rect l="l" t="t" r="r" b="b"/>
              <a:pathLst>
                <a:path w="946150" h="946150">
                  <a:moveTo>
                    <a:pt x="0" y="473075"/>
                  </a:moveTo>
                  <a:cubicBezTo>
                    <a:pt x="0" y="211836"/>
                    <a:pt x="211836" y="0"/>
                    <a:pt x="473075" y="0"/>
                  </a:cubicBezTo>
                  <a:cubicBezTo>
                    <a:pt x="734314" y="0"/>
                    <a:pt x="946150" y="211836"/>
                    <a:pt x="946150" y="473075"/>
                  </a:cubicBezTo>
                  <a:cubicBezTo>
                    <a:pt x="946150" y="734314"/>
                    <a:pt x="734314" y="946150"/>
                    <a:pt x="473075" y="946150"/>
                  </a:cubicBezTo>
                  <a:cubicBezTo>
                    <a:pt x="211836" y="946150"/>
                    <a:pt x="0" y="734314"/>
                    <a:pt x="0" y="473075"/>
                  </a:cubicBezTo>
                  <a:close/>
                </a:path>
              </a:pathLst>
            </a:custGeom>
            <a:solidFill>
              <a:srgbClr val="F472B6">
                <a:alpha val="3137"/>
              </a:srgbClr>
            </a:solidFill>
            <a:ln w="23812" cap="sq">
              <a:solidFill>
                <a:srgbClr val="F472B6"/>
              </a:solidFill>
              <a:prstDash val="solid"/>
              <a:miter/>
            </a:ln>
          </p:spPr>
        </p:sp>
      </p:grpSp>
      <p:grpSp>
        <p:nvGrpSpPr>
          <p:cNvPr id="110" name="Group 110"/>
          <p:cNvGrpSpPr/>
          <p:nvPr/>
        </p:nvGrpSpPr>
        <p:grpSpPr>
          <a:xfrm>
            <a:off x="11109960" y="8119872"/>
            <a:ext cx="685800" cy="685800"/>
            <a:chOff x="0" y="0"/>
            <a:chExt cx="914400" cy="914400"/>
          </a:xfrm>
        </p:grpSpPr>
        <p:sp>
          <p:nvSpPr>
            <p:cNvPr id="111" name="Freeform 111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12" name="TextBox 112"/>
            <p:cNvSpPr txBox="1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472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12138660" y="8133588"/>
            <a:ext cx="5074920" cy="658368"/>
            <a:chOff x="0" y="0"/>
            <a:chExt cx="6766560" cy="877824"/>
          </a:xfrm>
        </p:grpSpPr>
        <p:sp>
          <p:nvSpPr>
            <p:cNvPr id="114" name="Freeform 114"/>
            <p:cNvSpPr/>
            <p:nvPr/>
          </p:nvSpPr>
          <p:spPr>
            <a:xfrm>
              <a:off x="0" y="0"/>
              <a:ext cx="6766560" cy="877824"/>
            </a:xfrm>
            <a:custGeom>
              <a:avLst/>
              <a:gdLst/>
              <a:ahLst/>
              <a:cxnLst/>
              <a:rect l="l" t="t" r="r" b="b"/>
              <a:pathLst>
                <a:path w="6766560" h="877824">
                  <a:moveTo>
                    <a:pt x="0" y="0"/>
                  </a:moveTo>
                  <a:lnTo>
                    <a:pt x="6766560" y="0"/>
                  </a:lnTo>
                  <a:lnTo>
                    <a:pt x="67665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0197" b="-100197"/>
              </a:stretch>
            </a:blipFill>
          </p:spPr>
        </p:sp>
        <p:sp>
          <p:nvSpPr>
            <p:cNvPr id="115" name="TextBox 115"/>
            <p:cNvSpPr txBox="1"/>
            <p:nvPr/>
          </p:nvSpPr>
          <p:spPr>
            <a:xfrm>
              <a:off x="0" y="-38100"/>
              <a:ext cx="6766560" cy="9159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b="1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Review session summary &amp; progress</a:t>
              </a:r>
            </a:p>
          </p:txBody>
        </p:sp>
      </p:grpSp>
      <p:grpSp>
        <p:nvGrpSpPr>
          <p:cNvPr id="116" name="Group 116"/>
          <p:cNvGrpSpPr/>
          <p:nvPr/>
        </p:nvGrpSpPr>
        <p:grpSpPr>
          <a:xfrm>
            <a:off x="822960" y="9710928"/>
            <a:ext cx="8229600" cy="411480"/>
            <a:chOff x="0" y="0"/>
            <a:chExt cx="10972800" cy="548640"/>
          </a:xfrm>
        </p:grpSpPr>
        <p:sp>
          <p:nvSpPr>
            <p:cNvPr id="117" name="Freeform 117"/>
            <p:cNvSpPr/>
            <p:nvPr/>
          </p:nvSpPr>
          <p:spPr>
            <a:xfrm>
              <a:off x="0" y="0"/>
              <a:ext cx="10972800" cy="548640"/>
            </a:xfrm>
            <a:custGeom>
              <a:avLst/>
              <a:gdLst/>
              <a:ahLst/>
              <a:cxnLst/>
              <a:rect l="l" t="t" r="r" b="b"/>
              <a:pathLst>
                <a:path w="10972800" h="54864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118" name="TextBox 118"/>
            <p:cNvSpPr txBox="1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Interview Practice Platform</a:t>
              </a:r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16641623" y="9710928"/>
            <a:ext cx="822960" cy="411480"/>
            <a:chOff x="0" y="0"/>
            <a:chExt cx="1097280" cy="548640"/>
          </a:xfrm>
        </p:grpSpPr>
        <p:sp>
          <p:nvSpPr>
            <p:cNvPr id="120" name="Freeform 120"/>
            <p:cNvSpPr/>
            <p:nvPr/>
          </p:nvSpPr>
          <p:spPr>
            <a:xfrm>
              <a:off x="0" y="0"/>
              <a:ext cx="1097280" cy="548640"/>
            </a:xfrm>
            <a:custGeom>
              <a:avLst/>
              <a:gdLst/>
              <a:ahLst/>
              <a:cxnLst/>
              <a:rect l="l" t="t" r="r" b="b"/>
              <a:pathLst>
                <a:path w="1097280" h="54864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121" name="TextBox 121"/>
            <p:cNvSpPr txBox="1"/>
            <p:nvPr/>
          </p:nvSpPr>
          <p:spPr>
            <a:xfrm>
              <a:off x="0" y="-28575"/>
              <a:ext cx="109728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  <p:pic>
        <p:nvPicPr>
          <p:cNvPr id="125" name="Picture 124" descr="Our Team - KLH Bachupally">
            <a:extLst>
              <a:ext uri="{FF2B5EF4-FFF2-40B4-BE49-F238E27FC236}">
                <a16:creationId xmlns:a16="http://schemas.microsoft.com/office/drawing/2014/main" id="{01C55835-9231-1DCE-2503-B7B7739ECE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72054" y="0"/>
            <a:ext cx="3115946" cy="161964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480060"/>
            <a:ext cx="10972800" cy="411480"/>
            <a:chOff x="0" y="0"/>
            <a:chExt cx="14630400" cy="5486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0400" cy="548640"/>
            </a:xfrm>
            <a:custGeom>
              <a:avLst/>
              <a:gdLst/>
              <a:ahLst/>
              <a:cxnLst/>
              <a:rect l="l" t="t" r="r" b="b"/>
              <a:pathLst>
                <a:path w="14630400" h="54864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9601" b="-469601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300">
                  <a:solidFill>
                    <a:srgbClr val="818C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TECHNOLOGY CHOICES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850392"/>
            <a:ext cx="15773400" cy="960120"/>
            <a:chOff x="0" y="0"/>
            <a:chExt cx="21031200" cy="12801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031200" cy="1280160"/>
            </a:xfrm>
            <a:custGeom>
              <a:avLst/>
              <a:gdLst/>
              <a:ahLst/>
              <a:cxnLst/>
              <a:rect l="l" t="t" r="r" b="b"/>
              <a:pathLst>
                <a:path w="21031200" h="128016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0111" b="-270111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21031200" cy="13658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 Stack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035583" y="548640"/>
            <a:ext cx="3429000" cy="411480"/>
            <a:chOff x="0" y="0"/>
            <a:chExt cx="4572000" cy="5486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572000" cy="548640"/>
            </a:xfrm>
            <a:custGeom>
              <a:avLst/>
              <a:gdLst/>
              <a:ahLst/>
              <a:cxnLst/>
              <a:rect l="l" t="t" r="r" b="b"/>
              <a:pathLst>
                <a:path w="4572000" h="548640">
                  <a:moveTo>
                    <a:pt x="0" y="0"/>
                  </a:moveTo>
                  <a:lnTo>
                    <a:pt x="4572000" y="0"/>
                  </a:lnTo>
                  <a:lnTo>
                    <a:pt x="4572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2375" b="-112375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45720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980"/>
                </a:lnSpc>
              </a:pPr>
              <a:r>
                <a:rPr lang="en-US" sz="1650" b="1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INTTE</a:t>
              </a:r>
              <a:r>
                <a:rPr lang="en-US" sz="1650" b="1">
                  <a:solidFill>
                    <a:srgbClr val="818C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REE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 rot="3960">
            <a:off x="813425" y="1750886"/>
            <a:ext cx="16660682" cy="0"/>
          </a:xfrm>
          <a:prstGeom prst="line">
            <a:avLst/>
          </a:prstGeom>
          <a:ln w="9525" cap="rnd">
            <a:solidFill>
              <a:srgbClr val="2E3B5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>
            <a:off x="813435" y="2185035"/>
            <a:ext cx="4065270" cy="2967990"/>
            <a:chOff x="0" y="0"/>
            <a:chExt cx="5420360" cy="39573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420360" cy="3957320"/>
            </a:xfrm>
            <a:custGeom>
              <a:avLst/>
              <a:gdLst/>
              <a:ahLst/>
              <a:cxnLst/>
              <a:rect l="l" t="t" r="r" b="b"/>
              <a:pathLst>
                <a:path w="5420360" h="3957320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5254752" y="0"/>
                  </a:lnTo>
                  <a:cubicBezTo>
                    <a:pt x="5346192" y="0"/>
                    <a:pt x="5420360" y="74168"/>
                    <a:pt x="5420360" y="165608"/>
                  </a:cubicBezTo>
                  <a:lnTo>
                    <a:pt x="5420360" y="3791712"/>
                  </a:lnTo>
                  <a:cubicBezTo>
                    <a:pt x="5420360" y="3883152"/>
                    <a:pt x="5346192" y="3957320"/>
                    <a:pt x="5254752" y="3957320"/>
                  </a:cubicBezTo>
                  <a:lnTo>
                    <a:pt x="165608" y="3957320"/>
                  </a:lnTo>
                  <a:cubicBezTo>
                    <a:pt x="74168" y="3957320"/>
                    <a:pt x="0" y="3883152"/>
                    <a:pt x="0" y="3791712"/>
                  </a:cubicBezTo>
                  <a:close/>
                </a:path>
              </a:pathLst>
            </a:custGeom>
            <a:solidFill>
              <a:srgbClr val="1E293B"/>
            </a:solidFill>
            <a:ln w="19050" cap="sq">
              <a:solidFill>
                <a:srgbClr val="2E3B52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2408968" y="2607850"/>
            <a:ext cx="874205" cy="874205"/>
            <a:chOff x="0" y="0"/>
            <a:chExt cx="1165606" cy="116560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65606" cy="1165606"/>
            </a:xfrm>
            <a:custGeom>
              <a:avLst/>
              <a:gdLst/>
              <a:ahLst/>
              <a:cxnLst/>
              <a:rect l="l" t="t" r="r" b="b"/>
              <a:pathLst>
                <a:path w="1165606" h="1165606">
                  <a:moveTo>
                    <a:pt x="0" y="582803"/>
                  </a:moveTo>
                  <a:cubicBezTo>
                    <a:pt x="0" y="260985"/>
                    <a:pt x="260985" y="0"/>
                    <a:pt x="582803" y="0"/>
                  </a:cubicBezTo>
                  <a:cubicBezTo>
                    <a:pt x="904621" y="0"/>
                    <a:pt x="1165606" y="260985"/>
                    <a:pt x="1165606" y="582803"/>
                  </a:cubicBezTo>
                  <a:cubicBezTo>
                    <a:pt x="1165606" y="904621"/>
                    <a:pt x="904621" y="1165606"/>
                    <a:pt x="582803" y="1165606"/>
                  </a:cubicBezTo>
                  <a:cubicBezTo>
                    <a:pt x="260985" y="1165606"/>
                    <a:pt x="0" y="904621"/>
                    <a:pt x="0" y="582803"/>
                  </a:cubicBezTo>
                  <a:close/>
                </a:path>
              </a:pathLst>
            </a:custGeom>
            <a:solidFill>
              <a:srgbClr val="34D399">
                <a:alpha val="3137"/>
              </a:srgbClr>
            </a:solidFill>
            <a:ln w="23812" cap="sq">
              <a:solidFill>
                <a:srgbClr val="34D399"/>
              </a:solidFill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2420874" y="2619756"/>
            <a:ext cx="850392" cy="850392"/>
            <a:chOff x="0" y="0"/>
            <a:chExt cx="1133856" cy="113385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33856" cy="1133856"/>
            </a:xfrm>
            <a:custGeom>
              <a:avLst/>
              <a:gdLst/>
              <a:ahLst/>
              <a:cxnLst/>
              <a:rect l="l" t="t" r="r" b="b"/>
              <a:pathLst>
                <a:path w="1133856" h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1133856" cy="11814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01"/>
                </a:lnSpc>
              </a:pPr>
              <a:r>
                <a:rPr lang="en-US" sz="2418" b="1">
                  <a:solidFill>
                    <a:srgbClr val="34D3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UI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28700" y="3703320"/>
            <a:ext cx="3634740" cy="754380"/>
            <a:chOff x="0" y="0"/>
            <a:chExt cx="4846320" cy="100584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846320" cy="1005840"/>
            </a:xfrm>
            <a:custGeom>
              <a:avLst/>
              <a:gdLst/>
              <a:ahLst/>
              <a:cxnLst/>
              <a:rect l="l" t="t" r="r" b="b"/>
              <a:pathLst>
                <a:path w="4846320" h="1005840">
                  <a:moveTo>
                    <a:pt x="0" y="0"/>
                  </a:moveTo>
                  <a:lnTo>
                    <a:pt x="4846320" y="0"/>
                  </a:lnTo>
                  <a:lnTo>
                    <a:pt x="48463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882" b="-43882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4846320" cy="1043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50"/>
                </a:lnSpc>
              </a:pPr>
              <a:r>
                <a:rPr lang="en-US" sz="1875" b="1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React 18 + Vite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28700" y="4361688"/>
            <a:ext cx="3634740" cy="685800"/>
            <a:chOff x="0" y="0"/>
            <a:chExt cx="4846320" cy="9144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846320" cy="914400"/>
            </a:xfrm>
            <a:custGeom>
              <a:avLst/>
              <a:gdLst/>
              <a:ahLst/>
              <a:cxnLst/>
              <a:rect l="l" t="t" r="r" b="b"/>
              <a:pathLst>
                <a:path w="4846320" h="914400">
                  <a:moveTo>
                    <a:pt x="0" y="0"/>
                  </a:moveTo>
                  <a:lnTo>
                    <a:pt x="4846320" y="0"/>
                  </a:lnTo>
                  <a:lnTo>
                    <a:pt x="48463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270" b="-53270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484632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1"/>
                </a:lnSpc>
              </a:pPr>
              <a:r>
                <a:rPr lang="en-US" sz="1425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Frontend SPA, fast dev server &amp; HMR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065395" y="2185035"/>
            <a:ext cx="4065270" cy="2967990"/>
            <a:chOff x="0" y="0"/>
            <a:chExt cx="5420360" cy="395732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420360" cy="3957320"/>
            </a:xfrm>
            <a:custGeom>
              <a:avLst/>
              <a:gdLst/>
              <a:ahLst/>
              <a:cxnLst/>
              <a:rect l="l" t="t" r="r" b="b"/>
              <a:pathLst>
                <a:path w="5420360" h="3957320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5254752" y="0"/>
                  </a:lnTo>
                  <a:cubicBezTo>
                    <a:pt x="5346192" y="0"/>
                    <a:pt x="5420360" y="74168"/>
                    <a:pt x="5420360" y="165608"/>
                  </a:cubicBezTo>
                  <a:lnTo>
                    <a:pt x="5420360" y="3791712"/>
                  </a:lnTo>
                  <a:cubicBezTo>
                    <a:pt x="5420360" y="3883152"/>
                    <a:pt x="5346192" y="3957320"/>
                    <a:pt x="5254752" y="3957320"/>
                  </a:cubicBezTo>
                  <a:lnTo>
                    <a:pt x="165608" y="3957320"/>
                  </a:lnTo>
                  <a:cubicBezTo>
                    <a:pt x="74168" y="3957320"/>
                    <a:pt x="0" y="3883152"/>
                    <a:pt x="0" y="3791712"/>
                  </a:cubicBezTo>
                  <a:close/>
                </a:path>
              </a:pathLst>
            </a:custGeom>
            <a:solidFill>
              <a:srgbClr val="1E293B"/>
            </a:solidFill>
            <a:ln w="19050" cap="sq">
              <a:solidFill>
                <a:srgbClr val="2E3B52"/>
              </a:solidFill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6660928" y="2607850"/>
            <a:ext cx="874205" cy="874205"/>
            <a:chOff x="0" y="0"/>
            <a:chExt cx="1165606" cy="116560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165606" cy="1165606"/>
            </a:xfrm>
            <a:custGeom>
              <a:avLst/>
              <a:gdLst/>
              <a:ahLst/>
              <a:cxnLst/>
              <a:rect l="l" t="t" r="r" b="b"/>
              <a:pathLst>
                <a:path w="1165606" h="1165606">
                  <a:moveTo>
                    <a:pt x="0" y="582803"/>
                  </a:moveTo>
                  <a:cubicBezTo>
                    <a:pt x="0" y="260985"/>
                    <a:pt x="260985" y="0"/>
                    <a:pt x="582803" y="0"/>
                  </a:cubicBezTo>
                  <a:cubicBezTo>
                    <a:pt x="904621" y="0"/>
                    <a:pt x="1165606" y="260985"/>
                    <a:pt x="1165606" y="582803"/>
                  </a:cubicBezTo>
                  <a:cubicBezTo>
                    <a:pt x="1165606" y="904621"/>
                    <a:pt x="904621" y="1165606"/>
                    <a:pt x="582803" y="1165606"/>
                  </a:cubicBezTo>
                  <a:cubicBezTo>
                    <a:pt x="260985" y="1165606"/>
                    <a:pt x="0" y="904621"/>
                    <a:pt x="0" y="582803"/>
                  </a:cubicBezTo>
                  <a:close/>
                </a:path>
              </a:pathLst>
            </a:custGeom>
            <a:solidFill>
              <a:srgbClr val="22D3EE">
                <a:alpha val="3137"/>
              </a:srgbClr>
            </a:solidFill>
            <a:ln w="23812" cap="sq">
              <a:solidFill>
                <a:srgbClr val="22D3EE"/>
              </a:solidFill>
              <a:prstDash val="solid"/>
              <a:miter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6672834" y="2619756"/>
            <a:ext cx="850392" cy="850392"/>
            <a:chOff x="0" y="0"/>
            <a:chExt cx="1133856" cy="113385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133856" cy="1133856"/>
            </a:xfrm>
            <a:custGeom>
              <a:avLst/>
              <a:gdLst/>
              <a:ahLst/>
              <a:cxnLst/>
              <a:rect l="l" t="t" r="r" b="b"/>
              <a:pathLst>
                <a:path w="1133856" h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47625"/>
              <a:ext cx="1133856" cy="11814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01"/>
                </a:lnSpc>
              </a:pPr>
              <a:r>
                <a:rPr lang="en-US" sz="2418" b="1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RT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280660" y="3703320"/>
            <a:ext cx="3634740" cy="754380"/>
            <a:chOff x="0" y="0"/>
            <a:chExt cx="4846320" cy="100584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846320" cy="1005840"/>
            </a:xfrm>
            <a:custGeom>
              <a:avLst/>
              <a:gdLst/>
              <a:ahLst/>
              <a:cxnLst/>
              <a:rect l="l" t="t" r="r" b="b"/>
              <a:pathLst>
                <a:path w="4846320" h="1005840">
                  <a:moveTo>
                    <a:pt x="0" y="0"/>
                  </a:moveTo>
                  <a:lnTo>
                    <a:pt x="4846320" y="0"/>
                  </a:lnTo>
                  <a:lnTo>
                    <a:pt x="48463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882" b="-43882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4846320" cy="1043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50"/>
                </a:lnSpc>
              </a:pPr>
              <a:r>
                <a:rPr lang="en-US" sz="1875" b="1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React Router v6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280660" y="4361688"/>
            <a:ext cx="3634740" cy="685800"/>
            <a:chOff x="0" y="0"/>
            <a:chExt cx="4846320" cy="9144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846320" cy="914400"/>
            </a:xfrm>
            <a:custGeom>
              <a:avLst/>
              <a:gdLst/>
              <a:ahLst/>
              <a:cxnLst/>
              <a:rect l="l" t="t" r="r" b="b"/>
              <a:pathLst>
                <a:path w="4846320" h="914400">
                  <a:moveTo>
                    <a:pt x="0" y="0"/>
                  </a:moveTo>
                  <a:lnTo>
                    <a:pt x="4846320" y="0"/>
                  </a:lnTo>
                  <a:lnTo>
                    <a:pt x="48463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270" b="-53270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47625"/>
              <a:ext cx="484632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1"/>
                </a:lnSpc>
              </a:pPr>
              <a:r>
                <a:rPr lang="en-US" sz="1425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Client-side routing &amp; protected routes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317355" y="2185035"/>
            <a:ext cx="4065270" cy="2967990"/>
            <a:chOff x="0" y="0"/>
            <a:chExt cx="5420360" cy="395732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5420360" cy="3957320"/>
            </a:xfrm>
            <a:custGeom>
              <a:avLst/>
              <a:gdLst/>
              <a:ahLst/>
              <a:cxnLst/>
              <a:rect l="l" t="t" r="r" b="b"/>
              <a:pathLst>
                <a:path w="5420360" h="3957320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5254752" y="0"/>
                  </a:lnTo>
                  <a:cubicBezTo>
                    <a:pt x="5346192" y="0"/>
                    <a:pt x="5420360" y="74168"/>
                    <a:pt x="5420360" y="165608"/>
                  </a:cubicBezTo>
                  <a:lnTo>
                    <a:pt x="5420360" y="3791712"/>
                  </a:lnTo>
                  <a:cubicBezTo>
                    <a:pt x="5420360" y="3883152"/>
                    <a:pt x="5346192" y="3957320"/>
                    <a:pt x="5254752" y="3957320"/>
                  </a:cubicBezTo>
                  <a:lnTo>
                    <a:pt x="165608" y="3957320"/>
                  </a:lnTo>
                  <a:cubicBezTo>
                    <a:pt x="74168" y="3957320"/>
                    <a:pt x="0" y="3883152"/>
                    <a:pt x="0" y="3791712"/>
                  </a:cubicBezTo>
                  <a:close/>
                </a:path>
              </a:pathLst>
            </a:custGeom>
            <a:solidFill>
              <a:srgbClr val="1E293B"/>
            </a:solidFill>
            <a:ln w="19050" cap="sq">
              <a:solidFill>
                <a:srgbClr val="2E3B52"/>
              </a:solidFill>
              <a:prstDash val="solid"/>
              <a:miter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10912888" y="2607850"/>
            <a:ext cx="874205" cy="874205"/>
            <a:chOff x="0" y="0"/>
            <a:chExt cx="1165606" cy="1165606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165606" cy="1165606"/>
            </a:xfrm>
            <a:custGeom>
              <a:avLst/>
              <a:gdLst/>
              <a:ahLst/>
              <a:cxnLst/>
              <a:rect l="l" t="t" r="r" b="b"/>
              <a:pathLst>
                <a:path w="1165606" h="1165606">
                  <a:moveTo>
                    <a:pt x="0" y="582803"/>
                  </a:moveTo>
                  <a:cubicBezTo>
                    <a:pt x="0" y="260985"/>
                    <a:pt x="260985" y="0"/>
                    <a:pt x="582803" y="0"/>
                  </a:cubicBezTo>
                  <a:cubicBezTo>
                    <a:pt x="904621" y="0"/>
                    <a:pt x="1165606" y="260985"/>
                    <a:pt x="1165606" y="582803"/>
                  </a:cubicBezTo>
                  <a:cubicBezTo>
                    <a:pt x="1165606" y="904621"/>
                    <a:pt x="904621" y="1165606"/>
                    <a:pt x="582803" y="1165606"/>
                  </a:cubicBezTo>
                  <a:cubicBezTo>
                    <a:pt x="260985" y="1165606"/>
                    <a:pt x="0" y="904621"/>
                    <a:pt x="0" y="582803"/>
                  </a:cubicBezTo>
                  <a:close/>
                </a:path>
              </a:pathLst>
            </a:custGeom>
            <a:solidFill>
              <a:srgbClr val="FBBF24">
                <a:alpha val="3137"/>
              </a:srgbClr>
            </a:solidFill>
            <a:ln w="23812" cap="sq">
              <a:solidFill>
                <a:srgbClr val="FBBF24"/>
              </a:solidFill>
              <a:prstDash val="solid"/>
              <a:miter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10924794" y="2619756"/>
            <a:ext cx="850392" cy="850392"/>
            <a:chOff x="0" y="0"/>
            <a:chExt cx="1133856" cy="1133856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133856" cy="1133856"/>
            </a:xfrm>
            <a:custGeom>
              <a:avLst/>
              <a:gdLst/>
              <a:ahLst/>
              <a:cxnLst/>
              <a:rect l="l" t="t" r="r" b="b"/>
              <a:pathLst>
                <a:path w="1133856" h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47625"/>
              <a:ext cx="1133856" cy="11814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01"/>
                </a:lnSpc>
              </a:pPr>
              <a:r>
                <a:rPr lang="en-US" sz="2418" b="1">
                  <a:solidFill>
                    <a:srgbClr val="FBBF2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AX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9532620" y="3703320"/>
            <a:ext cx="3634740" cy="754380"/>
            <a:chOff x="0" y="0"/>
            <a:chExt cx="4846320" cy="100584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4846320" cy="1005840"/>
            </a:xfrm>
            <a:custGeom>
              <a:avLst/>
              <a:gdLst/>
              <a:ahLst/>
              <a:cxnLst/>
              <a:rect l="l" t="t" r="r" b="b"/>
              <a:pathLst>
                <a:path w="4846320" h="1005840">
                  <a:moveTo>
                    <a:pt x="0" y="0"/>
                  </a:moveTo>
                  <a:lnTo>
                    <a:pt x="4846320" y="0"/>
                  </a:lnTo>
                  <a:lnTo>
                    <a:pt x="48463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882" b="-43882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38100"/>
              <a:ext cx="4846320" cy="1043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50"/>
                </a:lnSpc>
              </a:pPr>
              <a:r>
                <a:rPr lang="en-US" sz="1875" b="1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Axios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9532620" y="4361688"/>
            <a:ext cx="3634740" cy="685800"/>
            <a:chOff x="0" y="0"/>
            <a:chExt cx="4846320" cy="9144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4846320" cy="914400"/>
            </a:xfrm>
            <a:custGeom>
              <a:avLst/>
              <a:gdLst/>
              <a:ahLst/>
              <a:cxnLst/>
              <a:rect l="l" t="t" r="r" b="b"/>
              <a:pathLst>
                <a:path w="4846320" h="914400">
                  <a:moveTo>
                    <a:pt x="0" y="0"/>
                  </a:moveTo>
                  <a:lnTo>
                    <a:pt x="4846320" y="0"/>
                  </a:lnTo>
                  <a:lnTo>
                    <a:pt x="48463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270" b="-53270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-47625"/>
              <a:ext cx="484632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1"/>
                </a:lnSpc>
              </a:pPr>
              <a:r>
                <a:rPr lang="en-US" sz="1425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HTTP client with JWT request interceptor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3569315" y="2185035"/>
            <a:ext cx="4065270" cy="2967990"/>
            <a:chOff x="0" y="0"/>
            <a:chExt cx="5420360" cy="395732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5420360" cy="3957320"/>
            </a:xfrm>
            <a:custGeom>
              <a:avLst/>
              <a:gdLst/>
              <a:ahLst/>
              <a:cxnLst/>
              <a:rect l="l" t="t" r="r" b="b"/>
              <a:pathLst>
                <a:path w="5420360" h="3957320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5254752" y="0"/>
                  </a:lnTo>
                  <a:cubicBezTo>
                    <a:pt x="5346192" y="0"/>
                    <a:pt x="5420360" y="74168"/>
                    <a:pt x="5420360" y="165608"/>
                  </a:cubicBezTo>
                  <a:lnTo>
                    <a:pt x="5420360" y="3791712"/>
                  </a:lnTo>
                  <a:cubicBezTo>
                    <a:pt x="5420360" y="3883152"/>
                    <a:pt x="5346192" y="3957320"/>
                    <a:pt x="5254752" y="3957320"/>
                  </a:cubicBezTo>
                  <a:lnTo>
                    <a:pt x="165608" y="3957320"/>
                  </a:lnTo>
                  <a:cubicBezTo>
                    <a:pt x="74168" y="3957320"/>
                    <a:pt x="0" y="3883152"/>
                    <a:pt x="0" y="3791712"/>
                  </a:cubicBezTo>
                  <a:close/>
                </a:path>
              </a:pathLst>
            </a:custGeom>
            <a:solidFill>
              <a:srgbClr val="1E293B"/>
            </a:solidFill>
            <a:ln w="19050" cap="sq">
              <a:solidFill>
                <a:srgbClr val="2E3B52"/>
              </a:solidFill>
              <a:prstDash val="solid"/>
              <a:miter/>
            </a:ln>
          </p:spPr>
        </p:sp>
      </p:grpSp>
      <p:grpSp>
        <p:nvGrpSpPr>
          <p:cNvPr id="53" name="Group 53"/>
          <p:cNvGrpSpPr/>
          <p:nvPr/>
        </p:nvGrpSpPr>
        <p:grpSpPr>
          <a:xfrm>
            <a:off x="15164848" y="2607850"/>
            <a:ext cx="874205" cy="874205"/>
            <a:chOff x="0" y="0"/>
            <a:chExt cx="1165606" cy="1165606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165606" cy="1165606"/>
            </a:xfrm>
            <a:custGeom>
              <a:avLst/>
              <a:gdLst/>
              <a:ahLst/>
              <a:cxnLst/>
              <a:rect l="l" t="t" r="r" b="b"/>
              <a:pathLst>
                <a:path w="1165606" h="1165606">
                  <a:moveTo>
                    <a:pt x="0" y="582803"/>
                  </a:moveTo>
                  <a:cubicBezTo>
                    <a:pt x="0" y="260985"/>
                    <a:pt x="260985" y="0"/>
                    <a:pt x="582803" y="0"/>
                  </a:cubicBezTo>
                  <a:cubicBezTo>
                    <a:pt x="904621" y="0"/>
                    <a:pt x="1165606" y="260985"/>
                    <a:pt x="1165606" y="582803"/>
                  </a:cubicBezTo>
                  <a:cubicBezTo>
                    <a:pt x="1165606" y="904621"/>
                    <a:pt x="904621" y="1165606"/>
                    <a:pt x="582803" y="1165606"/>
                  </a:cubicBezTo>
                  <a:cubicBezTo>
                    <a:pt x="260985" y="1165606"/>
                    <a:pt x="0" y="904621"/>
                    <a:pt x="0" y="582803"/>
                  </a:cubicBezTo>
                  <a:close/>
                </a:path>
              </a:pathLst>
            </a:custGeom>
            <a:solidFill>
              <a:srgbClr val="818CF8">
                <a:alpha val="3137"/>
              </a:srgbClr>
            </a:solidFill>
            <a:ln w="23812" cap="sq">
              <a:solidFill>
                <a:srgbClr val="818CF8"/>
              </a:solidFill>
              <a:prstDash val="solid"/>
              <a:miter/>
            </a:ln>
          </p:spPr>
        </p:sp>
      </p:grpSp>
      <p:grpSp>
        <p:nvGrpSpPr>
          <p:cNvPr id="55" name="Group 55"/>
          <p:cNvGrpSpPr/>
          <p:nvPr/>
        </p:nvGrpSpPr>
        <p:grpSpPr>
          <a:xfrm>
            <a:off x="15176754" y="2619756"/>
            <a:ext cx="850392" cy="850392"/>
            <a:chOff x="0" y="0"/>
            <a:chExt cx="1133856" cy="1133856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1133856" cy="1133856"/>
            </a:xfrm>
            <a:custGeom>
              <a:avLst/>
              <a:gdLst/>
              <a:ahLst/>
              <a:cxnLst/>
              <a:rect l="l" t="t" r="r" b="b"/>
              <a:pathLst>
                <a:path w="1133856" h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57" name="TextBox 57"/>
            <p:cNvSpPr txBox="1"/>
            <p:nvPr/>
          </p:nvSpPr>
          <p:spPr>
            <a:xfrm>
              <a:off x="0" y="-47625"/>
              <a:ext cx="1133856" cy="11814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01"/>
                </a:lnSpc>
              </a:pPr>
              <a:r>
                <a:rPr lang="en-US" sz="2418" b="1">
                  <a:solidFill>
                    <a:srgbClr val="818C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JS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3784580" y="3703320"/>
            <a:ext cx="3634740" cy="754380"/>
            <a:chOff x="0" y="0"/>
            <a:chExt cx="4846320" cy="100584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4846320" cy="1005840"/>
            </a:xfrm>
            <a:custGeom>
              <a:avLst/>
              <a:gdLst/>
              <a:ahLst/>
              <a:cxnLst/>
              <a:rect l="l" t="t" r="r" b="b"/>
              <a:pathLst>
                <a:path w="4846320" h="1005840">
                  <a:moveTo>
                    <a:pt x="0" y="0"/>
                  </a:moveTo>
                  <a:lnTo>
                    <a:pt x="4846320" y="0"/>
                  </a:lnTo>
                  <a:lnTo>
                    <a:pt x="48463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882" b="-43882"/>
              </a:stretch>
            </a:blipFill>
          </p:spPr>
        </p:sp>
        <p:sp>
          <p:nvSpPr>
            <p:cNvPr id="60" name="TextBox 60"/>
            <p:cNvSpPr txBox="1"/>
            <p:nvPr/>
          </p:nvSpPr>
          <p:spPr>
            <a:xfrm>
              <a:off x="0" y="-38100"/>
              <a:ext cx="4846320" cy="1043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50"/>
                </a:lnSpc>
              </a:pPr>
              <a:r>
                <a:rPr lang="en-US" sz="1875" b="1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Node.js + Express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3784580" y="4361688"/>
            <a:ext cx="3634740" cy="685800"/>
            <a:chOff x="0" y="0"/>
            <a:chExt cx="4846320" cy="91440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4846320" cy="914400"/>
            </a:xfrm>
            <a:custGeom>
              <a:avLst/>
              <a:gdLst/>
              <a:ahLst/>
              <a:cxnLst/>
              <a:rect l="l" t="t" r="r" b="b"/>
              <a:pathLst>
                <a:path w="4846320" h="914400">
                  <a:moveTo>
                    <a:pt x="0" y="0"/>
                  </a:moveTo>
                  <a:lnTo>
                    <a:pt x="4846320" y="0"/>
                  </a:lnTo>
                  <a:lnTo>
                    <a:pt x="48463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270" b="-53270"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0" y="-47625"/>
              <a:ext cx="484632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1"/>
                </a:lnSpc>
              </a:pPr>
              <a:r>
                <a:rPr lang="en-US" sz="1425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REST API server, ESM modules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813435" y="5339715"/>
            <a:ext cx="4065270" cy="2967990"/>
            <a:chOff x="0" y="0"/>
            <a:chExt cx="5420360" cy="395732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5420360" cy="3957320"/>
            </a:xfrm>
            <a:custGeom>
              <a:avLst/>
              <a:gdLst/>
              <a:ahLst/>
              <a:cxnLst/>
              <a:rect l="l" t="t" r="r" b="b"/>
              <a:pathLst>
                <a:path w="5420360" h="3957320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5254752" y="0"/>
                  </a:lnTo>
                  <a:cubicBezTo>
                    <a:pt x="5346192" y="0"/>
                    <a:pt x="5420360" y="74168"/>
                    <a:pt x="5420360" y="165608"/>
                  </a:cubicBezTo>
                  <a:lnTo>
                    <a:pt x="5420360" y="3791712"/>
                  </a:lnTo>
                  <a:cubicBezTo>
                    <a:pt x="5420360" y="3883152"/>
                    <a:pt x="5346192" y="3957320"/>
                    <a:pt x="5254752" y="3957320"/>
                  </a:cubicBezTo>
                  <a:lnTo>
                    <a:pt x="165608" y="3957320"/>
                  </a:lnTo>
                  <a:cubicBezTo>
                    <a:pt x="74168" y="3957320"/>
                    <a:pt x="0" y="3883152"/>
                    <a:pt x="0" y="3791712"/>
                  </a:cubicBezTo>
                  <a:close/>
                </a:path>
              </a:pathLst>
            </a:custGeom>
            <a:solidFill>
              <a:srgbClr val="1E293B"/>
            </a:solidFill>
            <a:ln w="19050" cap="sq">
              <a:solidFill>
                <a:srgbClr val="2E3B52"/>
              </a:solidFill>
              <a:prstDash val="solid"/>
              <a:miter/>
            </a:ln>
          </p:spPr>
        </p:sp>
      </p:grpSp>
      <p:grpSp>
        <p:nvGrpSpPr>
          <p:cNvPr id="66" name="Group 66"/>
          <p:cNvGrpSpPr/>
          <p:nvPr/>
        </p:nvGrpSpPr>
        <p:grpSpPr>
          <a:xfrm>
            <a:off x="2408968" y="5762530"/>
            <a:ext cx="874205" cy="874205"/>
            <a:chOff x="0" y="0"/>
            <a:chExt cx="1165606" cy="1165606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1165606" cy="1165606"/>
            </a:xfrm>
            <a:custGeom>
              <a:avLst/>
              <a:gdLst/>
              <a:ahLst/>
              <a:cxnLst/>
              <a:rect l="l" t="t" r="r" b="b"/>
              <a:pathLst>
                <a:path w="1165606" h="1165606">
                  <a:moveTo>
                    <a:pt x="0" y="582803"/>
                  </a:moveTo>
                  <a:cubicBezTo>
                    <a:pt x="0" y="260985"/>
                    <a:pt x="260985" y="0"/>
                    <a:pt x="582803" y="0"/>
                  </a:cubicBezTo>
                  <a:cubicBezTo>
                    <a:pt x="904621" y="0"/>
                    <a:pt x="1165606" y="260985"/>
                    <a:pt x="1165606" y="582803"/>
                  </a:cubicBezTo>
                  <a:cubicBezTo>
                    <a:pt x="1165606" y="904621"/>
                    <a:pt x="904621" y="1165606"/>
                    <a:pt x="582803" y="1165606"/>
                  </a:cubicBezTo>
                  <a:cubicBezTo>
                    <a:pt x="260985" y="1165606"/>
                    <a:pt x="0" y="904621"/>
                    <a:pt x="0" y="582803"/>
                  </a:cubicBezTo>
                  <a:close/>
                </a:path>
              </a:pathLst>
            </a:custGeom>
            <a:solidFill>
              <a:srgbClr val="F472B6">
                <a:alpha val="3137"/>
              </a:srgbClr>
            </a:solidFill>
            <a:ln w="23812" cap="sq">
              <a:solidFill>
                <a:srgbClr val="F472B6"/>
              </a:solidFill>
              <a:prstDash val="solid"/>
              <a:miter/>
            </a:ln>
          </p:spPr>
        </p:sp>
      </p:grpSp>
      <p:grpSp>
        <p:nvGrpSpPr>
          <p:cNvPr id="68" name="Group 68"/>
          <p:cNvGrpSpPr/>
          <p:nvPr/>
        </p:nvGrpSpPr>
        <p:grpSpPr>
          <a:xfrm>
            <a:off x="2420874" y="5774436"/>
            <a:ext cx="850392" cy="850392"/>
            <a:chOff x="0" y="0"/>
            <a:chExt cx="1133856" cy="1133856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1133856" cy="1133856"/>
            </a:xfrm>
            <a:custGeom>
              <a:avLst/>
              <a:gdLst/>
              <a:ahLst/>
              <a:cxnLst/>
              <a:rect l="l" t="t" r="r" b="b"/>
              <a:pathLst>
                <a:path w="1133856" h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70" name="TextBox 70"/>
            <p:cNvSpPr txBox="1"/>
            <p:nvPr/>
          </p:nvSpPr>
          <p:spPr>
            <a:xfrm>
              <a:off x="0" y="-47625"/>
              <a:ext cx="1133856" cy="11814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01"/>
                </a:lnSpc>
              </a:pPr>
              <a:r>
                <a:rPr lang="en-US" sz="2418" b="1">
                  <a:solidFill>
                    <a:srgbClr val="F472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DB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028700" y="6858000"/>
            <a:ext cx="3634740" cy="754380"/>
            <a:chOff x="0" y="0"/>
            <a:chExt cx="4846320" cy="100584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4846320" cy="1005840"/>
            </a:xfrm>
            <a:custGeom>
              <a:avLst/>
              <a:gdLst/>
              <a:ahLst/>
              <a:cxnLst/>
              <a:rect l="l" t="t" r="r" b="b"/>
              <a:pathLst>
                <a:path w="4846320" h="1005840">
                  <a:moveTo>
                    <a:pt x="0" y="0"/>
                  </a:moveTo>
                  <a:lnTo>
                    <a:pt x="4846320" y="0"/>
                  </a:lnTo>
                  <a:lnTo>
                    <a:pt x="48463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882" b="-43882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-38100"/>
              <a:ext cx="4846320" cy="1043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50"/>
                </a:lnSpc>
              </a:pPr>
              <a:r>
                <a:rPr lang="en-US" sz="1875" b="1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MongoDB + Mongoose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1028700" y="7516368"/>
            <a:ext cx="3634740" cy="685800"/>
            <a:chOff x="0" y="0"/>
            <a:chExt cx="4846320" cy="91440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4846320" cy="914400"/>
            </a:xfrm>
            <a:custGeom>
              <a:avLst/>
              <a:gdLst/>
              <a:ahLst/>
              <a:cxnLst/>
              <a:rect l="l" t="t" r="r" b="b"/>
              <a:pathLst>
                <a:path w="4846320" h="914400">
                  <a:moveTo>
                    <a:pt x="0" y="0"/>
                  </a:moveTo>
                  <a:lnTo>
                    <a:pt x="4846320" y="0"/>
                  </a:lnTo>
                  <a:lnTo>
                    <a:pt x="48463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270" b="-53270"/>
              </a:stretch>
            </a:blipFill>
          </p:spPr>
        </p:sp>
        <p:sp>
          <p:nvSpPr>
            <p:cNvPr id="76" name="TextBox 76"/>
            <p:cNvSpPr txBox="1"/>
            <p:nvPr/>
          </p:nvSpPr>
          <p:spPr>
            <a:xfrm>
              <a:off x="0" y="-47625"/>
              <a:ext cx="484632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1"/>
                </a:lnSpc>
              </a:pPr>
              <a:r>
                <a:rPr lang="en-US" sz="1425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Document database &amp; schema modeling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5065395" y="5339715"/>
            <a:ext cx="4065270" cy="2967990"/>
            <a:chOff x="0" y="0"/>
            <a:chExt cx="5420360" cy="3957320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5420360" cy="3957320"/>
            </a:xfrm>
            <a:custGeom>
              <a:avLst/>
              <a:gdLst/>
              <a:ahLst/>
              <a:cxnLst/>
              <a:rect l="l" t="t" r="r" b="b"/>
              <a:pathLst>
                <a:path w="5420360" h="3957320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5254752" y="0"/>
                  </a:lnTo>
                  <a:cubicBezTo>
                    <a:pt x="5346192" y="0"/>
                    <a:pt x="5420360" y="74168"/>
                    <a:pt x="5420360" y="165608"/>
                  </a:cubicBezTo>
                  <a:lnTo>
                    <a:pt x="5420360" y="3791712"/>
                  </a:lnTo>
                  <a:cubicBezTo>
                    <a:pt x="5420360" y="3883152"/>
                    <a:pt x="5346192" y="3957320"/>
                    <a:pt x="5254752" y="3957320"/>
                  </a:cubicBezTo>
                  <a:lnTo>
                    <a:pt x="165608" y="3957320"/>
                  </a:lnTo>
                  <a:cubicBezTo>
                    <a:pt x="74168" y="3957320"/>
                    <a:pt x="0" y="3883152"/>
                    <a:pt x="0" y="3791712"/>
                  </a:cubicBezTo>
                  <a:close/>
                </a:path>
              </a:pathLst>
            </a:custGeom>
            <a:solidFill>
              <a:srgbClr val="1E293B"/>
            </a:solidFill>
            <a:ln w="19050" cap="sq">
              <a:solidFill>
                <a:srgbClr val="2E3B52"/>
              </a:solidFill>
              <a:prstDash val="solid"/>
              <a:miter/>
            </a:ln>
          </p:spPr>
        </p:sp>
      </p:grpSp>
      <p:grpSp>
        <p:nvGrpSpPr>
          <p:cNvPr id="79" name="Group 79"/>
          <p:cNvGrpSpPr/>
          <p:nvPr/>
        </p:nvGrpSpPr>
        <p:grpSpPr>
          <a:xfrm>
            <a:off x="6660928" y="5762530"/>
            <a:ext cx="874205" cy="874205"/>
            <a:chOff x="0" y="0"/>
            <a:chExt cx="1165606" cy="1165606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1165606" cy="1165606"/>
            </a:xfrm>
            <a:custGeom>
              <a:avLst/>
              <a:gdLst/>
              <a:ahLst/>
              <a:cxnLst/>
              <a:rect l="l" t="t" r="r" b="b"/>
              <a:pathLst>
                <a:path w="1165606" h="1165606">
                  <a:moveTo>
                    <a:pt x="0" y="582803"/>
                  </a:moveTo>
                  <a:cubicBezTo>
                    <a:pt x="0" y="260985"/>
                    <a:pt x="260985" y="0"/>
                    <a:pt x="582803" y="0"/>
                  </a:cubicBezTo>
                  <a:cubicBezTo>
                    <a:pt x="904621" y="0"/>
                    <a:pt x="1165606" y="260985"/>
                    <a:pt x="1165606" y="582803"/>
                  </a:cubicBezTo>
                  <a:cubicBezTo>
                    <a:pt x="1165606" y="904621"/>
                    <a:pt x="904621" y="1165606"/>
                    <a:pt x="582803" y="1165606"/>
                  </a:cubicBezTo>
                  <a:cubicBezTo>
                    <a:pt x="260985" y="1165606"/>
                    <a:pt x="0" y="904621"/>
                    <a:pt x="0" y="582803"/>
                  </a:cubicBezTo>
                  <a:close/>
                </a:path>
              </a:pathLst>
            </a:custGeom>
            <a:solidFill>
              <a:srgbClr val="F87171">
                <a:alpha val="3137"/>
              </a:srgbClr>
            </a:solidFill>
            <a:ln w="23812" cap="sq">
              <a:solidFill>
                <a:srgbClr val="F87171"/>
              </a:solidFill>
              <a:prstDash val="solid"/>
              <a:miter/>
            </a:ln>
          </p:spPr>
        </p:sp>
      </p:grpSp>
      <p:grpSp>
        <p:nvGrpSpPr>
          <p:cNvPr id="81" name="Group 81"/>
          <p:cNvGrpSpPr/>
          <p:nvPr/>
        </p:nvGrpSpPr>
        <p:grpSpPr>
          <a:xfrm>
            <a:off x="6672834" y="5774436"/>
            <a:ext cx="850392" cy="850392"/>
            <a:chOff x="0" y="0"/>
            <a:chExt cx="1133856" cy="1133856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1133856" cy="1133856"/>
            </a:xfrm>
            <a:custGeom>
              <a:avLst/>
              <a:gdLst/>
              <a:ahLst/>
              <a:cxnLst/>
              <a:rect l="l" t="t" r="r" b="b"/>
              <a:pathLst>
                <a:path w="1133856" h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83" name="TextBox 83"/>
            <p:cNvSpPr txBox="1"/>
            <p:nvPr/>
          </p:nvSpPr>
          <p:spPr>
            <a:xfrm>
              <a:off x="0" y="-47625"/>
              <a:ext cx="1133856" cy="11814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01"/>
                </a:lnSpc>
              </a:pPr>
              <a:r>
                <a:rPr lang="en-US" sz="2418" b="1">
                  <a:solidFill>
                    <a:srgbClr val="F8717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JWT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5280660" y="6858000"/>
            <a:ext cx="3634740" cy="754380"/>
            <a:chOff x="0" y="0"/>
            <a:chExt cx="4846320" cy="1005840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4846320" cy="1005840"/>
            </a:xfrm>
            <a:custGeom>
              <a:avLst/>
              <a:gdLst/>
              <a:ahLst/>
              <a:cxnLst/>
              <a:rect l="l" t="t" r="r" b="b"/>
              <a:pathLst>
                <a:path w="4846320" h="1005840">
                  <a:moveTo>
                    <a:pt x="0" y="0"/>
                  </a:moveTo>
                  <a:lnTo>
                    <a:pt x="4846320" y="0"/>
                  </a:lnTo>
                  <a:lnTo>
                    <a:pt x="48463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882" b="-43882"/>
              </a:stretch>
            </a:blipFill>
          </p:spPr>
        </p:sp>
        <p:sp>
          <p:nvSpPr>
            <p:cNvPr id="86" name="TextBox 86"/>
            <p:cNvSpPr txBox="1"/>
            <p:nvPr/>
          </p:nvSpPr>
          <p:spPr>
            <a:xfrm>
              <a:off x="0" y="-38100"/>
              <a:ext cx="4846320" cy="1043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50"/>
                </a:lnSpc>
              </a:pPr>
              <a:r>
                <a:rPr lang="en-US" sz="1875" b="1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JWT + bcryptjs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5280660" y="7516368"/>
            <a:ext cx="3634740" cy="685800"/>
            <a:chOff x="0" y="0"/>
            <a:chExt cx="4846320" cy="914400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4846320" cy="914400"/>
            </a:xfrm>
            <a:custGeom>
              <a:avLst/>
              <a:gdLst/>
              <a:ahLst/>
              <a:cxnLst/>
              <a:rect l="l" t="t" r="r" b="b"/>
              <a:pathLst>
                <a:path w="4846320" h="914400">
                  <a:moveTo>
                    <a:pt x="0" y="0"/>
                  </a:moveTo>
                  <a:lnTo>
                    <a:pt x="4846320" y="0"/>
                  </a:lnTo>
                  <a:lnTo>
                    <a:pt x="48463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270" b="-53270"/>
              </a:stretch>
            </a:blipFill>
          </p:spPr>
        </p:sp>
        <p:sp>
          <p:nvSpPr>
            <p:cNvPr id="89" name="TextBox 89"/>
            <p:cNvSpPr txBox="1"/>
            <p:nvPr/>
          </p:nvSpPr>
          <p:spPr>
            <a:xfrm>
              <a:off x="0" y="-47625"/>
              <a:ext cx="484632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1"/>
                </a:lnSpc>
              </a:pPr>
              <a:r>
                <a:rPr lang="en-US" sz="1425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Stateless auth &amp; password hashing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9317355" y="5339715"/>
            <a:ext cx="4065270" cy="2967990"/>
            <a:chOff x="0" y="0"/>
            <a:chExt cx="5420360" cy="3957320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5420360" cy="3957320"/>
            </a:xfrm>
            <a:custGeom>
              <a:avLst/>
              <a:gdLst/>
              <a:ahLst/>
              <a:cxnLst/>
              <a:rect l="l" t="t" r="r" b="b"/>
              <a:pathLst>
                <a:path w="5420360" h="3957320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5254752" y="0"/>
                  </a:lnTo>
                  <a:cubicBezTo>
                    <a:pt x="5346192" y="0"/>
                    <a:pt x="5420360" y="74168"/>
                    <a:pt x="5420360" y="165608"/>
                  </a:cubicBezTo>
                  <a:lnTo>
                    <a:pt x="5420360" y="3791712"/>
                  </a:lnTo>
                  <a:cubicBezTo>
                    <a:pt x="5420360" y="3883152"/>
                    <a:pt x="5346192" y="3957320"/>
                    <a:pt x="5254752" y="3957320"/>
                  </a:cubicBezTo>
                  <a:lnTo>
                    <a:pt x="165608" y="3957320"/>
                  </a:lnTo>
                  <a:cubicBezTo>
                    <a:pt x="74168" y="3957320"/>
                    <a:pt x="0" y="3883152"/>
                    <a:pt x="0" y="3791712"/>
                  </a:cubicBezTo>
                  <a:close/>
                </a:path>
              </a:pathLst>
            </a:custGeom>
            <a:solidFill>
              <a:srgbClr val="1E293B"/>
            </a:solidFill>
            <a:ln w="19050" cap="sq">
              <a:solidFill>
                <a:srgbClr val="2E3B52"/>
              </a:solidFill>
              <a:prstDash val="solid"/>
              <a:miter/>
            </a:ln>
          </p:spPr>
        </p:sp>
      </p:grpSp>
      <p:grpSp>
        <p:nvGrpSpPr>
          <p:cNvPr id="92" name="Group 92"/>
          <p:cNvGrpSpPr/>
          <p:nvPr/>
        </p:nvGrpSpPr>
        <p:grpSpPr>
          <a:xfrm>
            <a:off x="10912888" y="5762530"/>
            <a:ext cx="874205" cy="874205"/>
            <a:chOff x="0" y="0"/>
            <a:chExt cx="1165606" cy="1165606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1165606" cy="1165606"/>
            </a:xfrm>
            <a:custGeom>
              <a:avLst/>
              <a:gdLst/>
              <a:ahLst/>
              <a:cxnLst/>
              <a:rect l="l" t="t" r="r" b="b"/>
              <a:pathLst>
                <a:path w="1165606" h="1165606">
                  <a:moveTo>
                    <a:pt x="0" y="582803"/>
                  </a:moveTo>
                  <a:cubicBezTo>
                    <a:pt x="0" y="260985"/>
                    <a:pt x="260985" y="0"/>
                    <a:pt x="582803" y="0"/>
                  </a:cubicBezTo>
                  <a:cubicBezTo>
                    <a:pt x="904621" y="0"/>
                    <a:pt x="1165606" y="260985"/>
                    <a:pt x="1165606" y="582803"/>
                  </a:cubicBezTo>
                  <a:cubicBezTo>
                    <a:pt x="1165606" y="904621"/>
                    <a:pt x="904621" y="1165606"/>
                    <a:pt x="582803" y="1165606"/>
                  </a:cubicBezTo>
                  <a:cubicBezTo>
                    <a:pt x="260985" y="1165606"/>
                    <a:pt x="0" y="904621"/>
                    <a:pt x="0" y="582803"/>
                  </a:cubicBezTo>
                  <a:close/>
                </a:path>
              </a:pathLst>
            </a:custGeom>
            <a:solidFill>
              <a:srgbClr val="34D399">
                <a:alpha val="3137"/>
              </a:srgbClr>
            </a:solidFill>
            <a:ln w="23812" cap="sq">
              <a:solidFill>
                <a:srgbClr val="34D399"/>
              </a:solidFill>
              <a:prstDash val="solid"/>
              <a:miter/>
            </a:ln>
          </p:spPr>
        </p:sp>
      </p:grpSp>
      <p:grpSp>
        <p:nvGrpSpPr>
          <p:cNvPr id="94" name="Group 94"/>
          <p:cNvGrpSpPr/>
          <p:nvPr/>
        </p:nvGrpSpPr>
        <p:grpSpPr>
          <a:xfrm>
            <a:off x="10924794" y="5774436"/>
            <a:ext cx="850392" cy="850392"/>
            <a:chOff x="0" y="0"/>
            <a:chExt cx="1133856" cy="1133856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1133856" cy="1133856"/>
            </a:xfrm>
            <a:custGeom>
              <a:avLst/>
              <a:gdLst/>
              <a:ahLst/>
              <a:cxnLst/>
              <a:rect l="l" t="t" r="r" b="b"/>
              <a:pathLst>
                <a:path w="1133856" h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96" name="TextBox 96"/>
            <p:cNvSpPr txBox="1"/>
            <p:nvPr/>
          </p:nvSpPr>
          <p:spPr>
            <a:xfrm>
              <a:off x="0" y="-47625"/>
              <a:ext cx="1133856" cy="11814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01"/>
                </a:lnSpc>
              </a:pPr>
              <a:r>
                <a:rPr lang="en-US" sz="2418" b="1">
                  <a:solidFill>
                    <a:srgbClr val="34D3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9532620" y="6858000"/>
            <a:ext cx="3634740" cy="754380"/>
            <a:chOff x="0" y="0"/>
            <a:chExt cx="4846320" cy="1005840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4846320" cy="1005840"/>
            </a:xfrm>
            <a:custGeom>
              <a:avLst/>
              <a:gdLst/>
              <a:ahLst/>
              <a:cxnLst/>
              <a:rect l="l" t="t" r="r" b="b"/>
              <a:pathLst>
                <a:path w="4846320" h="1005840">
                  <a:moveTo>
                    <a:pt x="0" y="0"/>
                  </a:moveTo>
                  <a:lnTo>
                    <a:pt x="4846320" y="0"/>
                  </a:lnTo>
                  <a:lnTo>
                    <a:pt x="48463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882" b="-43882"/>
              </a:stretch>
            </a:blipFill>
          </p:spPr>
        </p:sp>
        <p:sp>
          <p:nvSpPr>
            <p:cNvPr id="99" name="TextBox 99"/>
            <p:cNvSpPr txBox="1"/>
            <p:nvPr/>
          </p:nvSpPr>
          <p:spPr>
            <a:xfrm>
              <a:off x="0" y="-38100"/>
              <a:ext cx="4846320" cy="1043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50"/>
                </a:lnSpc>
              </a:pPr>
              <a:r>
                <a:rPr lang="en-US" sz="1875" b="1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Google Gemini API</a:t>
              </a:r>
            </a:p>
          </p:txBody>
        </p:sp>
      </p:grpSp>
      <p:grpSp>
        <p:nvGrpSpPr>
          <p:cNvPr id="100" name="Group 100"/>
          <p:cNvGrpSpPr/>
          <p:nvPr/>
        </p:nvGrpSpPr>
        <p:grpSpPr>
          <a:xfrm>
            <a:off x="9532620" y="7516368"/>
            <a:ext cx="3634740" cy="685800"/>
            <a:chOff x="0" y="0"/>
            <a:chExt cx="4846320" cy="914400"/>
          </a:xfrm>
        </p:grpSpPr>
        <p:sp>
          <p:nvSpPr>
            <p:cNvPr id="101" name="Freeform 101"/>
            <p:cNvSpPr/>
            <p:nvPr/>
          </p:nvSpPr>
          <p:spPr>
            <a:xfrm>
              <a:off x="0" y="0"/>
              <a:ext cx="4846320" cy="914400"/>
            </a:xfrm>
            <a:custGeom>
              <a:avLst/>
              <a:gdLst/>
              <a:ahLst/>
              <a:cxnLst/>
              <a:rect l="l" t="t" r="r" b="b"/>
              <a:pathLst>
                <a:path w="4846320" h="914400">
                  <a:moveTo>
                    <a:pt x="0" y="0"/>
                  </a:moveTo>
                  <a:lnTo>
                    <a:pt x="4846320" y="0"/>
                  </a:lnTo>
                  <a:lnTo>
                    <a:pt x="48463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270" b="-53270"/>
              </a:stretch>
            </a:blipFill>
          </p:spPr>
        </p:sp>
        <p:sp>
          <p:nvSpPr>
            <p:cNvPr id="102" name="TextBox 102"/>
            <p:cNvSpPr txBox="1"/>
            <p:nvPr/>
          </p:nvSpPr>
          <p:spPr>
            <a:xfrm>
              <a:off x="0" y="-47625"/>
              <a:ext cx="484632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1"/>
                </a:lnSpc>
              </a:pPr>
              <a:r>
                <a:rPr lang="en-US" sz="1425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@google/genai — structured AI feedback</a:t>
              </a: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13569315" y="5339715"/>
            <a:ext cx="4065270" cy="2967990"/>
            <a:chOff x="0" y="0"/>
            <a:chExt cx="5420360" cy="3957320"/>
          </a:xfrm>
        </p:grpSpPr>
        <p:sp>
          <p:nvSpPr>
            <p:cNvPr id="104" name="Freeform 104"/>
            <p:cNvSpPr/>
            <p:nvPr/>
          </p:nvSpPr>
          <p:spPr>
            <a:xfrm>
              <a:off x="0" y="0"/>
              <a:ext cx="5420360" cy="3957320"/>
            </a:xfrm>
            <a:custGeom>
              <a:avLst/>
              <a:gdLst/>
              <a:ahLst/>
              <a:cxnLst/>
              <a:rect l="l" t="t" r="r" b="b"/>
              <a:pathLst>
                <a:path w="5420360" h="3957320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5254752" y="0"/>
                  </a:lnTo>
                  <a:cubicBezTo>
                    <a:pt x="5346192" y="0"/>
                    <a:pt x="5420360" y="74168"/>
                    <a:pt x="5420360" y="165608"/>
                  </a:cubicBezTo>
                  <a:lnTo>
                    <a:pt x="5420360" y="3791712"/>
                  </a:lnTo>
                  <a:cubicBezTo>
                    <a:pt x="5420360" y="3883152"/>
                    <a:pt x="5346192" y="3957320"/>
                    <a:pt x="5254752" y="3957320"/>
                  </a:cubicBezTo>
                  <a:lnTo>
                    <a:pt x="165608" y="3957320"/>
                  </a:lnTo>
                  <a:cubicBezTo>
                    <a:pt x="74168" y="3957320"/>
                    <a:pt x="0" y="3883152"/>
                    <a:pt x="0" y="3791712"/>
                  </a:cubicBezTo>
                  <a:close/>
                </a:path>
              </a:pathLst>
            </a:custGeom>
            <a:solidFill>
              <a:srgbClr val="1E293B"/>
            </a:solidFill>
            <a:ln w="19050" cap="sq">
              <a:solidFill>
                <a:srgbClr val="2E3B52"/>
              </a:solidFill>
              <a:prstDash val="solid"/>
              <a:miter/>
            </a:ln>
          </p:spPr>
        </p:sp>
      </p:grpSp>
      <p:grpSp>
        <p:nvGrpSpPr>
          <p:cNvPr id="105" name="Group 105"/>
          <p:cNvGrpSpPr/>
          <p:nvPr/>
        </p:nvGrpSpPr>
        <p:grpSpPr>
          <a:xfrm>
            <a:off x="15164848" y="5762530"/>
            <a:ext cx="874205" cy="874205"/>
            <a:chOff x="0" y="0"/>
            <a:chExt cx="1165606" cy="1165606"/>
          </a:xfrm>
        </p:grpSpPr>
        <p:sp>
          <p:nvSpPr>
            <p:cNvPr id="106" name="Freeform 106"/>
            <p:cNvSpPr/>
            <p:nvPr/>
          </p:nvSpPr>
          <p:spPr>
            <a:xfrm>
              <a:off x="0" y="0"/>
              <a:ext cx="1165606" cy="1165606"/>
            </a:xfrm>
            <a:custGeom>
              <a:avLst/>
              <a:gdLst/>
              <a:ahLst/>
              <a:cxnLst/>
              <a:rect l="l" t="t" r="r" b="b"/>
              <a:pathLst>
                <a:path w="1165606" h="1165606">
                  <a:moveTo>
                    <a:pt x="0" y="582803"/>
                  </a:moveTo>
                  <a:cubicBezTo>
                    <a:pt x="0" y="260985"/>
                    <a:pt x="260985" y="0"/>
                    <a:pt x="582803" y="0"/>
                  </a:cubicBezTo>
                  <a:cubicBezTo>
                    <a:pt x="904621" y="0"/>
                    <a:pt x="1165606" y="260985"/>
                    <a:pt x="1165606" y="582803"/>
                  </a:cubicBezTo>
                  <a:cubicBezTo>
                    <a:pt x="1165606" y="904621"/>
                    <a:pt x="904621" y="1165606"/>
                    <a:pt x="582803" y="1165606"/>
                  </a:cubicBezTo>
                  <a:cubicBezTo>
                    <a:pt x="260985" y="1165606"/>
                    <a:pt x="0" y="904621"/>
                    <a:pt x="0" y="582803"/>
                  </a:cubicBezTo>
                  <a:close/>
                </a:path>
              </a:pathLst>
            </a:custGeom>
            <a:solidFill>
              <a:srgbClr val="22D3EE">
                <a:alpha val="3137"/>
              </a:srgbClr>
            </a:solidFill>
            <a:ln w="23812" cap="sq">
              <a:solidFill>
                <a:srgbClr val="22D3EE"/>
              </a:solidFill>
              <a:prstDash val="solid"/>
              <a:miter/>
            </a:ln>
          </p:spPr>
        </p:sp>
      </p:grpSp>
      <p:grpSp>
        <p:nvGrpSpPr>
          <p:cNvPr id="107" name="Group 107"/>
          <p:cNvGrpSpPr/>
          <p:nvPr/>
        </p:nvGrpSpPr>
        <p:grpSpPr>
          <a:xfrm>
            <a:off x="15176754" y="5774436"/>
            <a:ext cx="850392" cy="850392"/>
            <a:chOff x="0" y="0"/>
            <a:chExt cx="1133856" cy="1133856"/>
          </a:xfrm>
        </p:grpSpPr>
        <p:sp>
          <p:nvSpPr>
            <p:cNvPr id="108" name="Freeform 108"/>
            <p:cNvSpPr/>
            <p:nvPr/>
          </p:nvSpPr>
          <p:spPr>
            <a:xfrm>
              <a:off x="0" y="0"/>
              <a:ext cx="1133856" cy="1133856"/>
            </a:xfrm>
            <a:custGeom>
              <a:avLst/>
              <a:gdLst/>
              <a:ahLst/>
              <a:cxnLst/>
              <a:rect l="l" t="t" r="r" b="b"/>
              <a:pathLst>
                <a:path w="1133856" h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09" name="TextBox 109"/>
            <p:cNvSpPr txBox="1"/>
            <p:nvPr/>
          </p:nvSpPr>
          <p:spPr>
            <a:xfrm>
              <a:off x="0" y="-47625"/>
              <a:ext cx="1133856" cy="11814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01"/>
                </a:lnSpc>
              </a:pPr>
              <a:r>
                <a:rPr lang="en-US" sz="2418" b="1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CSS</a:t>
              </a:r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13784580" y="6858000"/>
            <a:ext cx="3634740" cy="754380"/>
            <a:chOff x="0" y="0"/>
            <a:chExt cx="4846320" cy="1005840"/>
          </a:xfrm>
        </p:grpSpPr>
        <p:sp>
          <p:nvSpPr>
            <p:cNvPr id="111" name="Freeform 111"/>
            <p:cNvSpPr/>
            <p:nvPr/>
          </p:nvSpPr>
          <p:spPr>
            <a:xfrm>
              <a:off x="0" y="0"/>
              <a:ext cx="4846320" cy="1005840"/>
            </a:xfrm>
            <a:custGeom>
              <a:avLst/>
              <a:gdLst/>
              <a:ahLst/>
              <a:cxnLst/>
              <a:rect l="l" t="t" r="r" b="b"/>
              <a:pathLst>
                <a:path w="4846320" h="1005840">
                  <a:moveTo>
                    <a:pt x="0" y="0"/>
                  </a:moveTo>
                  <a:lnTo>
                    <a:pt x="4846320" y="0"/>
                  </a:lnTo>
                  <a:lnTo>
                    <a:pt x="48463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882" b="-43882"/>
              </a:stretch>
            </a:blipFill>
          </p:spPr>
        </p:sp>
        <p:sp>
          <p:nvSpPr>
            <p:cNvPr id="112" name="TextBox 112"/>
            <p:cNvSpPr txBox="1"/>
            <p:nvPr/>
          </p:nvSpPr>
          <p:spPr>
            <a:xfrm>
              <a:off x="0" y="-38100"/>
              <a:ext cx="4846320" cy="1043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50"/>
                </a:lnSpc>
              </a:pPr>
              <a:r>
                <a:rPr lang="en-US" sz="1875" b="1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Vanilla CSS System</a:t>
              </a: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13784580" y="7516368"/>
            <a:ext cx="3634740" cy="685800"/>
            <a:chOff x="0" y="0"/>
            <a:chExt cx="4846320" cy="914400"/>
          </a:xfrm>
        </p:grpSpPr>
        <p:sp>
          <p:nvSpPr>
            <p:cNvPr id="114" name="Freeform 114"/>
            <p:cNvSpPr/>
            <p:nvPr/>
          </p:nvSpPr>
          <p:spPr>
            <a:xfrm>
              <a:off x="0" y="0"/>
              <a:ext cx="4846320" cy="914400"/>
            </a:xfrm>
            <a:custGeom>
              <a:avLst/>
              <a:gdLst/>
              <a:ahLst/>
              <a:cxnLst/>
              <a:rect l="l" t="t" r="r" b="b"/>
              <a:pathLst>
                <a:path w="4846320" h="914400">
                  <a:moveTo>
                    <a:pt x="0" y="0"/>
                  </a:moveTo>
                  <a:lnTo>
                    <a:pt x="4846320" y="0"/>
                  </a:lnTo>
                  <a:lnTo>
                    <a:pt x="48463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270" b="-53270"/>
              </a:stretch>
            </a:blipFill>
          </p:spPr>
        </p:sp>
        <p:sp>
          <p:nvSpPr>
            <p:cNvPr id="115" name="TextBox 115"/>
            <p:cNvSpPr txBox="1"/>
            <p:nvPr/>
          </p:nvSpPr>
          <p:spPr>
            <a:xfrm>
              <a:off x="0" y="-47625"/>
              <a:ext cx="484632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1"/>
                </a:lnSpc>
              </a:pPr>
              <a:r>
                <a:rPr lang="en-US" sz="1425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Custom dark design system, no framework</a:t>
              </a:r>
            </a:p>
          </p:txBody>
        </p:sp>
      </p:grpSp>
      <p:grpSp>
        <p:nvGrpSpPr>
          <p:cNvPr id="116" name="Group 116"/>
          <p:cNvGrpSpPr/>
          <p:nvPr/>
        </p:nvGrpSpPr>
        <p:grpSpPr>
          <a:xfrm>
            <a:off x="822960" y="9710928"/>
            <a:ext cx="8229600" cy="411480"/>
            <a:chOff x="0" y="0"/>
            <a:chExt cx="10972800" cy="548640"/>
          </a:xfrm>
        </p:grpSpPr>
        <p:sp>
          <p:nvSpPr>
            <p:cNvPr id="117" name="Freeform 117"/>
            <p:cNvSpPr/>
            <p:nvPr/>
          </p:nvSpPr>
          <p:spPr>
            <a:xfrm>
              <a:off x="0" y="0"/>
              <a:ext cx="10972800" cy="548640"/>
            </a:xfrm>
            <a:custGeom>
              <a:avLst/>
              <a:gdLst/>
              <a:ahLst/>
              <a:cxnLst/>
              <a:rect l="l" t="t" r="r" b="b"/>
              <a:pathLst>
                <a:path w="10972800" h="54864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118" name="TextBox 118"/>
            <p:cNvSpPr txBox="1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Interview Practice Platform</a:t>
              </a:r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16641623" y="9710928"/>
            <a:ext cx="822960" cy="411480"/>
            <a:chOff x="0" y="0"/>
            <a:chExt cx="1097280" cy="548640"/>
          </a:xfrm>
        </p:grpSpPr>
        <p:sp>
          <p:nvSpPr>
            <p:cNvPr id="120" name="Freeform 120"/>
            <p:cNvSpPr/>
            <p:nvPr/>
          </p:nvSpPr>
          <p:spPr>
            <a:xfrm>
              <a:off x="0" y="0"/>
              <a:ext cx="1097280" cy="548640"/>
            </a:xfrm>
            <a:custGeom>
              <a:avLst/>
              <a:gdLst/>
              <a:ahLst/>
              <a:cxnLst/>
              <a:rect l="l" t="t" r="r" b="b"/>
              <a:pathLst>
                <a:path w="1097280" h="54864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121" name="TextBox 121"/>
            <p:cNvSpPr txBox="1"/>
            <p:nvPr/>
          </p:nvSpPr>
          <p:spPr>
            <a:xfrm>
              <a:off x="0" y="-28575"/>
              <a:ext cx="109728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  <p:pic>
        <p:nvPicPr>
          <p:cNvPr id="123" name="Picture 122" descr="Our Team - KLH Bachupally">
            <a:extLst>
              <a:ext uri="{FF2B5EF4-FFF2-40B4-BE49-F238E27FC236}">
                <a16:creationId xmlns:a16="http://schemas.microsoft.com/office/drawing/2014/main" id="{86B0C8DD-2594-FBDC-F8BA-E987B9577A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72054" y="0"/>
            <a:ext cx="3115946" cy="161964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480060"/>
            <a:ext cx="10972800" cy="411480"/>
            <a:chOff x="0" y="0"/>
            <a:chExt cx="14630400" cy="5486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0400" cy="548640"/>
            </a:xfrm>
            <a:custGeom>
              <a:avLst/>
              <a:gdLst/>
              <a:ahLst/>
              <a:cxnLst/>
              <a:rect l="l" t="t" r="r" b="b"/>
              <a:pathLst>
                <a:path w="14630400" h="54864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9601" b="-469601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300">
                  <a:solidFill>
                    <a:srgbClr val="818C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COMPULSORY · CORE DIAGRAM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850392"/>
            <a:ext cx="15773400" cy="960120"/>
            <a:chOff x="0" y="0"/>
            <a:chExt cx="21031200" cy="12801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031200" cy="1280160"/>
            </a:xfrm>
            <a:custGeom>
              <a:avLst/>
              <a:gdLst/>
              <a:ahLst/>
              <a:cxnLst/>
              <a:rect l="l" t="t" r="r" b="b"/>
              <a:pathLst>
                <a:path w="21031200" h="128016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0111" b="-270111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21031200" cy="13658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System Architecture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035583" y="548640"/>
            <a:ext cx="3429000" cy="411480"/>
            <a:chOff x="0" y="0"/>
            <a:chExt cx="4572000" cy="5486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572000" cy="548640"/>
            </a:xfrm>
            <a:custGeom>
              <a:avLst/>
              <a:gdLst/>
              <a:ahLst/>
              <a:cxnLst/>
              <a:rect l="l" t="t" r="r" b="b"/>
              <a:pathLst>
                <a:path w="4572000" h="548640">
                  <a:moveTo>
                    <a:pt x="0" y="0"/>
                  </a:moveTo>
                  <a:lnTo>
                    <a:pt x="4572000" y="0"/>
                  </a:lnTo>
                  <a:lnTo>
                    <a:pt x="4572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2375" b="-112375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45720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980"/>
                </a:lnSpc>
              </a:pPr>
              <a:r>
                <a:rPr lang="en-US" sz="1650" b="1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INTTE</a:t>
              </a:r>
              <a:r>
                <a:rPr lang="en-US" sz="1650" b="1">
                  <a:solidFill>
                    <a:srgbClr val="818C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REE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 rot="3960">
            <a:off x="813425" y="1750886"/>
            <a:ext cx="16660682" cy="0"/>
          </a:xfrm>
          <a:prstGeom prst="line">
            <a:avLst/>
          </a:prstGeom>
          <a:ln w="9525" cap="rnd">
            <a:solidFill>
              <a:srgbClr val="2E3B5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>
            <a:off x="3968115" y="2116455"/>
            <a:ext cx="10306050" cy="1459230"/>
            <a:chOff x="0" y="0"/>
            <a:chExt cx="13741400" cy="194564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741400" cy="1945640"/>
            </a:xfrm>
            <a:custGeom>
              <a:avLst/>
              <a:gdLst/>
              <a:ahLst/>
              <a:cxnLst/>
              <a:rect l="l" t="t" r="r" b="b"/>
              <a:pathLst>
                <a:path w="13741400" h="1945640">
                  <a:moveTo>
                    <a:pt x="0" y="166751"/>
                  </a:moveTo>
                  <a:cubicBezTo>
                    <a:pt x="0" y="74676"/>
                    <a:pt x="74676" y="0"/>
                    <a:pt x="166751" y="0"/>
                  </a:cubicBezTo>
                  <a:lnTo>
                    <a:pt x="13574649" y="0"/>
                  </a:lnTo>
                  <a:cubicBezTo>
                    <a:pt x="13666724" y="0"/>
                    <a:pt x="13741400" y="74676"/>
                    <a:pt x="13741400" y="166751"/>
                  </a:cubicBezTo>
                  <a:lnTo>
                    <a:pt x="13741400" y="1778889"/>
                  </a:lnTo>
                  <a:cubicBezTo>
                    <a:pt x="13741400" y="1870964"/>
                    <a:pt x="13666724" y="1945640"/>
                    <a:pt x="13574649" y="1945640"/>
                  </a:cubicBezTo>
                  <a:lnTo>
                    <a:pt x="166751" y="1945640"/>
                  </a:lnTo>
                  <a:cubicBezTo>
                    <a:pt x="74676" y="1945640"/>
                    <a:pt x="0" y="1870964"/>
                    <a:pt x="0" y="1778889"/>
                  </a:cubicBezTo>
                  <a:close/>
                </a:path>
              </a:pathLst>
            </a:custGeom>
            <a:solidFill>
              <a:srgbClr val="16213A"/>
            </a:solidFill>
            <a:ln w="19050" cap="sq">
              <a:solidFill>
                <a:srgbClr val="818CF8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4320540" y="2263140"/>
            <a:ext cx="9601200" cy="438912"/>
            <a:chOff x="0" y="0"/>
            <a:chExt cx="12801600" cy="58521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801600" cy="585216"/>
            </a:xfrm>
            <a:custGeom>
              <a:avLst/>
              <a:gdLst/>
              <a:ahLst/>
              <a:cxnLst/>
              <a:rect l="l" t="t" r="r" b="b"/>
              <a:pathLst>
                <a:path w="12801600" h="585216">
                  <a:moveTo>
                    <a:pt x="0" y="0"/>
                  </a:moveTo>
                  <a:lnTo>
                    <a:pt x="12801600" y="0"/>
                  </a:lnTo>
                  <a:lnTo>
                    <a:pt x="12801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6235" b="-376235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2801600" cy="6233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 b="1">
                  <a:solidFill>
                    <a:srgbClr val="818C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CLIENT  ·  React 18 + Vite SPA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320540" y="2784348"/>
            <a:ext cx="9601200" cy="685800"/>
            <a:chOff x="0" y="0"/>
            <a:chExt cx="12801600" cy="9144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801600" cy="914400"/>
            </a:xfrm>
            <a:custGeom>
              <a:avLst/>
              <a:gdLst/>
              <a:ahLst/>
              <a:cxnLst/>
              <a:rect l="l" t="t" r="r" b="b"/>
              <a:pathLst>
                <a:path w="12801600" h="914400">
                  <a:moveTo>
                    <a:pt x="0" y="0"/>
                  </a:moveTo>
                  <a:lnTo>
                    <a:pt x="12801600" y="0"/>
                  </a:lnTo>
                  <a:lnTo>
                    <a:pt x="12801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2790" b="-222790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1280160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73"/>
                </a:lnSpc>
              </a:pPr>
              <a:r>
                <a:rPr lang="en-US" sz="1575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Pages &amp; Components  ·  AuthContext (JWT in localStorage)  ·  Axios instance with request interceptor  ·  React Router</a:t>
              </a:r>
            </a:p>
          </p:txBody>
        </p:sp>
      </p:grpSp>
      <p:sp>
        <p:nvSpPr>
          <p:cNvPr id="20" name="AutoShape 20"/>
          <p:cNvSpPr/>
          <p:nvPr/>
        </p:nvSpPr>
        <p:spPr>
          <a:xfrm>
            <a:off x="9121140" y="3549034"/>
            <a:ext cx="0" cy="689607"/>
          </a:xfrm>
          <a:prstGeom prst="line">
            <a:avLst/>
          </a:prstGeom>
          <a:ln w="19050" cap="rnd">
            <a:solidFill>
              <a:srgbClr val="94A3B8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21" name="Group 21"/>
          <p:cNvGrpSpPr/>
          <p:nvPr/>
        </p:nvGrpSpPr>
        <p:grpSpPr>
          <a:xfrm>
            <a:off x="9464040" y="3593592"/>
            <a:ext cx="5760720" cy="493776"/>
            <a:chOff x="0" y="0"/>
            <a:chExt cx="7680960" cy="65836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680960" cy="658368"/>
            </a:xfrm>
            <a:custGeom>
              <a:avLst/>
              <a:gdLst/>
              <a:ahLst/>
              <a:cxnLst/>
              <a:rect l="l" t="t" r="r" b="b"/>
              <a:pathLst>
                <a:path w="7680960" h="658368">
                  <a:moveTo>
                    <a:pt x="0" y="0"/>
                  </a:moveTo>
                  <a:lnTo>
                    <a:pt x="7680960" y="0"/>
                  </a:lnTo>
                  <a:lnTo>
                    <a:pt x="768096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7325" b="-177325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7680960" cy="69646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09"/>
                </a:lnSpc>
              </a:pPr>
              <a:r>
                <a:rPr lang="en-US" sz="1425" i="1">
                  <a:solidFill>
                    <a:srgbClr val="94A3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HTTPS REST calls  ·  Authorization: Bearer &lt;JWT&gt;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01517" y="4327260"/>
            <a:ext cx="16656558" cy="2967990"/>
            <a:chOff x="0" y="0"/>
            <a:chExt cx="22208744" cy="395732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2208745" cy="3957320"/>
            </a:xfrm>
            <a:custGeom>
              <a:avLst/>
              <a:gdLst/>
              <a:ahLst/>
              <a:cxnLst/>
              <a:rect l="l" t="t" r="r" b="b"/>
              <a:pathLst>
                <a:path w="22208745" h="3957320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22043137" y="0"/>
                  </a:lnTo>
                  <a:cubicBezTo>
                    <a:pt x="22134576" y="0"/>
                    <a:pt x="22208745" y="74168"/>
                    <a:pt x="22208745" y="165608"/>
                  </a:cubicBezTo>
                  <a:lnTo>
                    <a:pt x="22208745" y="3791712"/>
                  </a:lnTo>
                  <a:cubicBezTo>
                    <a:pt x="22208745" y="3883152"/>
                    <a:pt x="22134576" y="3957320"/>
                    <a:pt x="22043137" y="3957320"/>
                  </a:cubicBezTo>
                  <a:lnTo>
                    <a:pt x="165608" y="3957320"/>
                  </a:lnTo>
                  <a:cubicBezTo>
                    <a:pt x="74168" y="3957320"/>
                    <a:pt x="0" y="3883152"/>
                    <a:pt x="0" y="3791712"/>
                  </a:cubicBezTo>
                  <a:close/>
                </a:path>
              </a:pathLst>
            </a:custGeom>
            <a:solidFill>
              <a:srgbClr val="16213A"/>
            </a:solidFill>
            <a:ln w="19050" cap="sq">
              <a:solidFill>
                <a:srgbClr val="4F46E5"/>
              </a:solidFill>
              <a:prstDash val="solid"/>
              <a:miter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1234440" y="4416552"/>
            <a:ext cx="15814548" cy="438912"/>
            <a:chOff x="0" y="0"/>
            <a:chExt cx="21086064" cy="58521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1086065" cy="585216"/>
            </a:xfrm>
            <a:custGeom>
              <a:avLst/>
              <a:gdLst/>
              <a:ahLst/>
              <a:cxnLst/>
              <a:rect l="l" t="t" r="r" b="b"/>
              <a:pathLst>
                <a:path w="21086065" h="585216">
                  <a:moveTo>
                    <a:pt x="0" y="0"/>
                  </a:moveTo>
                  <a:lnTo>
                    <a:pt x="21086065" y="0"/>
                  </a:lnTo>
                  <a:lnTo>
                    <a:pt x="21086065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52070" b="-652070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21086064" cy="6233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 b="1">
                  <a:solidFill>
                    <a:srgbClr val="818C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SERVER  ·  Express.js REST API  (Node.js, ESM)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224915" y="5037963"/>
            <a:ext cx="3766947" cy="1966722"/>
            <a:chOff x="0" y="0"/>
            <a:chExt cx="5022596" cy="262229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022596" cy="2622296"/>
            </a:xfrm>
            <a:custGeom>
              <a:avLst/>
              <a:gdLst/>
              <a:ahLst/>
              <a:cxnLst/>
              <a:rect l="l" t="t" r="r" b="b"/>
              <a:pathLst>
                <a:path w="5022596" h="2622296">
                  <a:moveTo>
                    <a:pt x="0" y="166243"/>
                  </a:moveTo>
                  <a:cubicBezTo>
                    <a:pt x="0" y="74422"/>
                    <a:pt x="74422" y="0"/>
                    <a:pt x="166243" y="0"/>
                  </a:cubicBezTo>
                  <a:lnTo>
                    <a:pt x="4856353" y="0"/>
                  </a:lnTo>
                  <a:cubicBezTo>
                    <a:pt x="4948174" y="0"/>
                    <a:pt x="5022596" y="74422"/>
                    <a:pt x="5022596" y="166243"/>
                  </a:cubicBezTo>
                  <a:lnTo>
                    <a:pt x="5022596" y="2456053"/>
                  </a:lnTo>
                  <a:cubicBezTo>
                    <a:pt x="5022596" y="2547874"/>
                    <a:pt x="4948174" y="2622296"/>
                    <a:pt x="4856353" y="2622296"/>
                  </a:cubicBezTo>
                  <a:lnTo>
                    <a:pt x="166243" y="2622296"/>
                  </a:lnTo>
                  <a:cubicBezTo>
                    <a:pt x="74422" y="2622296"/>
                    <a:pt x="0" y="2547874"/>
                    <a:pt x="0" y="2456053"/>
                  </a:cubicBezTo>
                  <a:close/>
                </a:path>
              </a:pathLst>
            </a:custGeom>
            <a:solidFill>
              <a:srgbClr val="1E293B"/>
            </a:solidFill>
            <a:ln w="19050" cap="sq">
              <a:solidFill>
                <a:srgbClr val="2E3B52"/>
              </a:solidFill>
              <a:prstDash val="solid"/>
              <a:miter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1399032" y="5212080"/>
            <a:ext cx="219456" cy="219456"/>
            <a:chOff x="0" y="0"/>
            <a:chExt cx="292608" cy="29260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292608" h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id="33" name="Group 33"/>
          <p:cNvGrpSpPr/>
          <p:nvPr/>
        </p:nvGrpSpPr>
        <p:grpSpPr>
          <a:xfrm>
            <a:off x="1714500" y="5129784"/>
            <a:ext cx="3062097" cy="384048"/>
            <a:chOff x="0" y="0"/>
            <a:chExt cx="4082796" cy="512064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082796" cy="512064"/>
            </a:xfrm>
            <a:custGeom>
              <a:avLst/>
              <a:gdLst/>
              <a:ahLst/>
              <a:cxnLst/>
              <a:rect l="l" t="t" r="r" b="b"/>
              <a:pathLst>
                <a:path w="4082796" h="512064">
                  <a:moveTo>
                    <a:pt x="0" y="0"/>
                  </a:moveTo>
                  <a:lnTo>
                    <a:pt x="4082796" y="0"/>
                  </a:lnTo>
                  <a:lnTo>
                    <a:pt x="4082796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5358" b="-105358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4082796" cy="5501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 b="1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Middleware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426464" y="5596128"/>
            <a:ext cx="3363849" cy="1303020"/>
            <a:chOff x="0" y="0"/>
            <a:chExt cx="4485132" cy="173736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4485132" cy="1737360"/>
            </a:xfrm>
            <a:custGeom>
              <a:avLst/>
              <a:gdLst/>
              <a:ahLst/>
              <a:cxnLst/>
              <a:rect l="l" t="t" r="r" b="b"/>
              <a:pathLst>
                <a:path w="4485132" h="1737360">
                  <a:moveTo>
                    <a:pt x="0" y="0"/>
                  </a:moveTo>
                  <a:lnTo>
                    <a:pt x="4485132" y="0"/>
                  </a:lnTo>
                  <a:lnTo>
                    <a:pt x="4485132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2" b="-302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57150"/>
              <a:ext cx="4485132" cy="17945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305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CORS · express.json</a:t>
              </a:r>
            </a:p>
            <a:p>
              <a:pPr algn="l">
                <a:lnSpc>
                  <a:spcPts val="1800"/>
                </a:lnSpc>
              </a:pPr>
              <a:r>
                <a:rPr lang="en-US" sz="1305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protect (JWT verify)</a:t>
              </a:r>
            </a:p>
            <a:p>
              <a:pPr algn="l">
                <a:lnSpc>
                  <a:spcPts val="1800"/>
                </a:lnSpc>
              </a:pPr>
              <a:r>
                <a:rPr lang="en-US" sz="1305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notFound / errorHandler</a:t>
              </a:r>
            </a:p>
          </p:txBody>
        </p:sp>
      </p:grpSp>
      <p:sp>
        <p:nvSpPr>
          <p:cNvPr id="39" name="AutoShape 39"/>
          <p:cNvSpPr/>
          <p:nvPr/>
        </p:nvSpPr>
        <p:spPr>
          <a:xfrm rot="323340">
            <a:off x="4967373" y="6011799"/>
            <a:ext cx="304238" cy="0"/>
          </a:xfrm>
          <a:prstGeom prst="line">
            <a:avLst/>
          </a:prstGeom>
          <a:ln w="19050" cap="rnd">
            <a:solidFill>
              <a:srgbClr val="94A3B8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40" name="Group 40"/>
          <p:cNvGrpSpPr/>
          <p:nvPr/>
        </p:nvGrpSpPr>
        <p:grpSpPr>
          <a:xfrm>
            <a:off x="5247132" y="5037963"/>
            <a:ext cx="3766947" cy="1966722"/>
            <a:chOff x="0" y="0"/>
            <a:chExt cx="5022596" cy="2622296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5022596" cy="2622296"/>
            </a:xfrm>
            <a:custGeom>
              <a:avLst/>
              <a:gdLst/>
              <a:ahLst/>
              <a:cxnLst/>
              <a:rect l="l" t="t" r="r" b="b"/>
              <a:pathLst>
                <a:path w="5022596" h="2622296">
                  <a:moveTo>
                    <a:pt x="0" y="166243"/>
                  </a:moveTo>
                  <a:cubicBezTo>
                    <a:pt x="0" y="74422"/>
                    <a:pt x="74422" y="0"/>
                    <a:pt x="166243" y="0"/>
                  </a:cubicBezTo>
                  <a:lnTo>
                    <a:pt x="4856353" y="0"/>
                  </a:lnTo>
                  <a:cubicBezTo>
                    <a:pt x="4948174" y="0"/>
                    <a:pt x="5022596" y="74422"/>
                    <a:pt x="5022596" y="166243"/>
                  </a:cubicBezTo>
                  <a:lnTo>
                    <a:pt x="5022596" y="2456053"/>
                  </a:lnTo>
                  <a:cubicBezTo>
                    <a:pt x="5022596" y="2547874"/>
                    <a:pt x="4948174" y="2622296"/>
                    <a:pt x="4856353" y="2622296"/>
                  </a:cubicBezTo>
                  <a:lnTo>
                    <a:pt x="166243" y="2622296"/>
                  </a:lnTo>
                  <a:cubicBezTo>
                    <a:pt x="74422" y="2622296"/>
                    <a:pt x="0" y="2547874"/>
                    <a:pt x="0" y="2456053"/>
                  </a:cubicBezTo>
                  <a:close/>
                </a:path>
              </a:pathLst>
            </a:custGeom>
            <a:solidFill>
              <a:srgbClr val="1E293B"/>
            </a:solidFill>
            <a:ln w="19050" cap="sq">
              <a:solidFill>
                <a:srgbClr val="2E3B52"/>
              </a:solidFill>
              <a:prstDash val="solid"/>
              <a:miter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5421249" y="5212080"/>
            <a:ext cx="219456" cy="219456"/>
            <a:chOff x="0" y="0"/>
            <a:chExt cx="292608" cy="292608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292608" h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FBBF24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5736717" y="5129784"/>
            <a:ext cx="3062097" cy="384048"/>
            <a:chOff x="0" y="0"/>
            <a:chExt cx="4082796" cy="512064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082796" cy="512064"/>
            </a:xfrm>
            <a:custGeom>
              <a:avLst/>
              <a:gdLst/>
              <a:ahLst/>
              <a:cxnLst/>
              <a:rect l="l" t="t" r="r" b="b"/>
              <a:pathLst>
                <a:path w="4082796" h="512064">
                  <a:moveTo>
                    <a:pt x="0" y="0"/>
                  </a:moveTo>
                  <a:lnTo>
                    <a:pt x="4082796" y="0"/>
                  </a:lnTo>
                  <a:lnTo>
                    <a:pt x="4082796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5358" b="-105358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4082796" cy="5501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 b="1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Routes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448681" y="5596128"/>
            <a:ext cx="3363849" cy="1303020"/>
            <a:chOff x="0" y="0"/>
            <a:chExt cx="4485132" cy="173736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4485132" cy="1737360"/>
            </a:xfrm>
            <a:custGeom>
              <a:avLst/>
              <a:gdLst/>
              <a:ahLst/>
              <a:cxnLst/>
              <a:rect l="l" t="t" r="r" b="b"/>
              <a:pathLst>
                <a:path w="4485132" h="1737360">
                  <a:moveTo>
                    <a:pt x="0" y="0"/>
                  </a:moveTo>
                  <a:lnTo>
                    <a:pt x="4485132" y="0"/>
                  </a:lnTo>
                  <a:lnTo>
                    <a:pt x="4485132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2" b="-302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57150"/>
              <a:ext cx="4485132" cy="17945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305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authRoutes · questionRoutes</a:t>
              </a:r>
            </a:p>
            <a:p>
              <a:pPr algn="l">
                <a:lnSpc>
                  <a:spcPts val="1800"/>
                </a:lnSpc>
              </a:pPr>
              <a:r>
                <a:rPr lang="en-US" sz="1305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interviewRoutes</a:t>
              </a:r>
            </a:p>
            <a:p>
              <a:pPr algn="l">
                <a:lnSpc>
                  <a:spcPts val="1800"/>
                </a:lnSpc>
              </a:pPr>
              <a:r>
                <a:rPr lang="en-US" sz="1305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feedbackRoutes · progressRoutes</a:t>
              </a:r>
            </a:p>
          </p:txBody>
        </p:sp>
      </p:grpSp>
      <p:sp>
        <p:nvSpPr>
          <p:cNvPr id="50" name="AutoShape 50"/>
          <p:cNvSpPr/>
          <p:nvPr/>
        </p:nvSpPr>
        <p:spPr>
          <a:xfrm rot="323340">
            <a:off x="8989590" y="6011799"/>
            <a:ext cx="304238" cy="0"/>
          </a:xfrm>
          <a:prstGeom prst="line">
            <a:avLst/>
          </a:prstGeom>
          <a:ln w="19050" cap="rnd">
            <a:solidFill>
              <a:srgbClr val="94A3B8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51" name="Group 51"/>
          <p:cNvGrpSpPr/>
          <p:nvPr/>
        </p:nvGrpSpPr>
        <p:grpSpPr>
          <a:xfrm>
            <a:off x="9269349" y="5037963"/>
            <a:ext cx="3766947" cy="1966722"/>
            <a:chOff x="0" y="0"/>
            <a:chExt cx="5022596" cy="2622296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5022596" cy="2622296"/>
            </a:xfrm>
            <a:custGeom>
              <a:avLst/>
              <a:gdLst/>
              <a:ahLst/>
              <a:cxnLst/>
              <a:rect l="l" t="t" r="r" b="b"/>
              <a:pathLst>
                <a:path w="5022596" h="2622296">
                  <a:moveTo>
                    <a:pt x="0" y="166243"/>
                  </a:moveTo>
                  <a:cubicBezTo>
                    <a:pt x="0" y="74422"/>
                    <a:pt x="74422" y="0"/>
                    <a:pt x="166243" y="0"/>
                  </a:cubicBezTo>
                  <a:lnTo>
                    <a:pt x="4856353" y="0"/>
                  </a:lnTo>
                  <a:cubicBezTo>
                    <a:pt x="4948174" y="0"/>
                    <a:pt x="5022596" y="74422"/>
                    <a:pt x="5022596" y="166243"/>
                  </a:cubicBezTo>
                  <a:lnTo>
                    <a:pt x="5022596" y="2456053"/>
                  </a:lnTo>
                  <a:cubicBezTo>
                    <a:pt x="5022596" y="2547874"/>
                    <a:pt x="4948174" y="2622296"/>
                    <a:pt x="4856353" y="2622296"/>
                  </a:cubicBezTo>
                  <a:lnTo>
                    <a:pt x="166243" y="2622296"/>
                  </a:lnTo>
                  <a:cubicBezTo>
                    <a:pt x="74422" y="2622296"/>
                    <a:pt x="0" y="2547874"/>
                    <a:pt x="0" y="2456053"/>
                  </a:cubicBezTo>
                  <a:close/>
                </a:path>
              </a:pathLst>
            </a:custGeom>
            <a:solidFill>
              <a:srgbClr val="1E293B"/>
            </a:solidFill>
            <a:ln w="19050" cap="sq">
              <a:solidFill>
                <a:srgbClr val="2E3B52"/>
              </a:solidFill>
              <a:prstDash val="solid"/>
              <a:miter/>
            </a:ln>
          </p:spPr>
        </p:sp>
      </p:grpSp>
      <p:grpSp>
        <p:nvGrpSpPr>
          <p:cNvPr id="53" name="Group 53"/>
          <p:cNvGrpSpPr/>
          <p:nvPr/>
        </p:nvGrpSpPr>
        <p:grpSpPr>
          <a:xfrm>
            <a:off x="9443466" y="5212080"/>
            <a:ext cx="219456" cy="219456"/>
            <a:chOff x="0" y="0"/>
            <a:chExt cx="292608" cy="292608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292608" h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id="55" name="Group 55"/>
          <p:cNvGrpSpPr/>
          <p:nvPr/>
        </p:nvGrpSpPr>
        <p:grpSpPr>
          <a:xfrm>
            <a:off x="9758934" y="5129784"/>
            <a:ext cx="3062097" cy="384048"/>
            <a:chOff x="0" y="0"/>
            <a:chExt cx="4082796" cy="512064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4082796" cy="512064"/>
            </a:xfrm>
            <a:custGeom>
              <a:avLst/>
              <a:gdLst/>
              <a:ahLst/>
              <a:cxnLst/>
              <a:rect l="l" t="t" r="r" b="b"/>
              <a:pathLst>
                <a:path w="4082796" h="512064">
                  <a:moveTo>
                    <a:pt x="0" y="0"/>
                  </a:moveTo>
                  <a:lnTo>
                    <a:pt x="4082796" y="0"/>
                  </a:lnTo>
                  <a:lnTo>
                    <a:pt x="4082796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5358" b="-105358"/>
              </a:stretch>
            </a:blipFill>
          </p:spPr>
        </p:sp>
        <p:sp>
          <p:nvSpPr>
            <p:cNvPr id="57" name="TextBox 57"/>
            <p:cNvSpPr txBox="1"/>
            <p:nvPr/>
          </p:nvSpPr>
          <p:spPr>
            <a:xfrm>
              <a:off x="0" y="-38100"/>
              <a:ext cx="4082796" cy="5501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 b="1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Controllers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9470898" y="5596128"/>
            <a:ext cx="3363849" cy="1303020"/>
            <a:chOff x="0" y="0"/>
            <a:chExt cx="4485132" cy="173736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4485132" cy="1737360"/>
            </a:xfrm>
            <a:custGeom>
              <a:avLst/>
              <a:gdLst/>
              <a:ahLst/>
              <a:cxnLst/>
              <a:rect l="l" t="t" r="r" b="b"/>
              <a:pathLst>
                <a:path w="4485132" h="1737360">
                  <a:moveTo>
                    <a:pt x="0" y="0"/>
                  </a:moveTo>
                  <a:lnTo>
                    <a:pt x="4485132" y="0"/>
                  </a:lnTo>
                  <a:lnTo>
                    <a:pt x="4485132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2" b="-302"/>
              </a:stretch>
            </a:blipFill>
          </p:spPr>
        </p:sp>
        <p:sp>
          <p:nvSpPr>
            <p:cNvPr id="60" name="TextBox 60"/>
            <p:cNvSpPr txBox="1"/>
            <p:nvPr/>
          </p:nvSpPr>
          <p:spPr>
            <a:xfrm>
              <a:off x="0" y="-57150"/>
              <a:ext cx="4485132" cy="17945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305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Business logic</a:t>
              </a:r>
            </a:p>
            <a:p>
              <a:pPr algn="l">
                <a:lnSpc>
                  <a:spcPts val="1800"/>
                </a:lnSpc>
              </a:pPr>
              <a:r>
                <a:rPr lang="en-US" sz="1305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Mongoose queries</a:t>
              </a:r>
            </a:p>
            <a:p>
              <a:pPr algn="l">
                <a:lnSpc>
                  <a:spcPts val="1800"/>
                </a:lnSpc>
              </a:pPr>
              <a:r>
                <a:rPr lang="en-US" sz="1305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$sample aggregation</a:t>
              </a:r>
            </a:p>
          </p:txBody>
        </p:sp>
      </p:grpSp>
      <p:sp>
        <p:nvSpPr>
          <p:cNvPr id="61" name="AutoShape 61"/>
          <p:cNvSpPr/>
          <p:nvPr/>
        </p:nvSpPr>
        <p:spPr>
          <a:xfrm rot="323340">
            <a:off x="13011807" y="6011799"/>
            <a:ext cx="304238" cy="0"/>
          </a:xfrm>
          <a:prstGeom prst="line">
            <a:avLst/>
          </a:prstGeom>
          <a:ln w="19050" cap="rnd">
            <a:solidFill>
              <a:srgbClr val="94A3B8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62" name="Group 62"/>
          <p:cNvGrpSpPr/>
          <p:nvPr/>
        </p:nvGrpSpPr>
        <p:grpSpPr>
          <a:xfrm>
            <a:off x="13291566" y="5037963"/>
            <a:ext cx="3766947" cy="1966722"/>
            <a:chOff x="0" y="0"/>
            <a:chExt cx="5022596" cy="2622296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5022596" cy="2622296"/>
            </a:xfrm>
            <a:custGeom>
              <a:avLst/>
              <a:gdLst/>
              <a:ahLst/>
              <a:cxnLst/>
              <a:rect l="l" t="t" r="r" b="b"/>
              <a:pathLst>
                <a:path w="5022596" h="2622296">
                  <a:moveTo>
                    <a:pt x="0" y="166243"/>
                  </a:moveTo>
                  <a:cubicBezTo>
                    <a:pt x="0" y="74422"/>
                    <a:pt x="74422" y="0"/>
                    <a:pt x="166243" y="0"/>
                  </a:cubicBezTo>
                  <a:lnTo>
                    <a:pt x="4856353" y="0"/>
                  </a:lnTo>
                  <a:cubicBezTo>
                    <a:pt x="4948174" y="0"/>
                    <a:pt x="5022596" y="74422"/>
                    <a:pt x="5022596" y="166243"/>
                  </a:cubicBezTo>
                  <a:lnTo>
                    <a:pt x="5022596" y="2456053"/>
                  </a:lnTo>
                  <a:cubicBezTo>
                    <a:pt x="5022596" y="2547874"/>
                    <a:pt x="4948174" y="2622296"/>
                    <a:pt x="4856353" y="2622296"/>
                  </a:cubicBezTo>
                  <a:lnTo>
                    <a:pt x="166243" y="2622296"/>
                  </a:lnTo>
                  <a:cubicBezTo>
                    <a:pt x="74422" y="2622296"/>
                    <a:pt x="0" y="2547874"/>
                    <a:pt x="0" y="2456053"/>
                  </a:cubicBezTo>
                  <a:close/>
                </a:path>
              </a:pathLst>
            </a:custGeom>
            <a:solidFill>
              <a:srgbClr val="1E293B"/>
            </a:solidFill>
            <a:ln w="19050" cap="sq">
              <a:solidFill>
                <a:srgbClr val="2E3B52"/>
              </a:solidFill>
              <a:prstDash val="solid"/>
              <a:miter/>
            </a:ln>
          </p:spPr>
        </p:sp>
      </p:grpSp>
      <p:grpSp>
        <p:nvGrpSpPr>
          <p:cNvPr id="64" name="Group 64"/>
          <p:cNvGrpSpPr/>
          <p:nvPr/>
        </p:nvGrpSpPr>
        <p:grpSpPr>
          <a:xfrm>
            <a:off x="13465683" y="5212080"/>
            <a:ext cx="219456" cy="219456"/>
            <a:chOff x="0" y="0"/>
            <a:chExt cx="292608" cy="292608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292608" h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F472B6"/>
            </a:solidFill>
          </p:spPr>
        </p:sp>
      </p:grpSp>
      <p:grpSp>
        <p:nvGrpSpPr>
          <p:cNvPr id="66" name="Group 66"/>
          <p:cNvGrpSpPr/>
          <p:nvPr/>
        </p:nvGrpSpPr>
        <p:grpSpPr>
          <a:xfrm>
            <a:off x="13781151" y="5129784"/>
            <a:ext cx="3062097" cy="384048"/>
            <a:chOff x="0" y="0"/>
            <a:chExt cx="4082796" cy="512064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4082796" cy="512064"/>
            </a:xfrm>
            <a:custGeom>
              <a:avLst/>
              <a:gdLst/>
              <a:ahLst/>
              <a:cxnLst/>
              <a:rect l="l" t="t" r="r" b="b"/>
              <a:pathLst>
                <a:path w="4082796" h="512064">
                  <a:moveTo>
                    <a:pt x="0" y="0"/>
                  </a:moveTo>
                  <a:lnTo>
                    <a:pt x="4082796" y="0"/>
                  </a:lnTo>
                  <a:lnTo>
                    <a:pt x="4082796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5358" b="-105358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0" y="-38100"/>
              <a:ext cx="4082796" cy="5501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 b="1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Services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3493115" y="5596128"/>
            <a:ext cx="3363849" cy="1303020"/>
            <a:chOff x="0" y="0"/>
            <a:chExt cx="4485132" cy="173736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4485132" cy="1737360"/>
            </a:xfrm>
            <a:custGeom>
              <a:avLst/>
              <a:gdLst/>
              <a:ahLst/>
              <a:cxnLst/>
              <a:rect l="l" t="t" r="r" b="b"/>
              <a:pathLst>
                <a:path w="4485132" h="1737360">
                  <a:moveTo>
                    <a:pt x="0" y="0"/>
                  </a:moveTo>
                  <a:lnTo>
                    <a:pt x="4485132" y="0"/>
                  </a:lnTo>
                  <a:lnTo>
                    <a:pt x="4485132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2" b="-302"/>
              </a:stretch>
            </a:blipFill>
          </p:spPr>
        </p:sp>
        <p:sp>
          <p:nvSpPr>
            <p:cNvPr id="71" name="TextBox 71"/>
            <p:cNvSpPr txBox="1"/>
            <p:nvPr/>
          </p:nvSpPr>
          <p:spPr>
            <a:xfrm>
              <a:off x="0" y="-57150"/>
              <a:ext cx="4485132" cy="17945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305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aiService.js</a:t>
              </a:r>
            </a:p>
            <a:p>
              <a:pPr algn="l">
                <a:lnSpc>
                  <a:spcPts val="1800"/>
                </a:lnSpc>
              </a:pPr>
              <a:r>
                <a:rPr lang="en-US" sz="1305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Prompt building</a:t>
              </a:r>
            </a:p>
            <a:p>
              <a:pPr algn="l">
                <a:lnSpc>
                  <a:spcPts val="1800"/>
                </a:lnSpc>
              </a:pPr>
              <a:r>
                <a:rPr lang="en-US" sz="1305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Gemini SDK calls</a:t>
              </a:r>
            </a:p>
          </p:txBody>
        </p:sp>
      </p:grpSp>
      <p:sp>
        <p:nvSpPr>
          <p:cNvPr id="72" name="AutoShape 72"/>
          <p:cNvSpPr/>
          <p:nvPr/>
        </p:nvSpPr>
        <p:spPr>
          <a:xfrm>
            <a:off x="5072366" y="7267956"/>
            <a:ext cx="0" cy="418719"/>
          </a:xfrm>
          <a:prstGeom prst="line">
            <a:avLst/>
          </a:prstGeom>
          <a:ln w="19050" cap="rnd">
            <a:solidFill>
              <a:srgbClr val="34D39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3" name="AutoShape 73"/>
          <p:cNvSpPr/>
          <p:nvPr/>
        </p:nvSpPr>
        <p:spPr>
          <a:xfrm>
            <a:off x="5067949" y="7568672"/>
            <a:ext cx="13941" cy="336458"/>
          </a:xfrm>
          <a:prstGeom prst="line">
            <a:avLst/>
          </a:prstGeom>
          <a:ln w="19050" cap="rnd">
            <a:solidFill>
              <a:srgbClr val="34D399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74" name="AutoShape 74"/>
          <p:cNvSpPr/>
          <p:nvPr/>
        </p:nvSpPr>
        <p:spPr>
          <a:xfrm>
            <a:off x="13162607" y="7295250"/>
            <a:ext cx="9505" cy="391194"/>
          </a:xfrm>
          <a:prstGeom prst="line">
            <a:avLst/>
          </a:prstGeom>
          <a:ln w="19050" cap="rnd">
            <a:solidFill>
              <a:srgbClr val="F472B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5" name="AutoShape 75"/>
          <p:cNvSpPr/>
          <p:nvPr/>
        </p:nvSpPr>
        <p:spPr>
          <a:xfrm>
            <a:off x="13160195" y="7567603"/>
            <a:ext cx="14330" cy="336442"/>
          </a:xfrm>
          <a:prstGeom prst="line">
            <a:avLst/>
          </a:prstGeom>
          <a:ln w="19050" cap="rnd">
            <a:solidFill>
              <a:srgbClr val="F472B6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76" name="Group 76"/>
          <p:cNvGrpSpPr/>
          <p:nvPr/>
        </p:nvGrpSpPr>
        <p:grpSpPr>
          <a:xfrm>
            <a:off x="1636395" y="7877175"/>
            <a:ext cx="6877050" cy="1870710"/>
            <a:chOff x="0" y="0"/>
            <a:chExt cx="9169400" cy="2494280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9169400" cy="2494280"/>
            </a:xfrm>
            <a:custGeom>
              <a:avLst/>
              <a:gdLst/>
              <a:ahLst/>
              <a:cxnLst/>
              <a:rect l="l" t="t" r="r" b="b"/>
              <a:pathLst>
                <a:path w="9169400" h="2494280">
                  <a:moveTo>
                    <a:pt x="0" y="166243"/>
                  </a:moveTo>
                  <a:cubicBezTo>
                    <a:pt x="0" y="74422"/>
                    <a:pt x="74422" y="0"/>
                    <a:pt x="166243" y="0"/>
                  </a:cubicBezTo>
                  <a:lnTo>
                    <a:pt x="9003157" y="0"/>
                  </a:lnTo>
                  <a:cubicBezTo>
                    <a:pt x="9094978" y="0"/>
                    <a:pt x="9169400" y="74422"/>
                    <a:pt x="9169400" y="166243"/>
                  </a:cubicBezTo>
                  <a:lnTo>
                    <a:pt x="9169400" y="2328037"/>
                  </a:lnTo>
                  <a:cubicBezTo>
                    <a:pt x="9169400" y="2419858"/>
                    <a:pt x="9094978" y="2494280"/>
                    <a:pt x="9003157" y="2494280"/>
                  </a:cubicBezTo>
                  <a:lnTo>
                    <a:pt x="166243" y="2494280"/>
                  </a:lnTo>
                  <a:cubicBezTo>
                    <a:pt x="74422" y="2494280"/>
                    <a:pt x="0" y="2419858"/>
                    <a:pt x="0" y="2328037"/>
                  </a:cubicBezTo>
                  <a:close/>
                </a:path>
              </a:pathLst>
            </a:custGeom>
            <a:solidFill>
              <a:srgbClr val="16213A"/>
            </a:solidFill>
            <a:ln w="19050" cap="sq">
              <a:solidFill>
                <a:srgbClr val="34D399"/>
              </a:solidFill>
              <a:prstDash val="solid"/>
              <a:miter/>
            </a:ln>
          </p:spPr>
        </p:sp>
      </p:grpSp>
      <p:grpSp>
        <p:nvGrpSpPr>
          <p:cNvPr id="78" name="Group 78"/>
          <p:cNvGrpSpPr/>
          <p:nvPr/>
        </p:nvGrpSpPr>
        <p:grpSpPr>
          <a:xfrm>
            <a:off x="1988820" y="8023860"/>
            <a:ext cx="6172200" cy="411480"/>
            <a:chOff x="0" y="0"/>
            <a:chExt cx="8229600" cy="548640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8229600" cy="548640"/>
            </a:xfrm>
            <a:custGeom>
              <a:avLst/>
              <a:gdLst/>
              <a:ahLst/>
              <a:cxnLst/>
              <a:rect l="l" t="t" r="r" b="b"/>
              <a:pathLst>
                <a:path w="8229600" h="548640">
                  <a:moveTo>
                    <a:pt x="0" y="0"/>
                  </a:moveTo>
                  <a:lnTo>
                    <a:pt x="8229600" y="0"/>
                  </a:lnTo>
                  <a:lnTo>
                    <a:pt x="8229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80" name="TextBox 80"/>
            <p:cNvSpPr txBox="1"/>
            <p:nvPr/>
          </p:nvSpPr>
          <p:spPr>
            <a:xfrm>
              <a:off x="0" y="-38100"/>
              <a:ext cx="822960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b="1">
                  <a:solidFill>
                    <a:srgbClr val="34D3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DATABASE  ·  MongoDB (Mongoose ODM)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1988820" y="8517636"/>
            <a:ext cx="6172200" cy="411480"/>
            <a:chOff x="0" y="0"/>
            <a:chExt cx="8229600" cy="548640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8229600" cy="548640"/>
            </a:xfrm>
            <a:custGeom>
              <a:avLst/>
              <a:gdLst/>
              <a:ahLst/>
              <a:cxnLst/>
              <a:rect l="l" t="t" r="r" b="b"/>
              <a:pathLst>
                <a:path w="8229600" h="548640">
                  <a:moveTo>
                    <a:pt x="0" y="0"/>
                  </a:moveTo>
                  <a:lnTo>
                    <a:pt x="8229600" y="0"/>
                  </a:lnTo>
                  <a:lnTo>
                    <a:pt x="8229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83" name="TextBox 83"/>
            <p:cNvSpPr txBox="1"/>
            <p:nvPr/>
          </p:nvSpPr>
          <p:spPr>
            <a:xfrm>
              <a:off x="0" y="-38100"/>
              <a:ext cx="822960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Collections:  User · Question · InterviewSession · Feedback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1988820" y="9121140"/>
            <a:ext cx="6172200" cy="480060"/>
            <a:chOff x="0" y="0"/>
            <a:chExt cx="8229600" cy="640080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8229600" cy="640080"/>
            </a:xfrm>
            <a:custGeom>
              <a:avLst/>
              <a:gdLst/>
              <a:ahLst/>
              <a:cxnLst/>
              <a:rect l="l" t="t" r="r" b="b"/>
              <a:pathLst>
                <a:path w="8229600" h="640080">
                  <a:moveTo>
                    <a:pt x="0" y="0"/>
                  </a:moveTo>
                  <a:lnTo>
                    <a:pt x="8229600" y="0"/>
                  </a:lnTo>
                  <a:lnTo>
                    <a:pt x="8229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0521" b="-200521"/>
              </a:stretch>
            </a:blipFill>
          </p:spPr>
        </p:sp>
        <p:sp>
          <p:nvSpPr>
            <p:cNvPr id="86" name="TextBox 86"/>
            <p:cNvSpPr txBox="1"/>
            <p:nvPr/>
          </p:nvSpPr>
          <p:spPr>
            <a:xfrm>
              <a:off x="0" y="-28575"/>
              <a:ext cx="8229600" cy="6686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i="1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Mongoose ODM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9728835" y="7877175"/>
            <a:ext cx="6877050" cy="1870710"/>
            <a:chOff x="0" y="0"/>
            <a:chExt cx="9169400" cy="2494280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9169400" cy="2494280"/>
            </a:xfrm>
            <a:custGeom>
              <a:avLst/>
              <a:gdLst/>
              <a:ahLst/>
              <a:cxnLst/>
              <a:rect l="l" t="t" r="r" b="b"/>
              <a:pathLst>
                <a:path w="9169400" h="2494280">
                  <a:moveTo>
                    <a:pt x="0" y="166243"/>
                  </a:moveTo>
                  <a:cubicBezTo>
                    <a:pt x="0" y="74422"/>
                    <a:pt x="74422" y="0"/>
                    <a:pt x="166243" y="0"/>
                  </a:cubicBezTo>
                  <a:lnTo>
                    <a:pt x="9003157" y="0"/>
                  </a:lnTo>
                  <a:cubicBezTo>
                    <a:pt x="9094978" y="0"/>
                    <a:pt x="9169400" y="74422"/>
                    <a:pt x="9169400" y="166243"/>
                  </a:cubicBezTo>
                  <a:lnTo>
                    <a:pt x="9169400" y="2328037"/>
                  </a:lnTo>
                  <a:cubicBezTo>
                    <a:pt x="9169400" y="2419858"/>
                    <a:pt x="9094978" y="2494280"/>
                    <a:pt x="9003157" y="2494280"/>
                  </a:cubicBezTo>
                  <a:lnTo>
                    <a:pt x="166243" y="2494280"/>
                  </a:lnTo>
                  <a:cubicBezTo>
                    <a:pt x="74422" y="2494280"/>
                    <a:pt x="0" y="2419858"/>
                    <a:pt x="0" y="2328037"/>
                  </a:cubicBezTo>
                  <a:close/>
                </a:path>
              </a:pathLst>
            </a:custGeom>
            <a:solidFill>
              <a:srgbClr val="16213A"/>
            </a:solidFill>
            <a:ln w="19050" cap="sq">
              <a:solidFill>
                <a:srgbClr val="F472B6"/>
              </a:solidFill>
              <a:prstDash val="solid"/>
              <a:miter/>
            </a:ln>
          </p:spPr>
        </p:sp>
      </p:grpSp>
      <p:grpSp>
        <p:nvGrpSpPr>
          <p:cNvPr id="89" name="Group 89"/>
          <p:cNvGrpSpPr/>
          <p:nvPr/>
        </p:nvGrpSpPr>
        <p:grpSpPr>
          <a:xfrm>
            <a:off x="10081260" y="8023860"/>
            <a:ext cx="6172200" cy="411480"/>
            <a:chOff x="0" y="0"/>
            <a:chExt cx="8229600" cy="548640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8229600" cy="548640"/>
            </a:xfrm>
            <a:custGeom>
              <a:avLst/>
              <a:gdLst/>
              <a:ahLst/>
              <a:cxnLst/>
              <a:rect l="l" t="t" r="r" b="b"/>
              <a:pathLst>
                <a:path w="8229600" h="548640">
                  <a:moveTo>
                    <a:pt x="0" y="0"/>
                  </a:moveTo>
                  <a:lnTo>
                    <a:pt x="8229600" y="0"/>
                  </a:lnTo>
                  <a:lnTo>
                    <a:pt x="8229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91" name="TextBox 91"/>
            <p:cNvSpPr txBox="1"/>
            <p:nvPr/>
          </p:nvSpPr>
          <p:spPr>
            <a:xfrm>
              <a:off x="0" y="-38100"/>
              <a:ext cx="822960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b="1">
                  <a:solidFill>
                    <a:srgbClr val="F472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ENGINE  ·  Google Gemini API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10081260" y="8517636"/>
            <a:ext cx="6172200" cy="411480"/>
            <a:chOff x="0" y="0"/>
            <a:chExt cx="8229600" cy="548640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8229600" cy="548640"/>
            </a:xfrm>
            <a:custGeom>
              <a:avLst/>
              <a:gdLst/>
              <a:ahLst/>
              <a:cxnLst/>
              <a:rect l="l" t="t" r="r" b="b"/>
              <a:pathLst>
                <a:path w="8229600" h="548640">
                  <a:moveTo>
                    <a:pt x="0" y="0"/>
                  </a:moveTo>
                  <a:lnTo>
                    <a:pt x="8229600" y="0"/>
                  </a:lnTo>
                  <a:lnTo>
                    <a:pt x="8229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94" name="TextBox 94"/>
            <p:cNvSpPr txBox="1"/>
            <p:nvPr/>
          </p:nvSpPr>
          <p:spPr>
            <a:xfrm>
              <a:off x="0" y="-38100"/>
              <a:ext cx="822960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aiService.js  →  @google/genai  →  gemini-2.5-flash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10081260" y="9121140"/>
            <a:ext cx="6172200" cy="480060"/>
            <a:chOff x="0" y="0"/>
            <a:chExt cx="8229600" cy="640080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8229600" cy="640080"/>
            </a:xfrm>
            <a:custGeom>
              <a:avLst/>
              <a:gdLst/>
              <a:ahLst/>
              <a:cxnLst/>
              <a:rect l="l" t="t" r="r" b="b"/>
              <a:pathLst>
                <a:path w="8229600" h="640080">
                  <a:moveTo>
                    <a:pt x="0" y="0"/>
                  </a:moveTo>
                  <a:lnTo>
                    <a:pt x="8229600" y="0"/>
                  </a:lnTo>
                  <a:lnTo>
                    <a:pt x="8229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0521" b="-200521"/>
              </a:stretch>
            </a:blipFill>
          </p:spPr>
        </p:sp>
        <p:sp>
          <p:nvSpPr>
            <p:cNvPr id="97" name="TextBox 97"/>
            <p:cNvSpPr txBox="1"/>
            <p:nvPr/>
          </p:nvSpPr>
          <p:spPr>
            <a:xfrm>
              <a:off x="0" y="-28575"/>
              <a:ext cx="8229600" cy="6686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i="1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Structured JSON via responseSchema · local heuristic fallback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822960" y="9710928"/>
            <a:ext cx="8229600" cy="411480"/>
            <a:chOff x="0" y="0"/>
            <a:chExt cx="10972800" cy="548640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10972800" cy="548640"/>
            </a:xfrm>
            <a:custGeom>
              <a:avLst/>
              <a:gdLst/>
              <a:ahLst/>
              <a:cxnLst/>
              <a:rect l="l" t="t" r="r" b="b"/>
              <a:pathLst>
                <a:path w="10972800" h="54864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100" name="TextBox 100"/>
            <p:cNvSpPr txBox="1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Interview Practice Platform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16641623" y="9710928"/>
            <a:ext cx="822960" cy="411480"/>
            <a:chOff x="0" y="0"/>
            <a:chExt cx="1097280" cy="548640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1097280" cy="548640"/>
            </a:xfrm>
            <a:custGeom>
              <a:avLst/>
              <a:gdLst/>
              <a:ahLst/>
              <a:cxnLst/>
              <a:rect l="l" t="t" r="r" b="b"/>
              <a:pathLst>
                <a:path w="1097280" h="54864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103" name="TextBox 103"/>
            <p:cNvSpPr txBox="1"/>
            <p:nvPr/>
          </p:nvSpPr>
          <p:spPr>
            <a:xfrm>
              <a:off x="0" y="-28575"/>
              <a:ext cx="109728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  <p:pic>
        <p:nvPicPr>
          <p:cNvPr id="105" name="Picture 104" descr="Our Team - KLH Bachupally">
            <a:extLst>
              <a:ext uri="{FF2B5EF4-FFF2-40B4-BE49-F238E27FC236}">
                <a16:creationId xmlns:a16="http://schemas.microsoft.com/office/drawing/2014/main" id="{9723B157-C791-05E8-012B-2FE0EDEAD0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72054" y="0"/>
            <a:ext cx="3115946" cy="16196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480060"/>
            <a:ext cx="10972800" cy="411480"/>
            <a:chOff x="0" y="0"/>
            <a:chExt cx="14630400" cy="5486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0400" cy="548640"/>
            </a:xfrm>
            <a:custGeom>
              <a:avLst/>
              <a:gdLst/>
              <a:ahLst/>
              <a:cxnLst/>
              <a:rect l="l" t="t" r="r" b="b"/>
              <a:pathLst>
                <a:path w="14630400" h="54864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9601" b="-469601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300">
                  <a:solidFill>
                    <a:srgbClr val="818C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MONGODB / MONGOOSE SCHEMAS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850392"/>
            <a:ext cx="15773400" cy="960120"/>
            <a:chOff x="0" y="0"/>
            <a:chExt cx="21031200" cy="12801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031200" cy="1280160"/>
            </a:xfrm>
            <a:custGeom>
              <a:avLst/>
              <a:gdLst/>
              <a:ahLst/>
              <a:cxnLst/>
              <a:rect l="l" t="t" r="r" b="b"/>
              <a:pathLst>
                <a:path w="21031200" h="128016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0111" b="-270111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21031200" cy="13658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Models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035583" y="548640"/>
            <a:ext cx="3429000" cy="411480"/>
            <a:chOff x="0" y="0"/>
            <a:chExt cx="4572000" cy="5486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572000" cy="548640"/>
            </a:xfrm>
            <a:custGeom>
              <a:avLst/>
              <a:gdLst/>
              <a:ahLst/>
              <a:cxnLst/>
              <a:rect l="l" t="t" r="r" b="b"/>
              <a:pathLst>
                <a:path w="4572000" h="548640">
                  <a:moveTo>
                    <a:pt x="0" y="0"/>
                  </a:moveTo>
                  <a:lnTo>
                    <a:pt x="4572000" y="0"/>
                  </a:lnTo>
                  <a:lnTo>
                    <a:pt x="4572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2375" b="-112375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45720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980"/>
                </a:lnSpc>
              </a:pPr>
              <a:r>
                <a:rPr lang="en-US" sz="1650" b="1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INTTE</a:t>
              </a:r>
              <a:r>
                <a:rPr lang="en-US" sz="1650" b="1">
                  <a:solidFill>
                    <a:srgbClr val="818C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REE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 rot="3960">
            <a:off x="813425" y="1750886"/>
            <a:ext cx="16660682" cy="0"/>
          </a:xfrm>
          <a:prstGeom prst="line">
            <a:avLst/>
          </a:prstGeom>
          <a:ln w="9525" cap="rnd">
            <a:solidFill>
              <a:srgbClr val="2E3B5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>
            <a:off x="813435" y="2116455"/>
            <a:ext cx="8180070" cy="3516630"/>
            <a:chOff x="0" y="0"/>
            <a:chExt cx="10906760" cy="468884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906761" cy="4688840"/>
            </a:xfrm>
            <a:custGeom>
              <a:avLst/>
              <a:gdLst/>
              <a:ahLst/>
              <a:cxnLst/>
              <a:rect l="l" t="t" r="r" b="b"/>
              <a:pathLst>
                <a:path w="10906761" h="4688840">
                  <a:moveTo>
                    <a:pt x="0" y="165481"/>
                  </a:moveTo>
                  <a:cubicBezTo>
                    <a:pt x="0" y="74041"/>
                    <a:pt x="74041" y="0"/>
                    <a:pt x="165481" y="0"/>
                  </a:cubicBezTo>
                  <a:lnTo>
                    <a:pt x="10741279" y="0"/>
                  </a:lnTo>
                  <a:cubicBezTo>
                    <a:pt x="10832719" y="0"/>
                    <a:pt x="10906761" y="74041"/>
                    <a:pt x="10906761" y="165481"/>
                  </a:cubicBezTo>
                  <a:lnTo>
                    <a:pt x="10906761" y="4523359"/>
                  </a:lnTo>
                  <a:cubicBezTo>
                    <a:pt x="10906761" y="4614799"/>
                    <a:pt x="10832719" y="4688840"/>
                    <a:pt x="10741279" y="4688840"/>
                  </a:cubicBezTo>
                  <a:lnTo>
                    <a:pt x="165481" y="4688840"/>
                  </a:lnTo>
                  <a:cubicBezTo>
                    <a:pt x="74041" y="4688840"/>
                    <a:pt x="0" y="4614799"/>
                    <a:pt x="0" y="4523359"/>
                  </a:cubicBezTo>
                  <a:close/>
                </a:path>
              </a:pathLst>
            </a:custGeom>
            <a:solidFill>
              <a:srgbClr val="1E293B"/>
            </a:solidFill>
            <a:ln w="19050" cap="sq">
              <a:solidFill>
                <a:srgbClr val="2E3B52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207008" y="2482596"/>
            <a:ext cx="274320" cy="274320"/>
            <a:chOff x="0" y="0"/>
            <a:chExt cx="365760" cy="36576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60" h="365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cubicBezTo>
                    <a:pt x="283845" y="0"/>
                    <a:pt x="365760" y="81915"/>
                    <a:pt x="365760" y="182880"/>
                  </a:cubicBezTo>
                  <a:cubicBezTo>
                    <a:pt x="365760" y="283845"/>
                    <a:pt x="283845" y="365760"/>
                    <a:pt x="182880" y="365760"/>
                  </a:cubicBez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618488" y="2331720"/>
            <a:ext cx="6789420" cy="548640"/>
            <a:chOff x="0" y="0"/>
            <a:chExt cx="9052560" cy="73152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052560" cy="731520"/>
            </a:xfrm>
            <a:custGeom>
              <a:avLst/>
              <a:gdLst/>
              <a:ahLst/>
              <a:cxnLst/>
              <a:rect l="l" t="t" r="r" b="b"/>
              <a:pathLst>
                <a:path w="9052560" h="731520">
                  <a:moveTo>
                    <a:pt x="0" y="0"/>
                  </a:moveTo>
                  <a:lnTo>
                    <a:pt x="9052560" y="0"/>
                  </a:lnTo>
                  <a:lnTo>
                    <a:pt x="9052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1127" b="-191127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905256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User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34440" y="3154680"/>
            <a:ext cx="342900" cy="411480"/>
            <a:chOff x="0" y="0"/>
            <a:chExt cx="457200" cy="54864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57200" cy="548640"/>
            </a:xfrm>
            <a:custGeom>
              <a:avLst/>
              <a:gdLst/>
              <a:ahLst/>
              <a:cxnLst/>
              <a:rect l="l" t="t" r="r" b="b"/>
              <a:pathLst>
                <a:path w="457200" h="548640">
                  <a:moveTo>
                    <a:pt x="0" y="0"/>
                  </a:moveTo>
                  <a:lnTo>
                    <a:pt x="457200" y="0"/>
                  </a:lnTo>
                  <a:lnTo>
                    <a:pt x="457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964" r="-103964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457200" cy="567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 b="1">
                  <a:solidFill>
                    <a:srgbClr val="34D3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—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618488" y="3127248"/>
            <a:ext cx="6858000" cy="521208"/>
            <a:chOff x="0" y="0"/>
            <a:chExt cx="9144000" cy="69494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144000" cy="694944"/>
            </a:xfrm>
            <a:custGeom>
              <a:avLst/>
              <a:gdLst/>
              <a:ahLst/>
              <a:cxnLst/>
              <a:rect l="l" t="t" r="r" b="b"/>
              <a:pathLst>
                <a:path w="9144000" h="694944">
                  <a:moveTo>
                    <a:pt x="0" y="0"/>
                  </a:moveTo>
                  <a:lnTo>
                    <a:pt x="9144000" y="0"/>
                  </a:lnTo>
                  <a:lnTo>
                    <a:pt x="914400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6382" b="-206382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9144000" cy="7425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73"/>
                </a:lnSpc>
              </a:pPr>
              <a:r>
                <a:rPr lang="en-US" sz="1575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name, email (unique), password (bcrypt hash)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234440" y="3895344"/>
            <a:ext cx="342900" cy="411480"/>
            <a:chOff x="0" y="0"/>
            <a:chExt cx="457200" cy="54864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57200" cy="548640"/>
            </a:xfrm>
            <a:custGeom>
              <a:avLst/>
              <a:gdLst/>
              <a:ahLst/>
              <a:cxnLst/>
              <a:rect l="l" t="t" r="r" b="b"/>
              <a:pathLst>
                <a:path w="457200" h="548640">
                  <a:moveTo>
                    <a:pt x="0" y="0"/>
                  </a:moveTo>
                  <a:lnTo>
                    <a:pt x="457200" y="0"/>
                  </a:lnTo>
                  <a:lnTo>
                    <a:pt x="457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964" r="-103964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457200" cy="567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 b="1">
                  <a:solidFill>
                    <a:srgbClr val="34D3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—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618488" y="3867912"/>
            <a:ext cx="6858000" cy="521208"/>
            <a:chOff x="0" y="0"/>
            <a:chExt cx="9144000" cy="694944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9144000" cy="694944"/>
            </a:xfrm>
            <a:custGeom>
              <a:avLst/>
              <a:gdLst/>
              <a:ahLst/>
              <a:cxnLst/>
              <a:rect l="l" t="t" r="r" b="b"/>
              <a:pathLst>
                <a:path w="9144000" h="694944">
                  <a:moveTo>
                    <a:pt x="0" y="0"/>
                  </a:moveTo>
                  <a:lnTo>
                    <a:pt x="9144000" y="0"/>
                  </a:lnTo>
                  <a:lnTo>
                    <a:pt x="914400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6382" b="-206382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47625"/>
              <a:ext cx="9144000" cy="7425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73"/>
                </a:lnSpc>
              </a:pPr>
              <a:r>
                <a:rPr lang="en-US" sz="1575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targetRole, experienceLevel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234440" y="4636008"/>
            <a:ext cx="342900" cy="411480"/>
            <a:chOff x="0" y="0"/>
            <a:chExt cx="457200" cy="54864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57200" cy="548640"/>
            </a:xfrm>
            <a:custGeom>
              <a:avLst/>
              <a:gdLst/>
              <a:ahLst/>
              <a:cxnLst/>
              <a:rect l="l" t="t" r="r" b="b"/>
              <a:pathLst>
                <a:path w="457200" h="548640">
                  <a:moveTo>
                    <a:pt x="0" y="0"/>
                  </a:moveTo>
                  <a:lnTo>
                    <a:pt x="457200" y="0"/>
                  </a:lnTo>
                  <a:lnTo>
                    <a:pt x="457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964" r="-103964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19050"/>
              <a:ext cx="457200" cy="567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 b="1">
                  <a:solidFill>
                    <a:srgbClr val="34D3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—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618488" y="4608576"/>
            <a:ext cx="6858000" cy="521208"/>
            <a:chOff x="0" y="0"/>
            <a:chExt cx="9144000" cy="694944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9144000" cy="694944"/>
            </a:xfrm>
            <a:custGeom>
              <a:avLst/>
              <a:gdLst/>
              <a:ahLst/>
              <a:cxnLst/>
              <a:rect l="l" t="t" r="r" b="b"/>
              <a:pathLst>
                <a:path w="9144000" h="694944">
                  <a:moveTo>
                    <a:pt x="0" y="0"/>
                  </a:moveTo>
                  <a:lnTo>
                    <a:pt x="9144000" y="0"/>
                  </a:lnTo>
                  <a:lnTo>
                    <a:pt x="914400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6382" b="-206382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-47625"/>
              <a:ext cx="9144000" cy="7425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73"/>
                </a:lnSpc>
              </a:pPr>
              <a:r>
                <a:rPr lang="en-US" sz="1575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method: matchPassword(entered)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248775" y="2116455"/>
            <a:ext cx="8180070" cy="3516630"/>
            <a:chOff x="0" y="0"/>
            <a:chExt cx="10906760" cy="468884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0906761" cy="4688840"/>
            </a:xfrm>
            <a:custGeom>
              <a:avLst/>
              <a:gdLst/>
              <a:ahLst/>
              <a:cxnLst/>
              <a:rect l="l" t="t" r="r" b="b"/>
              <a:pathLst>
                <a:path w="10906761" h="4688840">
                  <a:moveTo>
                    <a:pt x="0" y="165481"/>
                  </a:moveTo>
                  <a:cubicBezTo>
                    <a:pt x="0" y="74041"/>
                    <a:pt x="74041" y="0"/>
                    <a:pt x="165481" y="0"/>
                  </a:cubicBezTo>
                  <a:lnTo>
                    <a:pt x="10741279" y="0"/>
                  </a:lnTo>
                  <a:cubicBezTo>
                    <a:pt x="10832719" y="0"/>
                    <a:pt x="10906761" y="74041"/>
                    <a:pt x="10906761" y="165481"/>
                  </a:cubicBezTo>
                  <a:lnTo>
                    <a:pt x="10906761" y="4523359"/>
                  </a:lnTo>
                  <a:cubicBezTo>
                    <a:pt x="10906761" y="4614799"/>
                    <a:pt x="10832719" y="4688840"/>
                    <a:pt x="10741279" y="4688840"/>
                  </a:cubicBezTo>
                  <a:lnTo>
                    <a:pt x="165481" y="4688840"/>
                  </a:lnTo>
                  <a:cubicBezTo>
                    <a:pt x="74041" y="4688840"/>
                    <a:pt x="0" y="4614799"/>
                    <a:pt x="0" y="4523359"/>
                  </a:cubicBezTo>
                  <a:close/>
                </a:path>
              </a:pathLst>
            </a:custGeom>
            <a:solidFill>
              <a:srgbClr val="1E293B"/>
            </a:solidFill>
            <a:ln w="19050" cap="sq">
              <a:solidFill>
                <a:srgbClr val="2E3B52"/>
              </a:solidFill>
              <a:prstDash val="solid"/>
              <a:miter/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9642348" y="2482596"/>
            <a:ext cx="274320" cy="274320"/>
            <a:chOff x="0" y="0"/>
            <a:chExt cx="365760" cy="36576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60" h="365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cubicBezTo>
                    <a:pt x="283845" y="0"/>
                    <a:pt x="365760" y="81915"/>
                    <a:pt x="365760" y="182880"/>
                  </a:cubicBezTo>
                  <a:cubicBezTo>
                    <a:pt x="365760" y="283845"/>
                    <a:pt x="283845" y="365760"/>
                    <a:pt x="182880" y="365760"/>
                  </a:cubicBez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10053828" y="2331720"/>
            <a:ext cx="6789420" cy="548640"/>
            <a:chOff x="0" y="0"/>
            <a:chExt cx="9052560" cy="73152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9052560" cy="731520"/>
            </a:xfrm>
            <a:custGeom>
              <a:avLst/>
              <a:gdLst/>
              <a:ahLst/>
              <a:cxnLst/>
              <a:rect l="l" t="t" r="r" b="b"/>
              <a:pathLst>
                <a:path w="9052560" h="731520">
                  <a:moveTo>
                    <a:pt x="0" y="0"/>
                  </a:moveTo>
                  <a:lnTo>
                    <a:pt x="9052560" y="0"/>
                  </a:lnTo>
                  <a:lnTo>
                    <a:pt x="9052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1127" b="-191127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905256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Question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669780" y="3154680"/>
            <a:ext cx="342900" cy="411480"/>
            <a:chOff x="0" y="0"/>
            <a:chExt cx="457200" cy="54864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57200" cy="548640"/>
            </a:xfrm>
            <a:custGeom>
              <a:avLst/>
              <a:gdLst/>
              <a:ahLst/>
              <a:cxnLst/>
              <a:rect l="l" t="t" r="r" b="b"/>
              <a:pathLst>
                <a:path w="457200" h="548640">
                  <a:moveTo>
                    <a:pt x="0" y="0"/>
                  </a:moveTo>
                  <a:lnTo>
                    <a:pt x="457200" y="0"/>
                  </a:lnTo>
                  <a:lnTo>
                    <a:pt x="457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964" r="-103964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19050"/>
              <a:ext cx="457200" cy="567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 b="1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—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0053828" y="3127248"/>
            <a:ext cx="6858000" cy="521208"/>
            <a:chOff x="0" y="0"/>
            <a:chExt cx="9144000" cy="694944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9144000" cy="694944"/>
            </a:xfrm>
            <a:custGeom>
              <a:avLst/>
              <a:gdLst/>
              <a:ahLst/>
              <a:cxnLst/>
              <a:rect l="l" t="t" r="r" b="b"/>
              <a:pathLst>
                <a:path w="9144000" h="694944">
                  <a:moveTo>
                    <a:pt x="0" y="0"/>
                  </a:moveTo>
                  <a:lnTo>
                    <a:pt x="9144000" y="0"/>
                  </a:lnTo>
                  <a:lnTo>
                    <a:pt x="914400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6382" b="-206382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47625"/>
              <a:ext cx="9144000" cy="7425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73"/>
                </a:lnSpc>
              </a:pPr>
              <a:r>
                <a:rPr lang="en-US" sz="1575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text, category, role, difficulty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9669780" y="3895344"/>
            <a:ext cx="342900" cy="411480"/>
            <a:chOff x="0" y="0"/>
            <a:chExt cx="457200" cy="54864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457200" cy="548640"/>
            </a:xfrm>
            <a:custGeom>
              <a:avLst/>
              <a:gdLst/>
              <a:ahLst/>
              <a:cxnLst/>
              <a:rect l="l" t="t" r="r" b="b"/>
              <a:pathLst>
                <a:path w="457200" h="548640">
                  <a:moveTo>
                    <a:pt x="0" y="0"/>
                  </a:moveTo>
                  <a:lnTo>
                    <a:pt x="457200" y="0"/>
                  </a:lnTo>
                  <a:lnTo>
                    <a:pt x="457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964" r="-103964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19050"/>
              <a:ext cx="457200" cy="567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 b="1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—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0053828" y="3867912"/>
            <a:ext cx="6858000" cy="521208"/>
            <a:chOff x="0" y="0"/>
            <a:chExt cx="9144000" cy="694944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9144000" cy="694944"/>
            </a:xfrm>
            <a:custGeom>
              <a:avLst/>
              <a:gdLst/>
              <a:ahLst/>
              <a:cxnLst/>
              <a:rect l="l" t="t" r="r" b="b"/>
              <a:pathLst>
                <a:path w="9144000" h="694944">
                  <a:moveTo>
                    <a:pt x="0" y="0"/>
                  </a:moveTo>
                  <a:lnTo>
                    <a:pt x="9144000" y="0"/>
                  </a:lnTo>
                  <a:lnTo>
                    <a:pt x="914400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6382" b="-206382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47625"/>
              <a:ext cx="9144000" cy="7425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73"/>
                </a:lnSpc>
              </a:pPr>
              <a:r>
                <a:rPr lang="en-US" sz="1575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idealPoints[] — grading rubric for AI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9669780" y="4636008"/>
            <a:ext cx="342900" cy="411480"/>
            <a:chOff x="0" y="0"/>
            <a:chExt cx="457200" cy="54864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457200" cy="548640"/>
            </a:xfrm>
            <a:custGeom>
              <a:avLst/>
              <a:gdLst/>
              <a:ahLst/>
              <a:cxnLst/>
              <a:rect l="l" t="t" r="r" b="b"/>
              <a:pathLst>
                <a:path w="457200" h="548640">
                  <a:moveTo>
                    <a:pt x="0" y="0"/>
                  </a:moveTo>
                  <a:lnTo>
                    <a:pt x="457200" y="0"/>
                  </a:lnTo>
                  <a:lnTo>
                    <a:pt x="457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964" r="-103964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19050"/>
              <a:ext cx="457200" cy="567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 b="1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—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0053828" y="4608576"/>
            <a:ext cx="6858000" cy="521208"/>
            <a:chOff x="0" y="0"/>
            <a:chExt cx="9144000" cy="694944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9144000" cy="694944"/>
            </a:xfrm>
            <a:custGeom>
              <a:avLst/>
              <a:gdLst/>
              <a:ahLst/>
              <a:cxnLst/>
              <a:rect l="l" t="t" r="r" b="b"/>
              <a:pathLst>
                <a:path w="9144000" h="694944">
                  <a:moveTo>
                    <a:pt x="0" y="0"/>
                  </a:moveTo>
                  <a:lnTo>
                    <a:pt x="9144000" y="0"/>
                  </a:lnTo>
                  <a:lnTo>
                    <a:pt x="914400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6382" b="-206382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47625"/>
              <a:ext cx="9144000" cy="7425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73"/>
                </a:lnSpc>
              </a:pPr>
              <a:r>
                <a:rPr lang="en-US" sz="1575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tags[]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813435" y="5888355"/>
            <a:ext cx="8180070" cy="3516630"/>
            <a:chOff x="0" y="0"/>
            <a:chExt cx="10906760" cy="468884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10906761" cy="4688840"/>
            </a:xfrm>
            <a:custGeom>
              <a:avLst/>
              <a:gdLst/>
              <a:ahLst/>
              <a:cxnLst/>
              <a:rect l="l" t="t" r="r" b="b"/>
              <a:pathLst>
                <a:path w="10906761" h="4688840">
                  <a:moveTo>
                    <a:pt x="0" y="165481"/>
                  </a:moveTo>
                  <a:cubicBezTo>
                    <a:pt x="0" y="74041"/>
                    <a:pt x="74041" y="0"/>
                    <a:pt x="165481" y="0"/>
                  </a:cubicBezTo>
                  <a:lnTo>
                    <a:pt x="10741279" y="0"/>
                  </a:lnTo>
                  <a:cubicBezTo>
                    <a:pt x="10832719" y="0"/>
                    <a:pt x="10906761" y="74041"/>
                    <a:pt x="10906761" y="165481"/>
                  </a:cubicBezTo>
                  <a:lnTo>
                    <a:pt x="10906761" y="4523359"/>
                  </a:lnTo>
                  <a:cubicBezTo>
                    <a:pt x="10906761" y="4614799"/>
                    <a:pt x="10832719" y="4688840"/>
                    <a:pt x="10741279" y="4688840"/>
                  </a:cubicBezTo>
                  <a:lnTo>
                    <a:pt x="165481" y="4688840"/>
                  </a:lnTo>
                  <a:cubicBezTo>
                    <a:pt x="74041" y="4688840"/>
                    <a:pt x="0" y="4614799"/>
                    <a:pt x="0" y="4523359"/>
                  </a:cubicBezTo>
                  <a:close/>
                </a:path>
              </a:pathLst>
            </a:custGeom>
            <a:solidFill>
              <a:srgbClr val="1E293B"/>
            </a:solidFill>
            <a:ln w="19050" cap="sq">
              <a:solidFill>
                <a:srgbClr val="2E3B52"/>
              </a:solidFill>
              <a:prstDash val="solid"/>
              <a:miter/>
            </a:ln>
          </p:spPr>
        </p:sp>
      </p:grpSp>
      <p:grpSp>
        <p:nvGrpSpPr>
          <p:cNvPr id="64" name="Group 64"/>
          <p:cNvGrpSpPr/>
          <p:nvPr/>
        </p:nvGrpSpPr>
        <p:grpSpPr>
          <a:xfrm>
            <a:off x="1207008" y="6254496"/>
            <a:ext cx="274320" cy="274320"/>
            <a:chOff x="0" y="0"/>
            <a:chExt cx="365760" cy="36576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60" h="365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cubicBezTo>
                    <a:pt x="283845" y="0"/>
                    <a:pt x="365760" y="81915"/>
                    <a:pt x="365760" y="182880"/>
                  </a:cubicBezTo>
                  <a:cubicBezTo>
                    <a:pt x="365760" y="283845"/>
                    <a:pt x="283845" y="365760"/>
                    <a:pt x="182880" y="365760"/>
                  </a:cubicBez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FBBF24"/>
            </a:solidFill>
          </p:spPr>
        </p:sp>
      </p:grpSp>
      <p:grpSp>
        <p:nvGrpSpPr>
          <p:cNvPr id="66" name="Group 66"/>
          <p:cNvGrpSpPr/>
          <p:nvPr/>
        </p:nvGrpSpPr>
        <p:grpSpPr>
          <a:xfrm>
            <a:off x="1618488" y="6103620"/>
            <a:ext cx="6789420" cy="548640"/>
            <a:chOff x="0" y="0"/>
            <a:chExt cx="9052560" cy="73152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9052560" cy="731520"/>
            </a:xfrm>
            <a:custGeom>
              <a:avLst/>
              <a:gdLst/>
              <a:ahLst/>
              <a:cxnLst/>
              <a:rect l="l" t="t" r="r" b="b"/>
              <a:pathLst>
                <a:path w="9052560" h="731520">
                  <a:moveTo>
                    <a:pt x="0" y="0"/>
                  </a:moveTo>
                  <a:lnTo>
                    <a:pt x="9052560" y="0"/>
                  </a:lnTo>
                  <a:lnTo>
                    <a:pt x="9052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1127" b="-191127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0" y="-38100"/>
              <a:ext cx="905256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InterviewSession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234440" y="6926580"/>
            <a:ext cx="342900" cy="411480"/>
            <a:chOff x="0" y="0"/>
            <a:chExt cx="457200" cy="54864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457200" cy="548640"/>
            </a:xfrm>
            <a:custGeom>
              <a:avLst/>
              <a:gdLst/>
              <a:ahLst/>
              <a:cxnLst/>
              <a:rect l="l" t="t" r="r" b="b"/>
              <a:pathLst>
                <a:path w="457200" h="548640">
                  <a:moveTo>
                    <a:pt x="0" y="0"/>
                  </a:moveTo>
                  <a:lnTo>
                    <a:pt x="457200" y="0"/>
                  </a:lnTo>
                  <a:lnTo>
                    <a:pt x="457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964" r="-103964"/>
              </a:stretch>
            </a:blipFill>
          </p:spPr>
        </p:sp>
        <p:sp>
          <p:nvSpPr>
            <p:cNvPr id="71" name="TextBox 71"/>
            <p:cNvSpPr txBox="1"/>
            <p:nvPr/>
          </p:nvSpPr>
          <p:spPr>
            <a:xfrm>
              <a:off x="0" y="-19050"/>
              <a:ext cx="457200" cy="567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 b="1">
                  <a:solidFill>
                    <a:srgbClr val="FBBF2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—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1618488" y="6899148"/>
            <a:ext cx="6858000" cy="521208"/>
            <a:chOff x="0" y="0"/>
            <a:chExt cx="9144000" cy="694944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9144000" cy="694944"/>
            </a:xfrm>
            <a:custGeom>
              <a:avLst/>
              <a:gdLst/>
              <a:ahLst/>
              <a:cxnLst/>
              <a:rect l="l" t="t" r="r" b="b"/>
              <a:pathLst>
                <a:path w="9144000" h="694944">
                  <a:moveTo>
                    <a:pt x="0" y="0"/>
                  </a:moveTo>
                  <a:lnTo>
                    <a:pt x="9144000" y="0"/>
                  </a:lnTo>
                  <a:lnTo>
                    <a:pt x="914400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6382" b="-206382"/>
              </a:stretch>
            </a:blipFill>
          </p:spPr>
        </p:sp>
        <p:sp>
          <p:nvSpPr>
            <p:cNvPr id="74" name="TextBox 74"/>
            <p:cNvSpPr txBox="1"/>
            <p:nvPr/>
          </p:nvSpPr>
          <p:spPr>
            <a:xfrm>
              <a:off x="0" y="-47625"/>
              <a:ext cx="9144000" cy="7425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73"/>
                </a:lnSpc>
              </a:pPr>
              <a:r>
                <a:rPr lang="en-US" sz="1575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user ref, category, role, status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1234440" y="7667244"/>
            <a:ext cx="342900" cy="411480"/>
            <a:chOff x="0" y="0"/>
            <a:chExt cx="457200" cy="548640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457200" cy="548640"/>
            </a:xfrm>
            <a:custGeom>
              <a:avLst/>
              <a:gdLst/>
              <a:ahLst/>
              <a:cxnLst/>
              <a:rect l="l" t="t" r="r" b="b"/>
              <a:pathLst>
                <a:path w="457200" h="548640">
                  <a:moveTo>
                    <a:pt x="0" y="0"/>
                  </a:moveTo>
                  <a:lnTo>
                    <a:pt x="457200" y="0"/>
                  </a:lnTo>
                  <a:lnTo>
                    <a:pt x="457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964" r="-103964"/>
              </a:stretch>
            </a:blipFill>
          </p:spPr>
        </p:sp>
        <p:sp>
          <p:nvSpPr>
            <p:cNvPr id="77" name="TextBox 77"/>
            <p:cNvSpPr txBox="1"/>
            <p:nvPr/>
          </p:nvSpPr>
          <p:spPr>
            <a:xfrm>
              <a:off x="0" y="-19050"/>
              <a:ext cx="457200" cy="567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 b="1">
                  <a:solidFill>
                    <a:srgbClr val="FBBF2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—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1618488" y="7639812"/>
            <a:ext cx="6858000" cy="521208"/>
            <a:chOff x="0" y="0"/>
            <a:chExt cx="9144000" cy="694944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9144000" cy="694944"/>
            </a:xfrm>
            <a:custGeom>
              <a:avLst/>
              <a:gdLst/>
              <a:ahLst/>
              <a:cxnLst/>
              <a:rect l="l" t="t" r="r" b="b"/>
              <a:pathLst>
                <a:path w="9144000" h="694944">
                  <a:moveTo>
                    <a:pt x="0" y="0"/>
                  </a:moveTo>
                  <a:lnTo>
                    <a:pt x="9144000" y="0"/>
                  </a:lnTo>
                  <a:lnTo>
                    <a:pt x="914400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6382" b="-206382"/>
              </a:stretch>
            </a:blipFill>
          </p:spPr>
        </p:sp>
        <p:sp>
          <p:nvSpPr>
            <p:cNvPr id="80" name="TextBox 80"/>
            <p:cNvSpPr txBox="1"/>
            <p:nvPr/>
          </p:nvSpPr>
          <p:spPr>
            <a:xfrm>
              <a:off x="0" y="-47625"/>
              <a:ext cx="9144000" cy="7425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73"/>
                </a:lnSpc>
              </a:pPr>
              <a:r>
                <a:rPr lang="en-US" sz="1575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answers[]: question, userAnswer, time, feedback ref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1234440" y="8407908"/>
            <a:ext cx="342900" cy="411480"/>
            <a:chOff x="0" y="0"/>
            <a:chExt cx="457200" cy="548640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457200" cy="548640"/>
            </a:xfrm>
            <a:custGeom>
              <a:avLst/>
              <a:gdLst/>
              <a:ahLst/>
              <a:cxnLst/>
              <a:rect l="l" t="t" r="r" b="b"/>
              <a:pathLst>
                <a:path w="457200" h="548640">
                  <a:moveTo>
                    <a:pt x="0" y="0"/>
                  </a:moveTo>
                  <a:lnTo>
                    <a:pt x="457200" y="0"/>
                  </a:lnTo>
                  <a:lnTo>
                    <a:pt x="457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964" r="-103964"/>
              </a:stretch>
            </a:blipFill>
          </p:spPr>
        </p:sp>
        <p:sp>
          <p:nvSpPr>
            <p:cNvPr id="83" name="TextBox 83"/>
            <p:cNvSpPr txBox="1"/>
            <p:nvPr/>
          </p:nvSpPr>
          <p:spPr>
            <a:xfrm>
              <a:off x="0" y="-19050"/>
              <a:ext cx="457200" cy="567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 b="1">
                  <a:solidFill>
                    <a:srgbClr val="FBBF2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—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1618488" y="8380476"/>
            <a:ext cx="6858000" cy="521208"/>
            <a:chOff x="0" y="0"/>
            <a:chExt cx="9144000" cy="694944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9144000" cy="694944"/>
            </a:xfrm>
            <a:custGeom>
              <a:avLst/>
              <a:gdLst/>
              <a:ahLst/>
              <a:cxnLst/>
              <a:rect l="l" t="t" r="r" b="b"/>
              <a:pathLst>
                <a:path w="9144000" h="694944">
                  <a:moveTo>
                    <a:pt x="0" y="0"/>
                  </a:moveTo>
                  <a:lnTo>
                    <a:pt x="9144000" y="0"/>
                  </a:lnTo>
                  <a:lnTo>
                    <a:pt x="914400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6382" b="-206382"/>
              </a:stretch>
            </a:blipFill>
          </p:spPr>
        </p:sp>
        <p:sp>
          <p:nvSpPr>
            <p:cNvPr id="86" name="TextBox 86"/>
            <p:cNvSpPr txBox="1"/>
            <p:nvPr/>
          </p:nvSpPr>
          <p:spPr>
            <a:xfrm>
              <a:off x="0" y="-47625"/>
              <a:ext cx="9144000" cy="7425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73"/>
                </a:lnSpc>
              </a:pPr>
              <a:r>
                <a:rPr lang="en-US" sz="1575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overallScore (0–100), startedAt, completedAt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9248775" y="5888355"/>
            <a:ext cx="8180070" cy="3516630"/>
            <a:chOff x="0" y="0"/>
            <a:chExt cx="10906760" cy="4688840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10906761" cy="4688840"/>
            </a:xfrm>
            <a:custGeom>
              <a:avLst/>
              <a:gdLst/>
              <a:ahLst/>
              <a:cxnLst/>
              <a:rect l="l" t="t" r="r" b="b"/>
              <a:pathLst>
                <a:path w="10906761" h="4688840">
                  <a:moveTo>
                    <a:pt x="0" y="165481"/>
                  </a:moveTo>
                  <a:cubicBezTo>
                    <a:pt x="0" y="74041"/>
                    <a:pt x="74041" y="0"/>
                    <a:pt x="165481" y="0"/>
                  </a:cubicBezTo>
                  <a:lnTo>
                    <a:pt x="10741279" y="0"/>
                  </a:lnTo>
                  <a:cubicBezTo>
                    <a:pt x="10832719" y="0"/>
                    <a:pt x="10906761" y="74041"/>
                    <a:pt x="10906761" y="165481"/>
                  </a:cubicBezTo>
                  <a:lnTo>
                    <a:pt x="10906761" y="4523359"/>
                  </a:lnTo>
                  <a:cubicBezTo>
                    <a:pt x="10906761" y="4614799"/>
                    <a:pt x="10832719" y="4688840"/>
                    <a:pt x="10741279" y="4688840"/>
                  </a:cubicBezTo>
                  <a:lnTo>
                    <a:pt x="165481" y="4688840"/>
                  </a:lnTo>
                  <a:cubicBezTo>
                    <a:pt x="74041" y="4688840"/>
                    <a:pt x="0" y="4614799"/>
                    <a:pt x="0" y="4523359"/>
                  </a:cubicBezTo>
                  <a:close/>
                </a:path>
              </a:pathLst>
            </a:custGeom>
            <a:solidFill>
              <a:srgbClr val="1E293B"/>
            </a:solidFill>
            <a:ln w="19050" cap="sq">
              <a:solidFill>
                <a:srgbClr val="2E3B52"/>
              </a:solidFill>
              <a:prstDash val="solid"/>
              <a:miter/>
            </a:ln>
          </p:spPr>
        </p:sp>
      </p:grpSp>
      <p:grpSp>
        <p:nvGrpSpPr>
          <p:cNvPr id="89" name="Group 89"/>
          <p:cNvGrpSpPr/>
          <p:nvPr/>
        </p:nvGrpSpPr>
        <p:grpSpPr>
          <a:xfrm>
            <a:off x="9642348" y="6254496"/>
            <a:ext cx="274320" cy="274320"/>
            <a:chOff x="0" y="0"/>
            <a:chExt cx="365760" cy="365760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60" h="365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cubicBezTo>
                    <a:pt x="283845" y="0"/>
                    <a:pt x="365760" y="81915"/>
                    <a:pt x="365760" y="182880"/>
                  </a:cubicBezTo>
                  <a:cubicBezTo>
                    <a:pt x="365760" y="283845"/>
                    <a:pt x="283845" y="365760"/>
                    <a:pt x="182880" y="365760"/>
                  </a:cubicBez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F472B6"/>
            </a:solidFill>
          </p:spPr>
        </p:sp>
      </p:grpSp>
      <p:grpSp>
        <p:nvGrpSpPr>
          <p:cNvPr id="91" name="Group 91"/>
          <p:cNvGrpSpPr/>
          <p:nvPr/>
        </p:nvGrpSpPr>
        <p:grpSpPr>
          <a:xfrm>
            <a:off x="10053828" y="6103620"/>
            <a:ext cx="6789420" cy="548640"/>
            <a:chOff x="0" y="0"/>
            <a:chExt cx="9052560" cy="731520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9052560" cy="731520"/>
            </a:xfrm>
            <a:custGeom>
              <a:avLst/>
              <a:gdLst/>
              <a:ahLst/>
              <a:cxnLst/>
              <a:rect l="l" t="t" r="r" b="b"/>
              <a:pathLst>
                <a:path w="9052560" h="731520">
                  <a:moveTo>
                    <a:pt x="0" y="0"/>
                  </a:moveTo>
                  <a:lnTo>
                    <a:pt x="9052560" y="0"/>
                  </a:lnTo>
                  <a:lnTo>
                    <a:pt x="9052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1127" b="-191127"/>
              </a:stretch>
            </a:blipFill>
          </p:spPr>
        </p:sp>
        <p:sp>
          <p:nvSpPr>
            <p:cNvPr id="93" name="TextBox 93"/>
            <p:cNvSpPr txBox="1"/>
            <p:nvPr/>
          </p:nvSpPr>
          <p:spPr>
            <a:xfrm>
              <a:off x="0" y="-38100"/>
              <a:ext cx="905256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Feedback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9669780" y="6926580"/>
            <a:ext cx="342900" cy="411480"/>
            <a:chOff x="0" y="0"/>
            <a:chExt cx="457200" cy="548640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457200" cy="548640"/>
            </a:xfrm>
            <a:custGeom>
              <a:avLst/>
              <a:gdLst/>
              <a:ahLst/>
              <a:cxnLst/>
              <a:rect l="l" t="t" r="r" b="b"/>
              <a:pathLst>
                <a:path w="457200" h="548640">
                  <a:moveTo>
                    <a:pt x="0" y="0"/>
                  </a:moveTo>
                  <a:lnTo>
                    <a:pt x="457200" y="0"/>
                  </a:lnTo>
                  <a:lnTo>
                    <a:pt x="457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964" r="-103964"/>
              </a:stretch>
            </a:blipFill>
          </p:spPr>
        </p:sp>
        <p:sp>
          <p:nvSpPr>
            <p:cNvPr id="96" name="TextBox 96"/>
            <p:cNvSpPr txBox="1"/>
            <p:nvPr/>
          </p:nvSpPr>
          <p:spPr>
            <a:xfrm>
              <a:off x="0" y="-19050"/>
              <a:ext cx="457200" cy="567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 b="1">
                  <a:solidFill>
                    <a:srgbClr val="F472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—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10053828" y="6899148"/>
            <a:ext cx="6858000" cy="521208"/>
            <a:chOff x="0" y="0"/>
            <a:chExt cx="9144000" cy="694944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9144000" cy="694944"/>
            </a:xfrm>
            <a:custGeom>
              <a:avLst/>
              <a:gdLst/>
              <a:ahLst/>
              <a:cxnLst/>
              <a:rect l="l" t="t" r="r" b="b"/>
              <a:pathLst>
                <a:path w="9144000" h="694944">
                  <a:moveTo>
                    <a:pt x="0" y="0"/>
                  </a:moveTo>
                  <a:lnTo>
                    <a:pt x="9144000" y="0"/>
                  </a:lnTo>
                  <a:lnTo>
                    <a:pt x="914400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6382" b="-206382"/>
              </a:stretch>
            </a:blipFill>
          </p:spPr>
        </p:sp>
        <p:sp>
          <p:nvSpPr>
            <p:cNvPr id="99" name="TextBox 99"/>
            <p:cNvSpPr txBox="1"/>
            <p:nvPr/>
          </p:nvSpPr>
          <p:spPr>
            <a:xfrm>
              <a:off x="0" y="-47625"/>
              <a:ext cx="9144000" cy="7425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73"/>
                </a:lnSpc>
              </a:pPr>
              <a:r>
                <a:rPr lang="en-US" sz="1575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session ref, question ref, user ref</a:t>
              </a:r>
            </a:p>
          </p:txBody>
        </p:sp>
      </p:grpSp>
      <p:grpSp>
        <p:nvGrpSpPr>
          <p:cNvPr id="100" name="Group 100"/>
          <p:cNvGrpSpPr/>
          <p:nvPr/>
        </p:nvGrpSpPr>
        <p:grpSpPr>
          <a:xfrm>
            <a:off x="9669780" y="7639812"/>
            <a:ext cx="342900" cy="411480"/>
            <a:chOff x="0" y="0"/>
            <a:chExt cx="457200" cy="548640"/>
          </a:xfrm>
        </p:grpSpPr>
        <p:sp>
          <p:nvSpPr>
            <p:cNvPr id="101" name="Freeform 101"/>
            <p:cNvSpPr/>
            <p:nvPr/>
          </p:nvSpPr>
          <p:spPr>
            <a:xfrm>
              <a:off x="0" y="0"/>
              <a:ext cx="457200" cy="548640"/>
            </a:xfrm>
            <a:custGeom>
              <a:avLst/>
              <a:gdLst/>
              <a:ahLst/>
              <a:cxnLst/>
              <a:rect l="l" t="t" r="r" b="b"/>
              <a:pathLst>
                <a:path w="457200" h="548640">
                  <a:moveTo>
                    <a:pt x="0" y="0"/>
                  </a:moveTo>
                  <a:lnTo>
                    <a:pt x="457200" y="0"/>
                  </a:lnTo>
                  <a:lnTo>
                    <a:pt x="457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964" r="-103964"/>
              </a:stretch>
            </a:blipFill>
          </p:spPr>
        </p:sp>
        <p:sp>
          <p:nvSpPr>
            <p:cNvPr id="102" name="TextBox 102"/>
            <p:cNvSpPr txBox="1"/>
            <p:nvPr/>
          </p:nvSpPr>
          <p:spPr>
            <a:xfrm>
              <a:off x="0" y="-19050"/>
              <a:ext cx="457200" cy="567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 b="1">
                  <a:solidFill>
                    <a:srgbClr val="F472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—</a:t>
              </a: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10050780" y="7502652"/>
            <a:ext cx="6858000" cy="905256"/>
            <a:chOff x="0" y="0"/>
            <a:chExt cx="9144000" cy="1207008"/>
          </a:xfrm>
        </p:grpSpPr>
        <p:sp>
          <p:nvSpPr>
            <p:cNvPr id="104" name="Freeform 104"/>
            <p:cNvSpPr/>
            <p:nvPr/>
          </p:nvSpPr>
          <p:spPr>
            <a:xfrm>
              <a:off x="0" y="0"/>
              <a:ext cx="9144000" cy="1207008"/>
            </a:xfrm>
            <a:custGeom>
              <a:avLst/>
              <a:gdLst/>
              <a:ahLst/>
              <a:cxnLst/>
              <a:rect l="l" t="t" r="r" b="b"/>
              <a:pathLst>
                <a:path w="9144000" h="1207008">
                  <a:moveTo>
                    <a:pt x="0" y="0"/>
                  </a:moveTo>
                  <a:lnTo>
                    <a:pt x="9144000" y="0"/>
                  </a:lnTo>
                  <a:lnTo>
                    <a:pt x="914400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613" b="-97613"/>
              </a:stretch>
            </a:blipFill>
          </p:spPr>
        </p:sp>
        <p:sp>
          <p:nvSpPr>
            <p:cNvPr id="105" name="TextBox 105"/>
            <p:cNvSpPr txBox="1"/>
            <p:nvPr/>
          </p:nvSpPr>
          <p:spPr>
            <a:xfrm>
              <a:off x="0" y="-47625"/>
              <a:ext cx="9144000" cy="12546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73"/>
                </a:lnSpc>
              </a:pPr>
              <a:r>
                <a:rPr lang="en-US" sz="1575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scores{relevance, clarity, confidence,</a:t>
              </a:r>
            </a:p>
            <a:p>
              <a:pPr algn="l">
                <a:lnSpc>
                  <a:spcPts val="2173"/>
                </a:lnSpc>
              </a:pPr>
              <a:r>
                <a:rPr lang="en-US" sz="1575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communication, overall} (0–10 each)</a:t>
              </a:r>
            </a:p>
          </p:txBody>
        </p:sp>
      </p:grpSp>
      <p:grpSp>
        <p:nvGrpSpPr>
          <p:cNvPr id="106" name="Group 106"/>
          <p:cNvGrpSpPr/>
          <p:nvPr/>
        </p:nvGrpSpPr>
        <p:grpSpPr>
          <a:xfrm>
            <a:off x="9669780" y="8503617"/>
            <a:ext cx="342900" cy="315771"/>
            <a:chOff x="0" y="0"/>
            <a:chExt cx="457200" cy="421029"/>
          </a:xfrm>
        </p:grpSpPr>
        <p:sp>
          <p:nvSpPr>
            <p:cNvPr id="107" name="Freeform 107"/>
            <p:cNvSpPr/>
            <p:nvPr/>
          </p:nvSpPr>
          <p:spPr>
            <a:xfrm>
              <a:off x="0" y="0"/>
              <a:ext cx="457200" cy="421029"/>
            </a:xfrm>
            <a:custGeom>
              <a:avLst/>
              <a:gdLst/>
              <a:ahLst/>
              <a:cxnLst/>
              <a:rect l="l" t="t" r="r" b="b"/>
              <a:pathLst>
                <a:path w="457200" h="421029">
                  <a:moveTo>
                    <a:pt x="0" y="0"/>
                  </a:moveTo>
                  <a:lnTo>
                    <a:pt x="457200" y="0"/>
                  </a:lnTo>
                  <a:lnTo>
                    <a:pt x="457200" y="421029"/>
                  </a:lnTo>
                  <a:lnTo>
                    <a:pt x="0" y="4210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964" r="-103964" b="-30309"/>
              </a:stretch>
            </a:blipFill>
          </p:spPr>
        </p:sp>
        <p:sp>
          <p:nvSpPr>
            <p:cNvPr id="108" name="TextBox 108"/>
            <p:cNvSpPr txBox="1"/>
            <p:nvPr/>
          </p:nvSpPr>
          <p:spPr>
            <a:xfrm>
              <a:off x="0" y="-19050"/>
              <a:ext cx="457200" cy="4400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 b="1">
                  <a:solidFill>
                    <a:srgbClr val="F472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—</a:t>
              </a:r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10053828" y="8366760"/>
            <a:ext cx="6858000" cy="905256"/>
            <a:chOff x="0" y="0"/>
            <a:chExt cx="9144000" cy="1207008"/>
          </a:xfrm>
        </p:grpSpPr>
        <p:sp>
          <p:nvSpPr>
            <p:cNvPr id="110" name="Freeform 110"/>
            <p:cNvSpPr/>
            <p:nvPr/>
          </p:nvSpPr>
          <p:spPr>
            <a:xfrm>
              <a:off x="0" y="0"/>
              <a:ext cx="9144000" cy="1207008"/>
            </a:xfrm>
            <a:custGeom>
              <a:avLst/>
              <a:gdLst/>
              <a:ahLst/>
              <a:cxnLst/>
              <a:rect l="l" t="t" r="r" b="b"/>
              <a:pathLst>
                <a:path w="9144000" h="1207008">
                  <a:moveTo>
                    <a:pt x="0" y="0"/>
                  </a:moveTo>
                  <a:lnTo>
                    <a:pt x="9144000" y="0"/>
                  </a:lnTo>
                  <a:lnTo>
                    <a:pt x="914400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613" b="-97613"/>
              </a:stretch>
            </a:blipFill>
          </p:spPr>
        </p:sp>
        <p:sp>
          <p:nvSpPr>
            <p:cNvPr id="111" name="TextBox 111"/>
            <p:cNvSpPr txBox="1"/>
            <p:nvPr/>
          </p:nvSpPr>
          <p:spPr>
            <a:xfrm>
              <a:off x="0" y="-47625"/>
              <a:ext cx="9144000" cy="12546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73"/>
                </a:lnSpc>
              </a:pPr>
              <a:r>
                <a:rPr lang="en-US" sz="1575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strengths[], weaknesses[], suggestions[],</a:t>
              </a:r>
            </a:p>
            <a:p>
              <a:pPr algn="l">
                <a:lnSpc>
                  <a:spcPts val="2173"/>
                </a:lnSpc>
              </a:pPr>
              <a:r>
                <a:rPr lang="en-US" sz="1575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improvedAnswerExample</a:t>
              </a:r>
            </a:p>
          </p:txBody>
        </p:sp>
      </p:grpSp>
      <p:grpSp>
        <p:nvGrpSpPr>
          <p:cNvPr id="112" name="Group 112"/>
          <p:cNvGrpSpPr/>
          <p:nvPr/>
        </p:nvGrpSpPr>
        <p:grpSpPr>
          <a:xfrm>
            <a:off x="822960" y="9710928"/>
            <a:ext cx="8229600" cy="411480"/>
            <a:chOff x="0" y="0"/>
            <a:chExt cx="10972800" cy="548640"/>
          </a:xfrm>
        </p:grpSpPr>
        <p:sp>
          <p:nvSpPr>
            <p:cNvPr id="113" name="Freeform 113"/>
            <p:cNvSpPr/>
            <p:nvPr/>
          </p:nvSpPr>
          <p:spPr>
            <a:xfrm>
              <a:off x="0" y="0"/>
              <a:ext cx="10972800" cy="548640"/>
            </a:xfrm>
            <a:custGeom>
              <a:avLst/>
              <a:gdLst/>
              <a:ahLst/>
              <a:cxnLst/>
              <a:rect l="l" t="t" r="r" b="b"/>
              <a:pathLst>
                <a:path w="10972800" h="54864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114" name="TextBox 114"/>
            <p:cNvSpPr txBox="1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Interview Practice Platform</a:t>
              </a:r>
            </a:p>
          </p:txBody>
        </p:sp>
      </p:grpSp>
      <p:grpSp>
        <p:nvGrpSpPr>
          <p:cNvPr id="115" name="Group 115"/>
          <p:cNvGrpSpPr/>
          <p:nvPr/>
        </p:nvGrpSpPr>
        <p:grpSpPr>
          <a:xfrm>
            <a:off x="16641623" y="9710928"/>
            <a:ext cx="822960" cy="411480"/>
            <a:chOff x="0" y="0"/>
            <a:chExt cx="1097280" cy="548640"/>
          </a:xfrm>
        </p:grpSpPr>
        <p:sp>
          <p:nvSpPr>
            <p:cNvPr id="116" name="Freeform 116"/>
            <p:cNvSpPr/>
            <p:nvPr/>
          </p:nvSpPr>
          <p:spPr>
            <a:xfrm>
              <a:off x="0" y="0"/>
              <a:ext cx="1097280" cy="548640"/>
            </a:xfrm>
            <a:custGeom>
              <a:avLst/>
              <a:gdLst/>
              <a:ahLst/>
              <a:cxnLst/>
              <a:rect l="l" t="t" r="r" b="b"/>
              <a:pathLst>
                <a:path w="1097280" h="54864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117" name="TextBox 117"/>
            <p:cNvSpPr txBox="1"/>
            <p:nvPr/>
          </p:nvSpPr>
          <p:spPr>
            <a:xfrm>
              <a:off x="0" y="-28575"/>
              <a:ext cx="109728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  <p:pic>
        <p:nvPicPr>
          <p:cNvPr id="119" name="Picture 118" descr="Our Team - KLH Bachupally">
            <a:extLst>
              <a:ext uri="{FF2B5EF4-FFF2-40B4-BE49-F238E27FC236}">
                <a16:creationId xmlns:a16="http://schemas.microsoft.com/office/drawing/2014/main" id="{5483636E-A0F0-590C-6AC3-D45BCF0B6D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72054" y="0"/>
            <a:ext cx="3115946" cy="16196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480060"/>
            <a:ext cx="10972800" cy="411480"/>
            <a:chOff x="0" y="0"/>
            <a:chExt cx="14630400" cy="5486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0400" cy="548640"/>
            </a:xfrm>
            <a:custGeom>
              <a:avLst/>
              <a:gdLst/>
              <a:ahLst/>
              <a:cxnLst/>
              <a:rect l="l" t="t" r="r" b="b"/>
              <a:pathLst>
                <a:path w="14630400" h="54864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9601" b="-469601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300">
                  <a:solidFill>
                    <a:srgbClr val="818C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AISERVICE.JS  ·  GOOGLE GEMINI INTEGRATION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850392"/>
            <a:ext cx="15773400" cy="960120"/>
            <a:chOff x="0" y="0"/>
            <a:chExt cx="21031200" cy="12801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031200" cy="1280160"/>
            </a:xfrm>
            <a:custGeom>
              <a:avLst/>
              <a:gdLst/>
              <a:ahLst/>
              <a:cxnLst/>
              <a:rect l="l" t="t" r="r" b="b"/>
              <a:pathLst>
                <a:path w="21031200" h="128016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0111" b="-270111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21031200" cy="13658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Feedback Engine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035583" y="548640"/>
            <a:ext cx="3429000" cy="411480"/>
            <a:chOff x="0" y="0"/>
            <a:chExt cx="4572000" cy="5486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572000" cy="548640"/>
            </a:xfrm>
            <a:custGeom>
              <a:avLst/>
              <a:gdLst/>
              <a:ahLst/>
              <a:cxnLst/>
              <a:rect l="l" t="t" r="r" b="b"/>
              <a:pathLst>
                <a:path w="4572000" h="548640">
                  <a:moveTo>
                    <a:pt x="0" y="0"/>
                  </a:moveTo>
                  <a:lnTo>
                    <a:pt x="4572000" y="0"/>
                  </a:lnTo>
                  <a:lnTo>
                    <a:pt x="4572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2375" b="-112375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45720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980"/>
                </a:lnSpc>
              </a:pPr>
              <a:r>
                <a:rPr lang="en-US" sz="1650" b="1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INTTE</a:t>
              </a:r>
              <a:r>
                <a:rPr lang="en-US" sz="1650" b="1">
                  <a:solidFill>
                    <a:srgbClr val="818C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REE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 rot="3960">
            <a:off x="813425" y="1750886"/>
            <a:ext cx="16660682" cy="0"/>
          </a:xfrm>
          <a:prstGeom prst="line">
            <a:avLst/>
          </a:prstGeom>
          <a:ln w="9525" cap="rnd">
            <a:solidFill>
              <a:srgbClr val="2E3B5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>
            <a:off x="1003078" y="2168938"/>
            <a:ext cx="874205" cy="874205"/>
            <a:chOff x="0" y="0"/>
            <a:chExt cx="1165606" cy="116560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65606" cy="1165606"/>
            </a:xfrm>
            <a:custGeom>
              <a:avLst/>
              <a:gdLst/>
              <a:ahLst/>
              <a:cxnLst/>
              <a:rect l="l" t="t" r="r" b="b"/>
              <a:pathLst>
                <a:path w="1165606" h="1165606">
                  <a:moveTo>
                    <a:pt x="0" y="582803"/>
                  </a:moveTo>
                  <a:cubicBezTo>
                    <a:pt x="0" y="260985"/>
                    <a:pt x="260985" y="0"/>
                    <a:pt x="582803" y="0"/>
                  </a:cubicBezTo>
                  <a:cubicBezTo>
                    <a:pt x="904621" y="0"/>
                    <a:pt x="1165606" y="260985"/>
                    <a:pt x="1165606" y="582803"/>
                  </a:cubicBezTo>
                  <a:cubicBezTo>
                    <a:pt x="1165606" y="904621"/>
                    <a:pt x="904621" y="1165606"/>
                    <a:pt x="582803" y="1165606"/>
                  </a:cubicBezTo>
                  <a:cubicBezTo>
                    <a:pt x="260985" y="1165606"/>
                    <a:pt x="0" y="904621"/>
                    <a:pt x="0" y="582803"/>
                  </a:cubicBezTo>
                  <a:close/>
                </a:path>
              </a:pathLst>
            </a:custGeom>
            <a:solidFill>
              <a:srgbClr val="22D3EE">
                <a:alpha val="3137"/>
              </a:srgbClr>
            </a:solidFill>
            <a:ln w="23812" cap="sq">
              <a:solidFill>
                <a:srgbClr val="22D3EE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014984" y="2180844"/>
            <a:ext cx="850392" cy="850392"/>
            <a:chOff x="0" y="0"/>
            <a:chExt cx="1133856" cy="113385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33856" cy="1133856"/>
            </a:xfrm>
            <a:custGeom>
              <a:avLst/>
              <a:gdLst/>
              <a:ahLst/>
              <a:cxnLst/>
              <a:rect l="l" t="t" r="r" b="b"/>
              <a:pathLst>
                <a:path w="1133856" h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1133856" cy="11814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01"/>
                </a:lnSpc>
              </a:pPr>
              <a:r>
                <a:rPr lang="en-US" sz="2418" b="1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116455" y="2116455"/>
            <a:ext cx="14695170" cy="1198626"/>
            <a:chOff x="0" y="0"/>
            <a:chExt cx="19593560" cy="159816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9593561" cy="1598168"/>
            </a:xfrm>
            <a:custGeom>
              <a:avLst/>
              <a:gdLst/>
              <a:ahLst/>
              <a:cxnLst/>
              <a:rect l="l" t="t" r="r" b="b"/>
              <a:pathLst>
                <a:path w="19593561" h="1598168">
                  <a:moveTo>
                    <a:pt x="0" y="167259"/>
                  </a:moveTo>
                  <a:cubicBezTo>
                    <a:pt x="0" y="74930"/>
                    <a:pt x="74930" y="0"/>
                    <a:pt x="167259" y="0"/>
                  </a:cubicBezTo>
                  <a:lnTo>
                    <a:pt x="19426301" y="0"/>
                  </a:lnTo>
                  <a:cubicBezTo>
                    <a:pt x="19518630" y="0"/>
                    <a:pt x="19593561" y="74930"/>
                    <a:pt x="19593561" y="167259"/>
                  </a:cubicBezTo>
                  <a:lnTo>
                    <a:pt x="19593561" y="1430909"/>
                  </a:lnTo>
                  <a:cubicBezTo>
                    <a:pt x="19593561" y="1523238"/>
                    <a:pt x="19518630" y="1598168"/>
                    <a:pt x="19426301" y="1598168"/>
                  </a:cubicBezTo>
                  <a:lnTo>
                    <a:pt x="167259" y="1598168"/>
                  </a:lnTo>
                  <a:cubicBezTo>
                    <a:pt x="74930" y="1598168"/>
                    <a:pt x="0" y="1523238"/>
                    <a:pt x="0" y="1430909"/>
                  </a:cubicBezTo>
                  <a:close/>
                </a:path>
              </a:pathLst>
            </a:custGeom>
            <a:solidFill>
              <a:srgbClr val="1E293B"/>
            </a:solidFill>
            <a:ln w="19050" cap="sq">
              <a:solidFill>
                <a:srgbClr val="2E3B52"/>
              </a:solidFill>
              <a:prstDash val="solid"/>
              <a:miter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2468880" y="2235708"/>
            <a:ext cx="4389120" cy="932688"/>
            <a:chOff x="0" y="0"/>
            <a:chExt cx="5852160" cy="124358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852160" cy="1243584"/>
            </a:xfrm>
            <a:custGeom>
              <a:avLst/>
              <a:gdLst/>
              <a:ahLst/>
              <a:cxnLst/>
              <a:rect l="l" t="t" r="r" b="b"/>
              <a:pathLst>
                <a:path w="5852160" h="1243584">
                  <a:moveTo>
                    <a:pt x="0" y="0"/>
                  </a:moveTo>
                  <a:lnTo>
                    <a:pt x="5852160" y="0"/>
                  </a:lnTo>
                  <a:lnTo>
                    <a:pt x="585216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694" b="-41694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5852160" cy="12912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Build the prompt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995160" y="2235708"/>
            <a:ext cx="9601200" cy="960120"/>
            <a:chOff x="0" y="0"/>
            <a:chExt cx="12801600" cy="128016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2801600" cy="1280160"/>
            </a:xfrm>
            <a:custGeom>
              <a:avLst/>
              <a:gdLst/>
              <a:ahLst/>
              <a:cxnLst/>
              <a:rect l="l" t="t" r="r" b="b"/>
              <a:pathLst>
                <a:path w="12801600" h="1280160">
                  <a:moveTo>
                    <a:pt x="0" y="0"/>
                  </a:moveTo>
                  <a:lnTo>
                    <a:pt x="12801600" y="0"/>
                  </a:lnTo>
                  <a:lnTo>
                    <a:pt x="128016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57150"/>
              <a:ext cx="12801600" cy="13373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5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Question text, category, role, difficulty, idealPoints, and the candidate's raw answer are assembled into one evaluation prompt.</a:t>
              </a:r>
            </a:p>
          </p:txBody>
        </p:sp>
      </p:grpSp>
      <p:sp>
        <p:nvSpPr>
          <p:cNvPr id="25" name="AutoShape 25"/>
          <p:cNvSpPr/>
          <p:nvPr/>
        </p:nvSpPr>
        <p:spPr>
          <a:xfrm rot="5044680">
            <a:off x="1301706" y="3446907"/>
            <a:ext cx="276939" cy="0"/>
          </a:xfrm>
          <a:prstGeom prst="line">
            <a:avLst/>
          </a:prstGeom>
          <a:ln w="19050" cap="rnd">
            <a:solidFill>
              <a:srgbClr val="2E3B5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6" name="Group 26"/>
          <p:cNvGrpSpPr/>
          <p:nvPr/>
        </p:nvGrpSpPr>
        <p:grpSpPr>
          <a:xfrm>
            <a:off x="1003078" y="3622834"/>
            <a:ext cx="874205" cy="874205"/>
            <a:chOff x="0" y="0"/>
            <a:chExt cx="1165606" cy="116560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165606" cy="1165606"/>
            </a:xfrm>
            <a:custGeom>
              <a:avLst/>
              <a:gdLst/>
              <a:ahLst/>
              <a:cxnLst/>
              <a:rect l="l" t="t" r="r" b="b"/>
              <a:pathLst>
                <a:path w="1165606" h="1165606">
                  <a:moveTo>
                    <a:pt x="0" y="582803"/>
                  </a:moveTo>
                  <a:cubicBezTo>
                    <a:pt x="0" y="260985"/>
                    <a:pt x="260985" y="0"/>
                    <a:pt x="582803" y="0"/>
                  </a:cubicBezTo>
                  <a:cubicBezTo>
                    <a:pt x="904621" y="0"/>
                    <a:pt x="1165606" y="260985"/>
                    <a:pt x="1165606" y="582803"/>
                  </a:cubicBezTo>
                  <a:cubicBezTo>
                    <a:pt x="1165606" y="904621"/>
                    <a:pt x="904621" y="1165606"/>
                    <a:pt x="582803" y="1165606"/>
                  </a:cubicBezTo>
                  <a:cubicBezTo>
                    <a:pt x="260985" y="1165606"/>
                    <a:pt x="0" y="904621"/>
                    <a:pt x="0" y="582803"/>
                  </a:cubicBezTo>
                  <a:close/>
                </a:path>
              </a:pathLst>
            </a:custGeom>
            <a:solidFill>
              <a:srgbClr val="818CF8">
                <a:alpha val="3137"/>
              </a:srgbClr>
            </a:solidFill>
            <a:ln w="23812" cap="sq">
              <a:solidFill>
                <a:srgbClr val="818CF8"/>
              </a:solidFill>
              <a:prstDash val="solid"/>
              <a:miter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1014984" y="3634740"/>
            <a:ext cx="850392" cy="850392"/>
            <a:chOff x="0" y="0"/>
            <a:chExt cx="1133856" cy="1133856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133856" cy="1133856"/>
            </a:xfrm>
            <a:custGeom>
              <a:avLst/>
              <a:gdLst/>
              <a:ahLst/>
              <a:cxnLst/>
              <a:rect l="l" t="t" r="r" b="b"/>
              <a:pathLst>
                <a:path w="1133856" h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47625"/>
              <a:ext cx="1133856" cy="11814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01"/>
                </a:lnSpc>
              </a:pPr>
              <a:r>
                <a:rPr lang="en-US" sz="2418" b="1">
                  <a:solidFill>
                    <a:srgbClr val="818C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2116455" y="3570351"/>
            <a:ext cx="14695170" cy="1198626"/>
            <a:chOff x="0" y="0"/>
            <a:chExt cx="19593560" cy="159816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9593561" cy="1598168"/>
            </a:xfrm>
            <a:custGeom>
              <a:avLst/>
              <a:gdLst/>
              <a:ahLst/>
              <a:cxnLst/>
              <a:rect l="l" t="t" r="r" b="b"/>
              <a:pathLst>
                <a:path w="19593561" h="1598168">
                  <a:moveTo>
                    <a:pt x="0" y="167259"/>
                  </a:moveTo>
                  <a:cubicBezTo>
                    <a:pt x="0" y="74930"/>
                    <a:pt x="74930" y="0"/>
                    <a:pt x="167259" y="0"/>
                  </a:cubicBezTo>
                  <a:lnTo>
                    <a:pt x="19426301" y="0"/>
                  </a:lnTo>
                  <a:cubicBezTo>
                    <a:pt x="19518630" y="0"/>
                    <a:pt x="19593561" y="74930"/>
                    <a:pt x="19593561" y="167259"/>
                  </a:cubicBezTo>
                  <a:lnTo>
                    <a:pt x="19593561" y="1430909"/>
                  </a:lnTo>
                  <a:cubicBezTo>
                    <a:pt x="19593561" y="1523238"/>
                    <a:pt x="19518630" y="1598168"/>
                    <a:pt x="19426301" y="1598168"/>
                  </a:cubicBezTo>
                  <a:lnTo>
                    <a:pt x="167259" y="1598168"/>
                  </a:lnTo>
                  <a:cubicBezTo>
                    <a:pt x="74930" y="1598168"/>
                    <a:pt x="0" y="1523238"/>
                    <a:pt x="0" y="1430909"/>
                  </a:cubicBezTo>
                  <a:close/>
                </a:path>
              </a:pathLst>
            </a:custGeom>
            <a:solidFill>
              <a:srgbClr val="1E293B"/>
            </a:solidFill>
            <a:ln w="19050" cap="sq">
              <a:solidFill>
                <a:srgbClr val="2E3B52"/>
              </a:solidFill>
              <a:prstDash val="solid"/>
              <a:miter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2468880" y="3689604"/>
            <a:ext cx="4389120" cy="932688"/>
            <a:chOff x="0" y="0"/>
            <a:chExt cx="5852160" cy="1243584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852160" cy="1243584"/>
            </a:xfrm>
            <a:custGeom>
              <a:avLst/>
              <a:gdLst/>
              <a:ahLst/>
              <a:cxnLst/>
              <a:rect l="l" t="t" r="r" b="b"/>
              <a:pathLst>
                <a:path w="5852160" h="1243584">
                  <a:moveTo>
                    <a:pt x="0" y="0"/>
                  </a:moveTo>
                  <a:lnTo>
                    <a:pt x="5852160" y="0"/>
                  </a:lnTo>
                  <a:lnTo>
                    <a:pt x="585216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694" b="-41694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47625"/>
              <a:ext cx="5852160" cy="12912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Call Gemini with a strict schema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995160" y="3689604"/>
            <a:ext cx="9601200" cy="960120"/>
            <a:chOff x="0" y="0"/>
            <a:chExt cx="12801600" cy="128016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2801600" cy="1280160"/>
            </a:xfrm>
            <a:custGeom>
              <a:avLst/>
              <a:gdLst/>
              <a:ahLst/>
              <a:cxnLst/>
              <a:rect l="l" t="t" r="r" b="b"/>
              <a:pathLst>
                <a:path w="12801600" h="1280160">
                  <a:moveTo>
                    <a:pt x="0" y="0"/>
                  </a:moveTo>
                  <a:lnTo>
                    <a:pt x="12801600" y="0"/>
                  </a:lnTo>
                  <a:lnTo>
                    <a:pt x="128016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57150"/>
              <a:ext cx="12801600" cy="13373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5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ai.models.generateContent() runs gemini-2.5-flash with responseSchema enforcing a fixed JSON shape (Type.OBJECT / ARRAY).</a:t>
              </a:r>
            </a:p>
          </p:txBody>
        </p:sp>
      </p:grpSp>
      <p:sp>
        <p:nvSpPr>
          <p:cNvPr id="39" name="AutoShape 39"/>
          <p:cNvSpPr/>
          <p:nvPr/>
        </p:nvSpPr>
        <p:spPr>
          <a:xfrm rot="5044680">
            <a:off x="1301706" y="4900803"/>
            <a:ext cx="276939" cy="0"/>
          </a:xfrm>
          <a:prstGeom prst="line">
            <a:avLst/>
          </a:prstGeom>
          <a:ln w="19050" cap="rnd">
            <a:solidFill>
              <a:srgbClr val="2E3B5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0" name="Group 40"/>
          <p:cNvGrpSpPr/>
          <p:nvPr/>
        </p:nvGrpSpPr>
        <p:grpSpPr>
          <a:xfrm>
            <a:off x="1003078" y="5076730"/>
            <a:ext cx="874205" cy="874205"/>
            <a:chOff x="0" y="0"/>
            <a:chExt cx="1165606" cy="1165606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165606" cy="1165606"/>
            </a:xfrm>
            <a:custGeom>
              <a:avLst/>
              <a:gdLst/>
              <a:ahLst/>
              <a:cxnLst/>
              <a:rect l="l" t="t" r="r" b="b"/>
              <a:pathLst>
                <a:path w="1165606" h="1165606">
                  <a:moveTo>
                    <a:pt x="0" y="582803"/>
                  </a:moveTo>
                  <a:cubicBezTo>
                    <a:pt x="0" y="260985"/>
                    <a:pt x="260985" y="0"/>
                    <a:pt x="582803" y="0"/>
                  </a:cubicBezTo>
                  <a:cubicBezTo>
                    <a:pt x="904621" y="0"/>
                    <a:pt x="1165606" y="260985"/>
                    <a:pt x="1165606" y="582803"/>
                  </a:cubicBezTo>
                  <a:cubicBezTo>
                    <a:pt x="1165606" y="904621"/>
                    <a:pt x="904621" y="1165606"/>
                    <a:pt x="582803" y="1165606"/>
                  </a:cubicBezTo>
                  <a:cubicBezTo>
                    <a:pt x="260985" y="1165606"/>
                    <a:pt x="0" y="904621"/>
                    <a:pt x="0" y="582803"/>
                  </a:cubicBezTo>
                  <a:close/>
                </a:path>
              </a:pathLst>
            </a:custGeom>
            <a:solidFill>
              <a:srgbClr val="34D399">
                <a:alpha val="3137"/>
              </a:srgbClr>
            </a:solidFill>
            <a:ln w="23812" cap="sq">
              <a:solidFill>
                <a:srgbClr val="34D399"/>
              </a:solidFill>
              <a:prstDash val="solid"/>
              <a:miter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1014984" y="5088636"/>
            <a:ext cx="850392" cy="850392"/>
            <a:chOff x="0" y="0"/>
            <a:chExt cx="1133856" cy="1133856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133856" cy="1133856"/>
            </a:xfrm>
            <a:custGeom>
              <a:avLst/>
              <a:gdLst/>
              <a:ahLst/>
              <a:cxnLst/>
              <a:rect l="l" t="t" r="r" b="b"/>
              <a:pathLst>
                <a:path w="1133856" h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47625"/>
              <a:ext cx="1133856" cy="11814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01"/>
                </a:lnSpc>
              </a:pPr>
              <a:r>
                <a:rPr lang="en-US" sz="2418" b="1">
                  <a:solidFill>
                    <a:srgbClr val="34D3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2116455" y="5024247"/>
            <a:ext cx="14695170" cy="1198626"/>
            <a:chOff x="0" y="0"/>
            <a:chExt cx="19593560" cy="1598168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9593561" cy="1598168"/>
            </a:xfrm>
            <a:custGeom>
              <a:avLst/>
              <a:gdLst/>
              <a:ahLst/>
              <a:cxnLst/>
              <a:rect l="l" t="t" r="r" b="b"/>
              <a:pathLst>
                <a:path w="19593561" h="1598168">
                  <a:moveTo>
                    <a:pt x="0" y="167259"/>
                  </a:moveTo>
                  <a:cubicBezTo>
                    <a:pt x="0" y="74930"/>
                    <a:pt x="74930" y="0"/>
                    <a:pt x="167259" y="0"/>
                  </a:cubicBezTo>
                  <a:lnTo>
                    <a:pt x="19426301" y="0"/>
                  </a:lnTo>
                  <a:cubicBezTo>
                    <a:pt x="19518630" y="0"/>
                    <a:pt x="19593561" y="74930"/>
                    <a:pt x="19593561" y="167259"/>
                  </a:cubicBezTo>
                  <a:lnTo>
                    <a:pt x="19593561" y="1430909"/>
                  </a:lnTo>
                  <a:cubicBezTo>
                    <a:pt x="19593561" y="1523238"/>
                    <a:pt x="19518630" y="1598168"/>
                    <a:pt x="19426301" y="1598168"/>
                  </a:cubicBezTo>
                  <a:lnTo>
                    <a:pt x="167259" y="1598168"/>
                  </a:lnTo>
                  <a:cubicBezTo>
                    <a:pt x="74930" y="1598168"/>
                    <a:pt x="0" y="1523238"/>
                    <a:pt x="0" y="1430909"/>
                  </a:cubicBezTo>
                  <a:close/>
                </a:path>
              </a:pathLst>
            </a:custGeom>
            <a:solidFill>
              <a:srgbClr val="1E293B"/>
            </a:solidFill>
            <a:ln w="19050" cap="sq">
              <a:solidFill>
                <a:srgbClr val="2E3B52"/>
              </a:solidFill>
              <a:prstDash val="solid"/>
              <a:miter/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2468880" y="5143500"/>
            <a:ext cx="4389120" cy="932688"/>
            <a:chOff x="0" y="0"/>
            <a:chExt cx="5852160" cy="1243584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5852160" cy="1243584"/>
            </a:xfrm>
            <a:custGeom>
              <a:avLst/>
              <a:gdLst/>
              <a:ahLst/>
              <a:cxnLst/>
              <a:rect l="l" t="t" r="r" b="b"/>
              <a:pathLst>
                <a:path w="5852160" h="1243584">
                  <a:moveTo>
                    <a:pt x="0" y="0"/>
                  </a:moveTo>
                  <a:lnTo>
                    <a:pt x="5852160" y="0"/>
                  </a:lnTo>
                  <a:lnTo>
                    <a:pt x="585216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694" b="-41694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47625"/>
              <a:ext cx="5852160" cy="12912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Receive structured scores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995160" y="5143500"/>
            <a:ext cx="9601200" cy="960120"/>
            <a:chOff x="0" y="0"/>
            <a:chExt cx="12801600" cy="128016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2801600" cy="1280160"/>
            </a:xfrm>
            <a:custGeom>
              <a:avLst/>
              <a:gdLst/>
              <a:ahLst/>
              <a:cxnLst/>
              <a:rect l="l" t="t" r="r" b="b"/>
              <a:pathLst>
                <a:path w="12801600" h="1280160">
                  <a:moveTo>
                    <a:pt x="0" y="0"/>
                  </a:moveTo>
                  <a:lnTo>
                    <a:pt x="12801600" y="0"/>
                  </a:lnTo>
                  <a:lnTo>
                    <a:pt x="128016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57150"/>
              <a:ext cx="12801600" cy="13373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5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Gemini returns scores{relevance, clarity, confidence, communication, overall} (0–10) plus strengths, weaknesses, suggestions &amp; an improved example.</a:t>
              </a:r>
            </a:p>
          </p:txBody>
        </p:sp>
      </p:grpSp>
      <p:sp>
        <p:nvSpPr>
          <p:cNvPr id="53" name="AutoShape 53"/>
          <p:cNvSpPr/>
          <p:nvPr/>
        </p:nvSpPr>
        <p:spPr>
          <a:xfrm rot="5044680">
            <a:off x="1301706" y="6354699"/>
            <a:ext cx="276939" cy="0"/>
          </a:xfrm>
          <a:prstGeom prst="line">
            <a:avLst/>
          </a:prstGeom>
          <a:ln w="19050" cap="rnd">
            <a:solidFill>
              <a:srgbClr val="2E3B5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4" name="Group 54"/>
          <p:cNvGrpSpPr/>
          <p:nvPr/>
        </p:nvGrpSpPr>
        <p:grpSpPr>
          <a:xfrm>
            <a:off x="1003078" y="6530626"/>
            <a:ext cx="874205" cy="874205"/>
            <a:chOff x="0" y="0"/>
            <a:chExt cx="1165606" cy="1165606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165606" cy="1165606"/>
            </a:xfrm>
            <a:custGeom>
              <a:avLst/>
              <a:gdLst/>
              <a:ahLst/>
              <a:cxnLst/>
              <a:rect l="l" t="t" r="r" b="b"/>
              <a:pathLst>
                <a:path w="1165606" h="1165606">
                  <a:moveTo>
                    <a:pt x="0" y="582803"/>
                  </a:moveTo>
                  <a:cubicBezTo>
                    <a:pt x="0" y="260985"/>
                    <a:pt x="260985" y="0"/>
                    <a:pt x="582803" y="0"/>
                  </a:cubicBezTo>
                  <a:cubicBezTo>
                    <a:pt x="904621" y="0"/>
                    <a:pt x="1165606" y="260985"/>
                    <a:pt x="1165606" y="582803"/>
                  </a:cubicBezTo>
                  <a:cubicBezTo>
                    <a:pt x="1165606" y="904621"/>
                    <a:pt x="904621" y="1165606"/>
                    <a:pt x="582803" y="1165606"/>
                  </a:cubicBezTo>
                  <a:cubicBezTo>
                    <a:pt x="260985" y="1165606"/>
                    <a:pt x="0" y="904621"/>
                    <a:pt x="0" y="582803"/>
                  </a:cubicBezTo>
                  <a:close/>
                </a:path>
              </a:pathLst>
            </a:custGeom>
            <a:solidFill>
              <a:srgbClr val="FBBF24">
                <a:alpha val="3137"/>
              </a:srgbClr>
            </a:solidFill>
            <a:ln w="23812" cap="sq">
              <a:solidFill>
                <a:srgbClr val="FBBF24"/>
              </a:solidFill>
              <a:prstDash val="solid"/>
              <a:miter/>
            </a:ln>
          </p:spPr>
        </p:sp>
      </p:grpSp>
      <p:grpSp>
        <p:nvGrpSpPr>
          <p:cNvPr id="56" name="Group 56"/>
          <p:cNvGrpSpPr/>
          <p:nvPr/>
        </p:nvGrpSpPr>
        <p:grpSpPr>
          <a:xfrm>
            <a:off x="1014984" y="6542532"/>
            <a:ext cx="850392" cy="850392"/>
            <a:chOff x="0" y="0"/>
            <a:chExt cx="1133856" cy="1133856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133856" cy="1133856"/>
            </a:xfrm>
            <a:custGeom>
              <a:avLst/>
              <a:gdLst/>
              <a:ahLst/>
              <a:cxnLst/>
              <a:rect l="l" t="t" r="r" b="b"/>
              <a:pathLst>
                <a:path w="1133856" h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47625"/>
              <a:ext cx="1133856" cy="11814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01"/>
                </a:lnSpc>
              </a:pPr>
              <a:r>
                <a:rPr lang="en-US" sz="2418" b="1">
                  <a:solidFill>
                    <a:srgbClr val="FBBF2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2116455" y="6478143"/>
            <a:ext cx="14695170" cy="1198626"/>
            <a:chOff x="0" y="0"/>
            <a:chExt cx="19593560" cy="1598168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9593561" cy="1598168"/>
            </a:xfrm>
            <a:custGeom>
              <a:avLst/>
              <a:gdLst/>
              <a:ahLst/>
              <a:cxnLst/>
              <a:rect l="l" t="t" r="r" b="b"/>
              <a:pathLst>
                <a:path w="19593561" h="1598168">
                  <a:moveTo>
                    <a:pt x="0" y="167259"/>
                  </a:moveTo>
                  <a:cubicBezTo>
                    <a:pt x="0" y="74930"/>
                    <a:pt x="74930" y="0"/>
                    <a:pt x="167259" y="0"/>
                  </a:cubicBezTo>
                  <a:lnTo>
                    <a:pt x="19426301" y="0"/>
                  </a:lnTo>
                  <a:cubicBezTo>
                    <a:pt x="19518630" y="0"/>
                    <a:pt x="19593561" y="74930"/>
                    <a:pt x="19593561" y="167259"/>
                  </a:cubicBezTo>
                  <a:lnTo>
                    <a:pt x="19593561" y="1430909"/>
                  </a:lnTo>
                  <a:cubicBezTo>
                    <a:pt x="19593561" y="1523238"/>
                    <a:pt x="19518630" y="1598168"/>
                    <a:pt x="19426301" y="1598168"/>
                  </a:cubicBezTo>
                  <a:lnTo>
                    <a:pt x="167259" y="1598168"/>
                  </a:lnTo>
                  <a:cubicBezTo>
                    <a:pt x="74930" y="1598168"/>
                    <a:pt x="0" y="1523238"/>
                    <a:pt x="0" y="1430909"/>
                  </a:cubicBezTo>
                  <a:close/>
                </a:path>
              </a:pathLst>
            </a:custGeom>
            <a:solidFill>
              <a:srgbClr val="1E293B"/>
            </a:solidFill>
            <a:ln w="19050" cap="sq">
              <a:solidFill>
                <a:srgbClr val="2E3B52"/>
              </a:solidFill>
              <a:prstDash val="solid"/>
              <a:miter/>
            </a:ln>
          </p:spPr>
        </p:sp>
      </p:grpSp>
      <p:grpSp>
        <p:nvGrpSpPr>
          <p:cNvPr id="61" name="Group 61"/>
          <p:cNvGrpSpPr/>
          <p:nvPr/>
        </p:nvGrpSpPr>
        <p:grpSpPr>
          <a:xfrm>
            <a:off x="2468880" y="6597396"/>
            <a:ext cx="4389120" cy="932688"/>
            <a:chOff x="0" y="0"/>
            <a:chExt cx="5852160" cy="1243584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5852160" cy="1243584"/>
            </a:xfrm>
            <a:custGeom>
              <a:avLst/>
              <a:gdLst/>
              <a:ahLst/>
              <a:cxnLst/>
              <a:rect l="l" t="t" r="r" b="b"/>
              <a:pathLst>
                <a:path w="5852160" h="1243584">
                  <a:moveTo>
                    <a:pt x="0" y="0"/>
                  </a:moveTo>
                  <a:lnTo>
                    <a:pt x="5852160" y="0"/>
                  </a:lnTo>
                  <a:lnTo>
                    <a:pt x="585216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694" b="-41694"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0" y="-47625"/>
              <a:ext cx="5852160" cy="12912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Persist as Feedback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6995160" y="6597396"/>
            <a:ext cx="9601200" cy="960120"/>
            <a:chOff x="0" y="0"/>
            <a:chExt cx="12801600" cy="128016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12801600" cy="1280160"/>
            </a:xfrm>
            <a:custGeom>
              <a:avLst/>
              <a:gdLst/>
              <a:ahLst/>
              <a:cxnLst/>
              <a:rect l="l" t="t" r="r" b="b"/>
              <a:pathLst>
                <a:path w="12801600" h="1280160">
                  <a:moveTo>
                    <a:pt x="0" y="0"/>
                  </a:moveTo>
                  <a:lnTo>
                    <a:pt x="12801600" y="0"/>
                  </a:lnTo>
                  <a:lnTo>
                    <a:pt x="128016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66" name="TextBox 66"/>
            <p:cNvSpPr txBox="1"/>
            <p:nvPr/>
          </p:nvSpPr>
          <p:spPr>
            <a:xfrm>
              <a:off x="0" y="-57150"/>
              <a:ext cx="12801600" cy="13373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5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parsed result is saved as a Feedback document, linked to the InterviewSession and the Question, then returned to the UI.</a:t>
              </a:r>
            </a:p>
          </p:txBody>
        </p:sp>
      </p:grpSp>
      <p:sp>
        <p:nvSpPr>
          <p:cNvPr id="67" name="AutoShape 67"/>
          <p:cNvSpPr/>
          <p:nvPr/>
        </p:nvSpPr>
        <p:spPr>
          <a:xfrm rot="5044680">
            <a:off x="1301706" y="7808595"/>
            <a:ext cx="276939" cy="0"/>
          </a:xfrm>
          <a:prstGeom prst="line">
            <a:avLst/>
          </a:prstGeom>
          <a:ln w="19050" cap="rnd">
            <a:solidFill>
              <a:srgbClr val="2E3B5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8" name="Group 68"/>
          <p:cNvGrpSpPr/>
          <p:nvPr/>
        </p:nvGrpSpPr>
        <p:grpSpPr>
          <a:xfrm>
            <a:off x="1003078" y="7984522"/>
            <a:ext cx="874205" cy="874205"/>
            <a:chOff x="0" y="0"/>
            <a:chExt cx="1165606" cy="1165606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1165606" cy="1165606"/>
            </a:xfrm>
            <a:custGeom>
              <a:avLst/>
              <a:gdLst/>
              <a:ahLst/>
              <a:cxnLst/>
              <a:rect l="l" t="t" r="r" b="b"/>
              <a:pathLst>
                <a:path w="1165606" h="1165606">
                  <a:moveTo>
                    <a:pt x="0" y="582803"/>
                  </a:moveTo>
                  <a:cubicBezTo>
                    <a:pt x="0" y="260985"/>
                    <a:pt x="260985" y="0"/>
                    <a:pt x="582803" y="0"/>
                  </a:cubicBezTo>
                  <a:cubicBezTo>
                    <a:pt x="904621" y="0"/>
                    <a:pt x="1165606" y="260985"/>
                    <a:pt x="1165606" y="582803"/>
                  </a:cubicBezTo>
                  <a:cubicBezTo>
                    <a:pt x="1165606" y="904621"/>
                    <a:pt x="904621" y="1165606"/>
                    <a:pt x="582803" y="1165606"/>
                  </a:cubicBezTo>
                  <a:cubicBezTo>
                    <a:pt x="260985" y="1165606"/>
                    <a:pt x="0" y="904621"/>
                    <a:pt x="0" y="582803"/>
                  </a:cubicBezTo>
                  <a:close/>
                </a:path>
              </a:pathLst>
            </a:custGeom>
            <a:solidFill>
              <a:srgbClr val="F87171">
                <a:alpha val="3137"/>
              </a:srgbClr>
            </a:solidFill>
            <a:ln w="23812" cap="sq">
              <a:solidFill>
                <a:srgbClr val="F87171"/>
              </a:solidFill>
              <a:prstDash val="solid"/>
              <a:miter/>
            </a:ln>
          </p:spPr>
        </p:sp>
      </p:grpSp>
      <p:grpSp>
        <p:nvGrpSpPr>
          <p:cNvPr id="70" name="Group 70"/>
          <p:cNvGrpSpPr/>
          <p:nvPr/>
        </p:nvGrpSpPr>
        <p:grpSpPr>
          <a:xfrm>
            <a:off x="1014984" y="7996428"/>
            <a:ext cx="850392" cy="850392"/>
            <a:chOff x="0" y="0"/>
            <a:chExt cx="1133856" cy="1133856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1133856" cy="1133856"/>
            </a:xfrm>
            <a:custGeom>
              <a:avLst/>
              <a:gdLst/>
              <a:ahLst/>
              <a:cxnLst/>
              <a:rect l="l" t="t" r="r" b="b"/>
              <a:pathLst>
                <a:path w="1133856" h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72" name="TextBox 72"/>
            <p:cNvSpPr txBox="1"/>
            <p:nvPr/>
          </p:nvSpPr>
          <p:spPr>
            <a:xfrm>
              <a:off x="0" y="-47625"/>
              <a:ext cx="1133856" cy="11814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01"/>
                </a:lnSpc>
              </a:pPr>
              <a:r>
                <a:rPr lang="en-US" sz="2418" b="1">
                  <a:solidFill>
                    <a:srgbClr val="F8717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2116455" y="7932039"/>
            <a:ext cx="14695170" cy="1198626"/>
            <a:chOff x="0" y="0"/>
            <a:chExt cx="19593560" cy="1598168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19593561" cy="1598168"/>
            </a:xfrm>
            <a:custGeom>
              <a:avLst/>
              <a:gdLst/>
              <a:ahLst/>
              <a:cxnLst/>
              <a:rect l="l" t="t" r="r" b="b"/>
              <a:pathLst>
                <a:path w="19593561" h="1598168">
                  <a:moveTo>
                    <a:pt x="0" y="167259"/>
                  </a:moveTo>
                  <a:cubicBezTo>
                    <a:pt x="0" y="74930"/>
                    <a:pt x="74930" y="0"/>
                    <a:pt x="167259" y="0"/>
                  </a:cubicBezTo>
                  <a:lnTo>
                    <a:pt x="19426301" y="0"/>
                  </a:lnTo>
                  <a:cubicBezTo>
                    <a:pt x="19518630" y="0"/>
                    <a:pt x="19593561" y="74930"/>
                    <a:pt x="19593561" y="167259"/>
                  </a:cubicBezTo>
                  <a:lnTo>
                    <a:pt x="19593561" y="1430909"/>
                  </a:lnTo>
                  <a:cubicBezTo>
                    <a:pt x="19593561" y="1523238"/>
                    <a:pt x="19518630" y="1598168"/>
                    <a:pt x="19426301" y="1598168"/>
                  </a:cubicBezTo>
                  <a:lnTo>
                    <a:pt x="167259" y="1598168"/>
                  </a:lnTo>
                  <a:cubicBezTo>
                    <a:pt x="74930" y="1598168"/>
                    <a:pt x="0" y="1523238"/>
                    <a:pt x="0" y="1430909"/>
                  </a:cubicBezTo>
                  <a:close/>
                </a:path>
              </a:pathLst>
            </a:custGeom>
            <a:solidFill>
              <a:srgbClr val="1E293B"/>
            </a:solidFill>
            <a:ln w="19050" cap="sq">
              <a:solidFill>
                <a:srgbClr val="2E3B52"/>
              </a:solidFill>
              <a:prstDash val="solid"/>
              <a:miter/>
            </a:ln>
          </p:spPr>
        </p:sp>
      </p:grpSp>
      <p:grpSp>
        <p:nvGrpSpPr>
          <p:cNvPr id="75" name="Group 75"/>
          <p:cNvGrpSpPr/>
          <p:nvPr/>
        </p:nvGrpSpPr>
        <p:grpSpPr>
          <a:xfrm>
            <a:off x="2468880" y="8051292"/>
            <a:ext cx="4389120" cy="932688"/>
            <a:chOff x="0" y="0"/>
            <a:chExt cx="5852160" cy="1243584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5852160" cy="1243584"/>
            </a:xfrm>
            <a:custGeom>
              <a:avLst/>
              <a:gdLst/>
              <a:ahLst/>
              <a:cxnLst/>
              <a:rect l="l" t="t" r="r" b="b"/>
              <a:pathLst>
                <a:path w="5852160" h="1243584">
                  <a:moveTo>
                    <a:pt x="0" y="0"/>
                  </a:moveTo>
                  <a:lnTo>
                    <a:pt x="5852160" y="0"/>
                  </a:lnTo>
                  <a:lnTo>
                    <a:pt x="585216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694" b="-41694"/>
              </a:stretch>
            </a:blipFill>
          </p:spPr>
        </p:sp>
        <p:sp>
          <p:nvSpPr>
            <p:cNvPr id="77" name="TextBox 77"/>
            <p:cNvSpPr txBox="1"/>
            <p:nvPr/>
          </p:nvSpPr>
          <p:spPr>
            <a:xfrm>
              <a:off x="0" y="-47625"/>
              <a:ext cx="5852160" cy="12912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Fail-safe fallback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6995160" y="8051292"/>
            <a:ext cx="9601200" cy="960120"/>
            <a:chOff x="0" y="0"/>
            <a:chExt cx="12801600" cy="1280160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12801600" cy="1280160"/>
            </a:xfrm>
            <a:custGeom>
              <a:avLst/>
              <a:gdLst/>
              <a:ahLst/>
              <a:cxnLst/>
              <a:rect l="l" t="t" r="r" b="b"/>
              <a:pathLst>
                <a:path w="12801600" h="1280160">
                  <a:moveTo>
                    <a:pt x="0" y="0"/>
                  </a:moveTo>
                  <a:lnTo>
                    <a:pt x="12801600" y="0"/>
                  </a:lnTo>
                  <a:lnTo>
                    <a:pt x="128016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80" name="TextBox 80"/>
            <p:cNvSpPr txBox="1"/>
            <p:nvPr/>
          </p:nvSpPr>
          <p:spPr>
            <a:xfrm>
              <a:off x="0" y="-57150"/>
              <a:ext cx="12801600" cy="13373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5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If the API key is missing or the call errors, a local heuristic scorer (word count + idealPoints keyword match) keeps the app fully functional.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822960" y="9710928"/>
            <a:ext cx="8229600" cy="411480"/>
            <a:chOff x="0" y="0"/>
            <a:chExt cx="10972800" cy="548640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10972800" cy="548640"/>
            </a:xfrm>
            <a:custGeom>
              <a:avLst/>
              <a:gdLst/>
              <a:ahLst/>
              <a:cxnLst/>
              <a:rect l="l" t="t" r="r" b="b"/>
              <a:pathLst>
                <a:path w="10972800" h="54864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83" name="TextBox 83"/>
            <p:cNvSpPr txBox="1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Interview Practice Platform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16641623" y="9710928"/>
            <a:ext cx="822960" cy="411480"/>
            <a:chOff x="0" y="0"/>
            <a:chExt cx="1097280" cy="548640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1097280" cy="548640"/>
            </a:xfrm>
            <a:custGeom>
              <a:avLst/>
              <a:gdLst/>
              <a:ahLst/>
              <a:cxnLst/>
              <a:rect l="l" t="t" r="r" b="b"/>
              <a:pathLst>
                <a:path w="1097280" h="54864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86" name="TextBox 86"/>
            <p:cNvSpPr txBox="1"/>
            <p:nvPr/>
          </p:nvSpPr>
          <p:spPr>
            <a:xfrm>
              <a:off x="0" y="-28575"/>
              <a:ext cx="109728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  <p:pic>
        <p:nvPicPr>
          <p:cNvPr id="88" name="Picture 87" descr="Our Team - KLH Bachupally">
            <a:extLst>
              <a:ext uri="{FF2B5EF4-FFF2-40B4-BE49-F238E27FC236}">
                <a16:creationId xmlns:a16="http://schemas.microsoft.com/office/drawing/2014/main" id="{A761BC37-7B6F-D7D9-BEC6-8B13500755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72054" y="0"/>
            <a:ext cx="3115946" cy="16196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480060"/>
            <a:ext cx="10972800" cy="411480"/>
            <a:chOff x="0" y="0"/>
            <a:chExt cx="14630400" cy="5486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0400" cy="548640"/>
            </a:xfrm>
            <a:custGeom>
              <a:avLst/>
              <a:gdLst/>
              <a:ahLst/>
              <a:cxnLst/>
              <a:rect l="l" t="t" r="r" b="b"/>
              <a:pathLst>
                <a:path w="14630400" h="54864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9601" b="-469601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300">
                  <a:solidFill>
                    <a:srgbClr val="818C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THE PLATFORM DOES FOR THE USER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850392"/>
            <a:ext cx="15773400" cy="960120"/>
            <a:chOff x="0" y="0"/>
            <a:chExt cx="21031200" cy="12801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031200" cy="1280160"/>
            </a:xfrm>
            <a:custGeom>
              <a:avLst/>
              <a:gdLst/>
              <a:ahLst/>
              <a:cxnLst/>
              <a:rect l="l" t="t" r="r" b="b"/>
              <a:pathLst>
                <a:path w="21031200" h="128016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0111" b="-270111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21031200" cy="13658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Core Features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035583" y="548640"/>
            <a:ext cx="3429000" cy="411480"/>
            <a:chOff x="0" y="0"/>
            <a:chExt cx="4572000" cy="5486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572000" cy="548640"/>
            </a:xfrm>
            <a:custGeom>
              <a:avLst/>
              <a:gdLst/>
              <a:ahLst/>
              <a:cxnLst/>
              <a:rect l="l" t="t" r="r" b="b"/>
              <a:pathLst>
                <a:path w="4572000" h="548640">
                  <a:moveTo>
                    <a:pt x="0" y="0"/>
                  </a:moveTo>
                  <a:lnTo>
                    <a:pt x="4572000" y="0"/>
                  </a:lnTo>
                  <a:lnTo>
                    <a:pt x="4572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2375" b="-112375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45720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980"/>
                </a:lnSpc>
              </a:pPr>
              <a:r>
                <a:rPr lang="en-US" sz="1650" b="1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INTTE</a:t>
              </a:r>
              <a:r>
                <a:rPr lang="en-US" sz="1650" b="1">
                  <a:solidFill>
                    <a:srgbClr val="818C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REE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 rot="3960">
            <a:off x="813425" y="1750886"/>
            <a:ext cx="16660682" cy="0"/>
          </a:xfrm>
          <a:prstGeom prst="line">
            <a:avLst/>
          </a:prstGeom>
          <a:ln w="9525" cap="rnd">
            <a:solidFill>
              <a:srgbClr val="2E3B5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>
            <a:off x="813435" y="2185035"/>
            <a:ext cx="5299710" cy="3242310"/>
            <a:chOff x="0" y="0"/>
            <a:chExt cx="7066280" cy="432308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066280" cy="4323080"/>
            </a:xfrm>
            <a:custGeom>
              <a:avLst/>
              <a:gdLst/>
              <a:ahLst/>
              <a:cxnLst/>
              <a:rect l="l" t="t" r="r" b="b"/>
              <a:pathLst>
                <a:path w="7066280" h="4323080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6900672" y="0"/>
                  </a:lnTo>
                  <a:cubicBezTo>
                    <a:pt x="6992112" y="0"/>
                    <a:pt x="7066280" y="74168"/>
                    <a:pt x="7066280" y="165608"/>
                  </a:cubicBezTo>
                  <a:lnTo>
                    <a:pt x="7066280" y="4157472"/>
                  </a:lnTo>
                  <a:cubicBezTo>
                    <a:pt x="7066280" y="4248912"/>
                    <a:pt x="6992112" y="4323080"/>
                    <a:pt x="6900672" y="4323080"/>
                  </a:cubicBezTo>
                  <a:lnTo>
                    <a:pt x="165608" y="4323080"/>
                  </a:lnTo>
                  <a:cubicBezTo>
                    <a:pt x="74168" y="4323080"/>
                    <a:pt x="0" y="4248912"/>
                    <a:pt x="0" y="4157472"/>
                  </a:cubicBezTo>
                  <a:close/>
                </a:path>
              </a:pathLst>
            </a:custGeom>
            <a:solidFill>
              <a:srgbClr val="1E293B"/>
            </a:solidFill>
            <a:ln w="19050" cap="sq">
              <a:solidFill>
                <a:srgbClr val="2E3B52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085374" y="2456974"/>
            <a:ext cx="846773" cy="846773"/>
            <a:chOff x="0" y="0"/>
            <a:chExt cx="1129030" cy="112903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29030" cy="1129030"/>
            </a:xfrm>
            <a:custGeom>
              <a:avLst/>
              <a:gdLst/>
              <a:ahLst/>
              <a:cxnLst/>
              <a:rect l="l" t="t" r="r" b="b"/>
              <a:pathLst>
                <a:path w="1129030" h="1129030">
                  <a:moveTo>
                    <a:pt x="0" y="564515"/>
                  </a:moveTo>
                  <a:cubicBezTo>
                    <a:pt x="0" y="252730"/>
                    <a:pt x="252730" y="0"/>
                    <a:pt x="564515" y="0"/>
                  </a:cubicBezTo>
                  <a:cubicBezTo>
                    <a:pt x="876300" y="0"/>
                    <a:pt x="1129030" y="252730"/>
                    <a:pt x="1129030" y="564515"/>
                  </a:cubicBezTo>
                  <a:cubicBezTo>
                    <a:pt x="1129030" y="876300"/>
                    <a:pt x="876300" y="1129030"/>
                    <a:pt x="564515" y="1129030"/>
                  </a:cubicBezTo>
                  <a:cubicBezTo>
                    <a:pt x="252730" y="1129030"/>
                    <a:pt x="0" y="876300"/>
                    <a:pt x="0" y="564515"/>
                  </a:cubicBezTo>
                  <a:close/>
                </a:path>
              </a:pathLst>
            </a:custGeom>
            <a:solidFill>
              <a:srgbClr val="818CF8">
                <a:alpha val="3137"/>
              </a:srgbClr>
            </a:solidFill>
            <a:ln w="23812" cap="sq">
              <a:solidFill>
                <a:srgbClr val="818CF8"/>
              </a:solidFill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1097280" y="2468880"/>
            <a:ext cx="822960" cy="822960"/>
            <a:chOff x="0" y="0"/>
            <a:chExt cx="1097280" cy="109728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1097280" cy="11544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08"/>
                </a:lnSpc>
              </a:pPr>
              <a:r>
                <a:rPr lang="en-US" sz="2340" b="1">
                  <a:solidFill>
                    <a:srgbClr val="818C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CFG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165860" y="3566160"/>
            <a:ext cx="4594860" cy="685800"/>
            <a:chOff x="0" y="0"/>
            <a:chExt cx="6126480" cy="9144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126480" cy="914400"/>
            </a:xfrm>
            <a:custGeom>
              <a:avLst/>
              <a:gdLst/>
              <a:ahLst/>
              <a:cxnLst/>
              <a:rect l="l" t="t" r="r" b="b"/>
              <a:pathLst>
                <a:path w="6126480" h="914400">
                  <a:moveTo>
                    <a:pt x="0" y="0"/>
                  </a:moveTo>
                  <a:lnTo>
                    <a:pt x="6126480" y="0"/>
                  </a:lnTo>
                  <a:lnTo>
                    <a:pt x="61264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0549" b="-80549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612648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Configurable Sessions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165860" y="4142232"/>
            <a:ext cx="4594860" cy="1165860"/>
            <a:chOff x="0" y="0"/>
            <a:chExt cx="6126480" cy="155448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126480" cy="1554480"/>
            </a:xfrm>
            <a:custGeom>
              <a:avLst/>
              <a:gdLst/>
              <a:ahLst/>
              <a:cxnLst/>
              <a:rect l="l" t="t" r="r" b="b"/>
              <a:pathLst>
                <a:path w="6126480" h="1554480">
                  <a:moveTo>
                    <a:pt x="0" y="0"/>
                  </a:moveTo>
                  <a:lnTo>
                    <a:pt x="6126480" y="0"/>
                  </a:lnTo>
                  <a:lnTo>
                    <a:pt x="61264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793" b="-26793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66675"/>
              <a:ext cx="6126480" cy="16211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5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Category (Technical / Behavioral / HR / System Design / Mixed), target role and 1–10 questions per session.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368415" y="2185035"/>
            <a:ext cx="5299710" cy="3242310"/>
            <a:chOff x="0" y="0"/>
            <a:chExt cx="7066280" cy="432308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066280" cy="4323080"/>
            </a:xfrm>
            <a:custGeom>
              <a:avLst/>
              <a:gdLst/>
              <a:ahLst/>
              <a:cxnLst/>
              <a:rect l="l" t="t" r="r" b="b"/>
              <a:pathLst>
                <a:path w="7066280" h="4323080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6900672" y="0"/>
                  </a:lnTo>
                  <a:cubicBezTo>
                    <a:pt x="6992112" y="0"/>
                    <a:pt x="7066280" y="74168"/>
                    <a:pt x="7066280" y="165608"/>
                  </a:cubicBezTo>
                  <a:lnTo>
                    <a:pt x="7066280" y="4157472"/>
                  </a:lnTo>
                  <a:cubicBezTo>
                    <a:pt x="7066280" y="4248912"/>
                    <a:pt x="6992112" y="4323080"/>
                    <a:pt x="6900672" y="4323080"/>
                  </a:cubicBezTo>
                  <a:lnTo>
                    <a:pt x="165608" y="4323080"/>
                  </a:lnTo>
                  <a:cubicBezTo>
                    <a:pt x="74168" y="4323080"/>
                    <a:pt x="0" y="4248912"/>
                    <a:pt x="0" y="4157472"/>
                  </a:cubicBezTo>
                  <a:close/>
                </a:path>
              </a:pathLst>
            </a:custGeom>
            <a:solidFill>
              <a:srgbClr val="1E293B"/>
            </a:solidFill>
            <a:ln w="19050" cap="sq">
              <a:solidFill>
                <a:srgbClr val="2E3B52"/>
              </a:solidFill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6640354" y="2456974"/>
            <a:ext cx="846773" cy="846773"/>
            <a:chOff x="0" y="0"/>
            <a:chExt cx="1129030" cy="112903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129030" cy="1129030"/>
            </a:xfrm>
            <a:custGeom>
              <a:avLst/>
              <a:gdLst/>
              <a:ahLst/>
              <a:cxnLst/>
              <a:rect l="l" t="t" r="r" b="b"/>
              <a:pathLst>
                <a:path w="1129030" h="1129030">
                  <a:moveTo>
                    <a:pt x="0" y="564515"/>
                  </a:moveTo>
                  <a:cubicBezTo>
                    <a:pt x="0" y="252730"/>
                    <a:pt x="252730" y="0"/>
                    <a:pt x="564515" y="0"/>
                  </a:cubicBezTo>
                  <a:cubicBezTo>
                    <a:pt x="876300" y="0"/>
                    <a:pt x="1129030" y="252730"/>
                    <a:pt x="1129030" y="564515"/>
                  </a:cubicBezTo>
                  <a:cubicBezTo>
                    <a:pt x="1129030" y="876300"/>
                    <a:pt x="876300" y="1129030"/>
                    <a:pt x="564515" y="1129030"/>
                  </a:cubicBezTo>
                  <a:cubicBezTo>
                    <a:pt x="252730" y="1129030"/>
                    <a:pt x="0" y="876300"/>
                    <a:pt x="0" y="564515"/>
                  </a:cubicBezTo>
                  <a:close/>
                </a:path>
              </a:pathLst>
            </a:custGeom>
            <a:solidFill>
              <a:srgbClr val="34D399">
                <a:alpha val="3137"/>
              </a:srgbClr>
            </a:solidFill>
            <a:ln w="23812" cap="sq">
              <a:solidFill>
                <a:srgbClr val="34D399"/>
              </a:solidFill>
              <a:prstDash val="solid"/>
              <a:miter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6652260" y="2468880"/>
            <a:ext cx="822960" cy="822960"/>
            <a:chOff x="0" y="0"/>
            <a:chExt cx="1097280" cy="109728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57150"/>
              <a:ext cx="1097280" cy="11544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08"/>
                </a:lnSpc>
              </a:pPr>
              <a:r>
                <a:rPr lang="en-US" sz="2340" b="1">
                  <a:solidFill>
                    <a:srgbClr val="34D3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5D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720840" y="3566160"/>
            <a:ext cx="4594860" cy="685800"/>
            <a:chOff x="0" y="0"/>
            <a:chExt cx="6126480" cy="9144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126480" cy="914400"/>
            </a:xfrm>
            <a:custGeom>
              <a:avLst/>
              <a:gdLst/>
              <a:ahLst/>
              <a:cxnLst/>
              <a:rect l="l" t="t" r="r" b="b"/>
              <a:pathLst>
                <a:path w="6126480" h="914400">
                  <a:moveTo>
                    <a:pt x="0" y="0"/>
                  </a:moveTo>
                  <a:lnTo>
                    <a:pt x="6126480" y="0"/>
                  </a:lnTo>
                  <a:lnTo>
                    <a:pt x="61264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0549" b="-80549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47625"/>
              <a:ext cx="612648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5-Dimension AI Scoring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720840" y="4142232"/>
            <a:ext cx="4594860" cy="1165860"/>
            <a:chOff x="0" y="0"/>
            <a:chExt cx="6126480" cy="155448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6126480" cy="1554480"/>
            </a:xfrm>
            <a:custGeom>
              <a:avLst/>
              <a:gdLst/>
              <a:ahLst/>
              <a:cxnLst/>
              <a:rect l="l" t="t" r="r" b="b"/>
              <a:pathLst>
                <a:path w="6126480" h="1554480">
                  <a:moveTo>
                    <a:pt x="0" y="0"/>
                  </a:moveTo>
                  <a:lnTo>
                    <a:pt x="6126480" y="0"/>
                  </a:lnTo>
                  <a:lnTo>
                    <a:pt x="61264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793" b="-26793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66675"/>
              <a:ext cx="6126480" cy="16211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5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Relevance, clarity, confidence, communication &amp; overall — each graded 0–10 by Gemini.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1923395" y="2185035"/>
            <a:ext cx="5299710" cy="3242310"/>
            <a:chOff x="0" y="0"/>
            <a:chExt cx="7066280" cy="432308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7066280" cy="4323080"/>
            </a:xfrm>
            <a:custGeom>
              <a:avLst/>
              <a:gdLst/>
              <a:ahLst/>
              <a:cxnLst/>
              <a:rect l="l" t="t" r="r" b="b"/>
              <a:pathLst>
                <a:path w="7066280" h="4323080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6900672" y="0"/>
                  </a:lnTo>
                  <a:cubicBezTo>
                    <a:pt x="6992112" y="0"/>
                    <a:pt x="7066280" y="74168"/>
                    <a:pt x="7066280" y="165608"/>
                  </a:cubicBezTo>
                  <a:lnTo>
                    <a:pt x="7066280" y="4157472"/>
                  </a:lnTo>
                  <a:cubicBezTo>
                    <a:pt x="7066280" y="4248912"/>
                    <a:pt x="6992112" y="4323080"/>
                    <a:pt x="6900672" y="4323080"/>
                  </a:cubicBezTo>
                  <a:lnTo>
                    <a:pt x="165608" y="4323080"/>
                  </a:lnTo>
                  <a:cubicBezTo>
                    <a:pt x="74168" y="4323080"/>
                    <a:pt x="0" y="4248912"/>
                    <a:pt x="0" y="4157472"/>
                  </a:cubicBezTo>
                  <a:close/>
                </a:path>
              </a:pathLst>
            </a:custGeom>
            <a:solidFill>
              <a:srgbClr val="1E293B"/>
            </a:solidFill>
            <a:ln w="19050" cap="sq">
              <a:solidFill>
                <a:srgbClr val="2E3B52"/>
              </a:solidFill>
              <a:prstDash val="solid"/>
              <a:miter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12195334" y="2456974"/>
            <a:ext cx="846773" cy="846773"/>
            <a:chOff x="0" y="0"/>
            <a:chExt cx="1129030" cy="112903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129030" cy="1129030"/>
            </a:xfrm>
            <a:custGeom>
              <a:avLst/>
              <a:gdLst/>
              <a:ahLst/>
              <a:cxnLst/>
              <a:rect l="l" t="t" r="r" b="b"/>
              <a:pathLst>
                <a:path w="1129030" h="1129030">
                  <a:moveTo>
                    <a:pt x="0" y="564515"/>
                  </a:moveTo>
                  <a:cubicBezTo>
                    <a:pt x="0" y="252730"/>
                    <a:pt x="252730" y="0"/>
                    <a:pt x="564515" y="0"/>
                  </a:cubicBezTo>
                  <a:cubicBezTo>
                    <a:pt x="876300" y="0"/>
                    <a:pt x="1129030" y="252730"/>
                    <a:pt x="1129030" y="564515"/>
                  </a:cubicBezTo>
                  <a:cubicBezTo>
                    <a:pt x="1129030" y="876300"/>
                    <a:pt x="876300" y="1129030"/>
                    <a:pt x="564515" y="1129030"/>
                  </a:cubicBezTo>
                  <a:cubicBezTo>
                    <a:pt x="252730" y="1129030"/>
                    <a:pt x="0" y="876300"/>
                    <a:pt x="0" y="564515"/>
                  </a:cubicBezTo>
                  <a:close/>
                </a:path>
              </a:pathLst>
            </a:custGeom>
            <a:solidFill>
              <a:srgbClr val="22D3EE">
                <a:alpha val="3137"/>
              </a:srgbClr>
            </a:solidFill>
            <a:ln w="23812" cap="sq">
              <a:solidFill>
                <a:srgbClr val="22D3EE"/>
              </a:solidFill>
              <a:prstDash val="solid"/>
              <a:miter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12207240" y="2468880"/>
            <a:ext cx="822960" cy="822960"/>
            <a:chOff x="0" y="0"/>
            <a:chExt cx="1097280" cy="109728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57150"/>
              <a:ext cx="1097280" cy="11544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08"/>
                </a:lnSpc>
              </a:pPr>
              <a:r>
                <a:rPr lang="en-US" sz="2340" b="1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MIC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2275820" y="3566160"/>
            <a:ext cx="4594860" cy="685800"/>
            <a:chOff x="0" y="0"/>
            <a:chExt cx="6126480" cy="9144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6126480" cy="914400"/>
            </a:xfrm>
            <a:custGeom>
              <a:avLst/>
              <a:gdLst/>
              <a:ahLst/>
              <a:cxnLst/>
              <a:rect l="l" t="t" r="r" b="b"/>
              <a:pathLst>
                <a:path w="6126480" h="914400">
                  <a:moveTo>
                    <a:pt x="0" y="0"/>
                  </a:moveTo>
                  <a:lnTo>
                    <a:pt x="6126480" y="0"/>
                  </a:lnTo>
                  <a:lnTo>
                    <a:pt x="61264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0549" b="-80549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47625"/>
              <a:ext cx="612648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Voice Dictation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2275820" y="4142232"/>
            <a:ext cx="4594860" cy="1165860"/>
            <a:chOff x="0" y="0"/>
            <a:chExt cx="6126480" cy="155448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6126480" cy="1554480"/>
            </a:xfrm>
            <a:custGeom>
              <a:avLst/>
              <a:gdLst/>
              <a:ahLst/>
              <a:cxnLst/>
              <a:rect l="l" t="t" r="r" b="b"/>
              <a:pathLst>
                <a:path w="6126480" h="1554480">
                  <a:moveTo>
                    <a:pt x="0" y="0"/>
                  </a:moveTo>
                  <a:lnTo>
                    <a:pt x="6126480" y="0"/>
                  </a:lnTo>
                  <a:lnTo>
                    <a:pt x="61264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793" b="-26793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-66675"/>
              <a:ext cx="6126480" cy="16211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5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Web Speech API lets candidates dictate answers instead of typing.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813435" y="5682615"/>
            <a:ext cx="5299710" cy="3242310"/>
            <a:chOff x="0" y="0"/>
            <a:chExt cx="7066280" cy="432308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7066280" cy="4323080"/>
            </a:xfrm>
            <a:custGeom>
              <a:avLst/>
              <a:gdLst/>
              <a:ahLst/>
              <a:cxnLst/>
              <a:rect l="l" t="t" r="r" b="b"/>
              <a:pathLst>
                <a:path w="7066280" h="4323080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6900672" y="0"/>
                  </a:lnTo>
                  <a:cubicBezTo>
                    <a:pt x="6992112" y="0"/>
                    <a:pt x="7066280" y="74168"/>
                    <a:pt x="7066280" y="165608"/>
                  </a:cubicBezTo>
                  <a:lnTo>
                    <a:pt x="7066280" y="4157472"/>
                  </a:lnTo>
                  <a:cubicBezTo>
                    <a:pt x="7066280" y="4248912"/>
                    <a:pt x="6992112" y="4323080"/>
                    <a:pt x="6900672" y="4323080"/>
                  </a:cubicBezTo>
                  <a:lnTo>
                    <a:pt x="165608" y="4323080"/>
                  </a:lnTo>
                  <a:cubicBezTo>
                    <a:pt x="74168" y="4323080"/>
                    <a:pt x="0" y="4248912"/>
                    <a:pt x="0" y="4157472"/>
                  </a:cubicBezTo>
                  <a:close/>
                </a:path>
              </a:pathLst>
            </a:custGeom>
            <a:solidFill>
              <a:srgbClr val="1E293B"/>
            </a:solidFill>
            <a:ln w="19050" cap="sq">
              <a:solidFill>
                <a:srgbClr val="2E3B52"/>
              </a:solidFill>
              <a:prstDash val="solid"/>
              <a:miter/>
            </a:ln>
          </p:spPr>
        </p:sp>
      </p:grpSp>
      <p:grpSp>
        <p:nvGrpSpPr>
          <p:cNvPr id="53" name="Group 53"/>
          <p:cNvGrpSpPr/>
          <p:nvPr/>
        </p:nvGrpSpPr>
        <p:grpSpPr>
          <a:xfrm>
            <a:off x="1085374" y="5954554"/>
            <a:ext cx="846773" cy="846773"/>
            <a:chOff x="0" y="0"/>
            <a:chExt cx="1129030" cy="112903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129030" cy="1129030"/>
            </a:xfrm>
            <a:custGeom>
              <a:avLst/>
              <a:gdLst/>
              <a:ahLst/>
              <a:cxnLst/>
              <a:rect l="l" t="t" r="r" b="b"/>
              <a:pathLst>
                <a:path w="1129030" h="1129030">
                  <a:moveTo>
                    <a:pt x="0" y="564515"/>
                  </a:moveTo>
                  <a:cubicBezTo>
                    <a:pt x="0" y="252730"/>
                    <a:pt x="252730" y="0"/>
                    <a:pt x="564515" y="0"/>
                  </a:cubicBezTo>
                  <a:cubicBezTo>
                    <a:pt x="876300" y="0"/>
                    <a:pt x="1129030" y="252730"/>
                    <a:pt x="1129030" y="564515"/>
                  </a:cubicBezTo>
                  <a:cubicBezTo>
                    <a:pt x="1129030" y="876300"/>
                    <a:pt x="876300" y="1129030"/>
                    <a:pt x="564515" y="1129030"/>
                  </a:cubicBezTo>
                  <a:cubicBezTo>
                    <a:pt x="252730" y="1129030"/>
                    <a:pt x="0" y="876300"/>
                    <a:pt x="0" y="564515"/>
                  </a:cubicBezTo>
                  <a:close/>
                </a:path>
              </a:pathLst>
            </a:custGeom>
            <a:solidFill>
              <a:srgbClr val="FBBF24">
                <a:alpha val="3137"/>
              </a:srgbClr>
            </a:solidFill>
            <a:ln w="23812" cap="sq">
              <a:solidFill>
                <a:srgbClr val="FBBF24"/>
              </a:solidFill>
              <a:prstDash val="solid"/>
              <a:miter/>
            </a:ln>
          </p:spPr>
        </p:sp>
      </p:grpSp>
      <p:grpSp>
        <p:nvGrpSpPr>
          <p:cNvPr id="55" name="Group 55"/>
          <p:cNvGrpSpPr/>
          <p:nvPr/>
        </p:nvGrpSpPr>
        <p:grpSpPr>
          <a:xfrm>
            <a:off x="1097280" y="5966460"/>
            <a:ext cx="822960" cy="822960"/>
            <a:chOff x="0" y="0"/>
            <a:chExt cx="1097280" cy="109728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57" name="TextBox 57"/>
            <p:cNvSpPr txBox="1"/>
            <p:nvPr/>
          </p:nvSpPr>
          <p:spPr>
            <a:xfrm>
              <a:off x="0" y="-57150"/>
              <a:ext cx="1097280" cy="11544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08"/>
                </a:lnSpc>
              </a:pPr>
              <a:r>
                <a:rPr lang="en-US" sz="2340" b="1">
                  <a:solidFill>
                    <a:srgbClr val="FBBF2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CAM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165860" y="7063740"/>
            <a:ext cx="4594860" cy="685800"/>
            <a:chOff x="0" y="0"/>
            <a:chExt cx="6126480" cy="91440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6126480" cy="914400"/>
            </a:xfrm>
            <a:custGeom>
              <a:avLst/>
              <a:gdLst/>
              <a:ahLst/>
              <a:cxnLst/>
              <a:rect l="l" t="t" r="r" b="b"/>
              <a:pathLst>
                <a:path w="6126480" h="914400">
                  <a:moveTo>
                    <a:pt x="0" y="0"/>
                  </a:moveTo>
                  <a:lnTo>
                    <a:pt x="6126480" y="0"/>
                  </a:lnTo>
                  <a:lnTo>
                    <a:pt x="61264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0549" b="-80549"/>
              </a:stretch>
            </a:blipFill>
          </p:spPr>
        </p:sp>
        <p:sp>
          <p:nvSpPr>
            <p:cNvPr id="60" name="TextBox 60"/>
            <p:cNvSpPr txBox="1"/>
            <p:nvPr/>
          </p:nvSpPr>
          <p:spPr>
            <a:xfrm>
              <a:off x="0" y="-47625"/>
              <a:ext cx="612648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Opt-in AI Proctoring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165860" y="7639812"/>
            <a:ext cx="4594860" cy="1165860"/>
            <a:chOff x="0" y="0"/>
            <a:chExt cx="6126480" cy="155448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6126480" cy="1554480"/>
            </a:xfrm>
            <a:custGeom>
              <a:avLst/>
              <a:gdLst/>
              <a:ahLst/>
              <a:cxnLst/>
              <a:rect l="l" t="t" r="r" b="b"/>
              <a:pathLst>
                <a:path w="6126480" h="1554480">
                  <a:moveTo>
                    <a:pt x="0" y="0"/>
                  </a:moveTo>
                  <a:lnTo>
                    <a:pt x="6126480" y="0"/>
                  </a:lnTo>
                  <a:lnTo>
                    <a:pt x="61264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793" b="-26793"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0" y="-66675"/>
              <a:ext cx="6126480" cy="16211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5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Webcam + tab-focus detection produce an integrity score, eye-contact % and flags.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6368415" y="5682615"/>
            <a:ext cx="5299710" cy="3242310"/>
            <a:chOff x="0" y="0"/>
            <a:chExt cx="7066280" cy="432308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7066280" cy="4323080"/>
            </a:xfrm>
            <a:custGeom>
              <a:avLst/>
              <a:gdLst/>
              <a:ahLst/>
              <a:cxnLst/>
              <a:rect l="l" t="t" r="r" b="b"/>
              <a:pathLst>
                <a:path w="7066280" h="4323080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6900672" y="0"/>
                  </a:lnTo>
                  <a:cubicBezTo>
                    <a:pt x="6992112" y="0"/>
                    <a:pt x="7066280" y="74168"/>
                    <a:pt x="7066280" y="165608"/>
                  </a:cubicBezTo>
                  <a:lnTo>
                    <a:pt x="7066280" y="4157472"/>
                  </a:lnTo>
                  <a:cubicBezTo>
                    <a:pt x="7066280" y="4248912"/>
                    <a:pt x="6992112" y="4323080"/>
                    <a:pt x="6900672" y="4323080"/>
                  </a:cubicBezTo>
                  <a:lnTo>
                    <a:pt x="165608" y="4323080"/>
                  </a:lnTo>
                  <a:cubicBezTo>
                    <a:pt x="74168" y="4323080"/>
                    <a:pt x="0" y="4248912"/>
                    <a:pt x="0" y="4157472"/>
                  </a:cubicBezTo>
                  <a:close/>
                </a:path>
              </a:pathLst>
            </a:custGeom>
            <a:solidFill>
              <a:srgbClr val="1E293B"/>
            </a:solidFill>
            <a:ln w="19050" cap="sq">
              <a:solidFill>
                <a:srgbClr val="2E3B52"/>
              </a:solidFill>
              <a:prstDash val="solid"/>
              <a:miter/>
            </a:ln>
          </p:spPr>
        </p:sp>
      </p:grpSp>
      <p:grpSp>
        <p:nvGrpSpPr>
          <p:cNvPr id="66" name="Group 66"/>
          <p:cNvGrpSpPr/>
          <p:nvPr/>
        </p:nvGrpSpPr>
        <p:grpSpPr>
          <a:xfrm>
            <a:off x="6640354" y="5954554"/>
            <a:ext cx="846773" cy="846773"/>
            <a:chOff x="0" y="0"/>
            <a:chExt cx="1129030" cy="112903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1129030" cy="1129030"/>
            </a:xfrm>
            <a:custGeom>
              <a:avLst/>
              <a:gdLst/>
              <a:ahLst/>
              <a:cxnLst/>
              <a:rect l="l" t="t" r="r" b="b"/>
              <a:pathLst>
                <a:path w="1129030" h="1129030">
                  <a:moveTo>
                    <a:pt x="0" y="564515"/>
                  </a:moveTo>
                  <a:cubicBezTo>
                    <a:pt x="0" y="252730"/>
                    <a:pt x="252730" y="0"/>
                    <a:pt x="564515" y="0"/>
                  </a:cubicBezTo>
                  <a:cubicBezTo>
                    <a:pt x="876300" y="0"/>
                    <a:pt x="1129030" y="252730"/>
                    <a:pt x="1129030" y="564515"/>
                  </a:cubicBezTo>
                  <a:cubicBezTo>
                    <a:pt x="1129030" y="876300"/>
                    <a:pt x="876300" y="1129030"/>
                    <a:pt x="564515" y="1129030"/>
                  </a:cubicBezTo>
                  <a:cubicBezTo>
                    <a:pt x="252730" y="1129030"/>
                    <a:pt x="0" y="876300"/>
                    <a:pt x="0" y="564515"/>
                  </a:cubicBezTo>
                  <a:close/>
                </a:path>
              </a:pathLst>
            </a:custGeom>
            <a:solidFill>
              <a:srgbClr val="F472B6">
                <a:alpha val="3137"/>
              </a:srgbClr>
            </a:solidFill>
            <a:ln w="23812" cap="sq">
              <a:solidFill>
                <a:srgbClr val="F472B6"/>
              </a:solidFill>
              <a:prstDash val="solid"/>
              <a:miter/>
            </a:ln>
          </p:spPr>
        </p:sp>
      </p:grpSp>
      <p:grpSp>
        <p:nvGrpSpPr>
          <p:cNvPr id="68" name="Group 68"/>
          <p:cNvGrpSpPr/>
          <p:nvPr/>
        </p:nvGrpSpPr>
        <p:grpSpPr>
          <a:xfrm>
            <a:off x="6652260" y="5966460"/>
            <a:ext cx="822960" cy="822960"/>
            <a:chOff x="0" y="0"/>
            <a:chExt cx="1097280" cy="109728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70" name="TextBox 70"/>
            <p:cNvSpPr txBox="1"/>
            <p:nvPr/>
          </p:nvSpPr>
          <p:spPr>
            <a:xfrm>
              <a:off x="0" y="-57150"/>
              <a:ext cx="1097280" cy="11544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08"/>
                </a:lnSpc>
              </a:pPr>
              <a:r>
                <a:rPr lang="en-US" sz="2340" b="1">
                  <a:solidFill>
                    <a:srgbClr val="F472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PRG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6720840" y="7063740"/>
            <a:ext cx="4594860" cy="685800"/>
            <a:chOff x="0" y="0"/>
            <a:chExt cx="6126480" cy="91440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6126480" cy="914400"/>
            </a:xfrm>
            <a:custGeom>
              <a:avLst/>
              <a:gdLst/>
              <a:ahLst/>
              <a:cxnLst/>
              <a:rect l="l" t="t" r="r" b="b"/>
              <a:pathLst>
                <a:path w="6126480" h="914400">
                  <a:moveTo>
                    <a:pt x="0" y="0"/>
                  </a:moveTo>
                  <a:lnTo>
                    <a:pt x="6126480" y="0"/>
                  </a:lnTo>
                  <a:lnTo>
                    <a:pt x="61264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0549" b="-80549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-47625"/>
              <a:ext cx="612648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Progress Analytics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6720840" y="7639812"/>
            <a:ext cx="4594860" cy="1165860"/>
            <a:chOff x="0" y="0"/>
            <a:chExt cx="6126480" cy="155448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6126480" cy="1554480"/>
            </a:xfrm>
            <a:custGeom>
              <a:avLst/>
              <a:gdLst/>
              <a:ahLst/>
              <a:cxnLst/>
              <a:rect l="l" t="t" r="r" b="b"/>
              <a:pathLst>
                <a:path w="6126480" h="1554480">
                  <a:moveTo>
                    <a:pt x="0" y="0"/>
                  </a:moveTo>
                  <a:lnTo>
                    <a:pt x="6126480" y="0"/>
                  </a:lnTo>
                  <a:lnTo>
                    <a:pt x="61264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793" b="-26793"/>
              </a:stretch>
            </a:blipFill>
          </p:spPr>
        </p:sp>
        <p:sp>
          <p:nvSpPr>
            <p:cNvPr id="76" name="TextBox 76"/>
            <p:cNvSpPr txBox="1"/>
            <p:nvPr/>
          </p:nvSpPr>
          <p:spPr>
            <a:xfrm>
              <a:off x="0" y="-66675"/>
              <a:ext cx="6126480" cy="16211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5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Score-trend chart plus the top 5 recurring weaknesses aggregated across all sessions.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11923395" y="5682615"/>
            <a:ext cx="5299710" cy="3242310"/>
            <a:chOff x="0" y="0"/>
            <a:chExt cx="7066280" cy="4323080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7066280" cy="4323080"/>
            </a:xfrm>
            <a:custGeom>
              <a:avLst/>
              <a:gdLst/>
              <a:ahLst/>
              <a:cxnLst/>
              <a:rect l="l" t="t" r="r" b="b"/>
              <a:pathLst>
                <a:path w="7066280" h="4323080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6900672" y="0"/>
                  </a:lnTo>
                  <a:cubicBezTo>
                    <a:pt x="6992112" y="0"/>
                    <a:pt x="7066280" y="74168"/>
                    <a:pt x="7066280" y="165608"/>
                  </a:cubicBezTo>
                  <a:lnTo>
                    <a:pt x="7066280" y="4157472"/>
                  </a:lnTo>
                  <a:cubicBezTo>
                    <a:pt x="7066280" y="4248912"/>
                    <a:pt x="6992112" y="4323080"/>
                    <a:pt x="6900672" y="4323080"/>
                  </a:cubicBezTo>
                  <a:lnTo>
                    <a:pt x="165608" y="4323080"/>
                  </a:lnTo>
                  <a:cubicBezTo>
                    <a:pt x="74168" y="4323080"/>
                    <a:pt x="0" y="4248912"/>
                    <a:pt x="0" y="4157472"/>
                  </a:cubicBezTo>
                  <a:close/>
                </a:path>
              </a:pathLst>
            </a:custGeom>
            <a:solidFill>
              <a:srgbClr val="1E293B"/>
            </a:solidFill>
            <a:ln w="19050" cap="sq">
              <a:solidFill>
                <a:srgbClr val="2E3B52"/>
              </a:solidFill>
              <a:prstDash val="solid"/>
              <a:miter/>
            </a:ln>
          </p:spPr>
        </p:sp>
      </p:grpSp>
      <p:grpSp>
        <p:nvGrpSpPr>
          <p:cNvPr id="79" name="Group 79"/>
          <p:cNvGrpSpPr/>
          <p:nvPr/>
        </p:nvGrpSpPr>
        <p:grpSpPr>
          <a:xfrm>
            <a:off x="12195334" y="5954554"/>
            <a:ext cx="846773" cy="846773"/>
            <a:chOff x="0" y="0"/>
            <a:chExt cx="1129030" cy="1129030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1129030" cy="1129030"/>
            </a:xfrm>
            <a:custGeom>
              <a:avLst/>
              <a:gdLst/>
              <a:ahLst/>
              <a:cxnLst/>
              <a:rect l="l" t="t" r="r" b="b"/>
              <a:pathLst>
                <a:path w="1129030" h="1129030">
                  <a:moveTo>
                    <a:pt x="0" y="564515"/>
                  </a:moveTo>
                  <a:cubicBezTo>
                    <a:pt x="0" y="252730"/>
                    <a:pt x="252730" y="0"/>
                    <a:pt x="564515" y="0"/>
                  </a:cubicBezTo>
                  <a:cubicBezTo>
                    <a:pt x="876300" y="0"/>
                    <a:pt x="1129030" y="252730"/>
                    <a:pt x="1129030" y="564515"/>
                  </a:cubicBezTo>
                  <a:cubicBezTo>
                    <a:pt x="1129030" y="876300"/>
                    <a:pt x="876300" y="1129030"/>
                    <a:pt x="564515" y="1129030"/>
                  </a:cubicBezTo>
                  <a:cubicBezTo>
                    <a:pt x="252730" y="1129030"/>
                    <a:pt x="0" y="876300"/>
                    <a:pt x="0" y="564515"/>
                  </a:cubicBezTo>
                  <a:close/>
                </a:path>
              </a:pathLst>
            </a:custGeom>
            <a:solidFill>
              <a:srgbClr val="F87171">
                <a:alpha val="3137"/>
              </a:srgbClr>
            </a:solidFill>
            <a:ln w="23812" cap="sq">
              <a:solidFill>
                <a:srgbClr val="F87171"/>
              </a:solidFill>
              <a:prstDash val="solid"/>
              <a:miter/>
            </a:ln>
          </p:spPr>
        </p:sp>
      </p:grpSp>
      <p:grpSp>
        <p:nvGrpSpPr>
          <p:cNvPr id="81" name="Group 81"/>
          <p:cNvGrpSpPr/>
          <p:nvPr/>
        </p:nvGrpSpPr>
        <p:grpSpPr>
          <a:xfrm>
            <a:off x="12207240" y="5966460"/>
            <a:ext cx="822960" cy="822960"/>
            <a:chOff x="0" y="0"/>
            <a:chExt cx="1097280" cy="1097280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83" name="TextBox 83"/>
            <p:cNvSpPr txBox="1"/>
            <p:nvPr/>
          </p:nvSpPr>
          <p:spPr>
            <a:xfrm>
              <a:off x="0" y="-57150"/>
              <a:ext cx="1097280" cy="11544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08"/>
                </a:lnSpc>
              </a:pPr>
              <a:r>
                <a:rPr lang="en-US" sz="2340" b="1">
                  <a:solidFill>
                    <a:srgbClr val="F8717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SAFE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12275820" y="7063740"/>
            <a:ext cx="4594860" cy="685800"/>
            <a:chOff x="0" y="0"/>
            <a:chExt cx="6126480" cy="914400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6126480" cy="914400"/>
            </a:xfrm>
            <a:custGeom>
              <a:avLst/>
              <a:gdLst/>
              <a:ahLst/>
              <a:cxnLst/>
              <a:rect l="l" t="t" r="r" b="b"/>
              <a:pathLst>
                <a:path w="6126480" h="914400">
                  <a:moveTo>
                    <a:pt x="0" y="0"/>
                  </a:moveTo>
                  <a:lnTo>
                    <a:pt x="6126480" y="0"/>
                  </a:lnTo>
                  <a:lnTo>
                    <a:pt x="61264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0549" b="-80549"/>
              </a:stretch>
            </a:blipFill>
          </p:spPr>
        </p:sp>
        <p:sp>
          <p:nvSpPr>
            <p:cNvPr id="86" name="TextBox 86"/>
            <p:cNvSpPr txBox="1"/>
            <p:nvPr/>
          </p:nvSpPr>
          <p:spPr>
            <a:xfrm>
              <a:off x="0" y="-47625"/>
              <a:ext cx="612648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Resilient by Design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12275820" y="7639812"/>
            <a:ext cx="4594860" cy="1165860"/>
            <a:chOff x="0" y="0"/>
            <a:chExt cx="6126480" cy="1554480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6126480" cy="1554480"/>
            </a:xfrm>
            <a:custGeom>
              <a:avLst/>
              <a:gdLst/>
              <a:ahLst/>
              <a:cxnLst/>
              <a:rect l="l" t="t" r="r" b="b"/>
              <a:pathLst>
                <a:path w="6126480" h="1554480">
                  <a:moveTo>
                    <a:pt x="0" y="0"/>
                  </a:moveTo>
                  <a:lnTo>
                    <a:pt x="6126480" y="0"/>
                  </a:lnTo>
                  <a:lnTo>
                    <a:pt x="61264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793" b="-26793"/>
              </a:stretch>
            </a:blipFill>
          </p:spPr>
        </p:sp>
        <p:sp>
          <p:nvSpPr>
            <p:cNvPr id="89" name="TextBox 89"/>
            <p:cNvSpPr txBox="1"/>
            <p:nvPr/>
          </p:nvSpPr>
          <p:spPr>
            <a:xfrm>
              <a:off x="0" y="-66675"/>
              <a:ext cx="6126480" cy="16211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5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Local heuristic fallback keeps grading available even if the Gemini API is down.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822960" y="9710928"/>
            <a:ext cx="8229600" cy="411480"/>
            <a:chOff x="0" y="0"/>
            <a:chExt cx="10972800" cy="548640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10972800" cy="548640"/>
            </a:xfrm>
            <a:custGeom>
              <a:avLst/>
              <a:gdLst/>
              <a:ahLst/>
              <a:cxnLst/>
              <a:rect l="l" t="t" r="r" b="b"/>
              <a:pathLst>
                <a:path w="10972800" h="54864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92" name="TextBox 92"/>
            <p:cNvSpPr txBox="1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Interview Practice Platform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16641623" y="9710928"/>
            <a:ext cx="822960" cy="411480"/>
            <a:chOff x="0" y="0"/>
            <a:chExt cx="1097280" cy="548640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1097280" cy="548640"/>
            </a:xfrm>
            <a:custGeom>
              <a:avLst/>
              <a:gdLst/>
              <a:ahLst/>
              <a:cxnLst/>
              <a:rect l="l" t="t" r="r" b="b"/>
              <a:pathLst>
                <a:path w="1097280" h="54864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95" name="TextBox 95"/>
            <p:cNvSpPr txBox="1"/>
            <p:nvPr/>
          </p:nvSpPr>
          <p:spPr>
            <a:xfrm>
              <a:off x="0" y="-28575"/>
              <a:ext cx="109728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</a:t>
              </a:r>
            </a:p>
          </p:txBody>
        </p:sp>
      </p:grpSp>
      <p:pic>
        <p:nvPicPr>
          <p:cNvPr id="97" name="Picture 96" descr="Our Team - KLH Bachupally">
            <a:extLst>
              <a:ext uri="{FF2B5EF4-FFF2-40B4-BE49-F238E27FC236}">
                <a16:creationId xmlns:a16="http://schemas.microsoft.com/office/drawing/2014/main" id="{0D07803D-F128-2BB4-1D50-A0B65E9777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72054" y="0"/>
            <a:ext cx="3115946" cy="161964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480060"/>
            <a:ext cx="10972800" cy="411480"/>
            <a:chOff x="0" y="0"/>
            <a:chExt cx="14630400" cy="5486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0400" cy="548640"/>
            </a:xfrm>
            <a:custGeom>
              <a:avLst/>
              <a:gdLst/>
              <a:ahLst/>
              <a:cxnLst/>
              <a:rect l="l" t="t" r="r" b="b"/>
              <a:pathLst>
                <a:path w="14630400" h="54864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9601" b="-469601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300">
                  <a:solidFill>
                    <a:srgbClr val="818C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REST API SURFACE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850392"/>
            <a:ext cx="15773400" cy="960120"/>
            <a:chOff x="0" y="0"/>
            <a:chExt cx="21031200" cy="12801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031200" cy="1280160"/>
            </a:xfrm>
            <a:custGeom>
              <a:avLst/>
              <a:gdLst/>
              <a:ahLst/>
              <a:cxnLst/>
              <a:rect l="l" t="t" r="r" b="b"/>
              <a:pathLst>
                <a:path w="21031200" h="128016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0111" b="-270111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21031200" cy="13658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API Endpoints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035583" y="548640"/>
            <a:ext cx="3429000" cy="411480"/>
            <a:chOff x="0" y="0"/>
            <a:chExt cx="4572000" cy="5486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572000" cy="548640"/>
            </a:xfrm>
            <a:custGeom>
              <a:avLst/>
              <a:gdLst/>
              <a:ahLst/>
              <a:cxnLst/>
              <a:rect l="l" t="t" r="r" b="b"/>
              <a:pathLst>
                <a:path w="4572000" h="548640">
                  <a:moveTo>
                    <a:pt x="0" y="0"/>
                  </a:moveTo>
                  <a:lnTo>
                    <a:pt x="4572000" y="0"/>
                  </a:lnTo>
                  <a:lnTo>
                    <a:pt x="4572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2375" b="-112375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45720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980"/>
                </a:lnSpc>
              </a:pPr>
              <a:r>
                <a:rPr lang="en-US" sz="1650" b="1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INTTE</a:t>
              </a:r>
              <a:r>
                <a:rPr lang="en-US" sz="1650" b="1">
                  <a:solidFill>
                    <a:srgbClr val="818C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REE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 rot="3960">
            <a:off x="813425" y="1750886"/>
            <a:ext cx="16660682" cy="0"/>
          </a:xfrm>
          <a:prstGeom prst="line">
            <a:avLst/>
          </a:prstGeom>
          <a:ln w="9525" cap="rnd">
            <a:solidFill>
              <a:srgbClr val="2E3B5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>
            <a:off x="813435" y="2116455"/>
            <a:ext cx="3214878" cy="6259830"/>
            <a:chOff x="0" y="0"/>
            <a:chExt cx="4286504" cy="834644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286504" cy="8346439"/>
            </a:xfrm>
            <a:custGeom>
              <a:avLst/>
              <a:gdLst/>
              <a:ahLst/>
              <a:cxnLst/>
              <a:rect l="l" t="t" r="r" b="b"/>
              <a:pathLst>
                <a:path w="4286504" h="8346439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4120896" y="0"/>
                  </a:lnTo>
                  <a:cubicBezTo>
                    <a:pt x="4212336" y="0"/>
                    <a:pt x="4286504" y="74168"/>
                    <a:pt x="4286504" y="165608"/>
                  </a:cubicBezTo>
                  <a:lnTo>
                    <a:pt x="4286504" y="8180832"/>
                  </a:lnTo>
                  <a:cubicBezTo>
                    <a:pt x="4286504" y="8272272"/>
                    <a:pt x="4212336" y="8346439"/>
                    <a:pt x="4120896" y="8346439"/>
                  </a:cubicBezTo>
                  <a:lnTo>
                    <a:pt x="165608" y="8346439"/>
                  </a:lnTo>
                  <a:cubicBezTo>
                    <a:pt x="74168" y="8346440"/>
                    <a:pt x="0" y="8272272"/>
                    <a:pt x="0" y="8180832"/>
                  </a:cubicBezTo>
                  <a:close/>
                </a:path>
              </a:pathLst>
            </a:custGeom>
            <a:solidFill>
              <a:srgbClr val="16213A"/>
            </a:solidFill>
            <a:ln w="19050" cap="sq">
              <a:solidFill>
                <a:srgbClr val="818CF8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028700" y="2331720"/>
            <a:ext cx="2784348" cy="548640"/>
            <a:chOff x="0" y="0"/>
            <a:chExt cx="3712464" cy="73152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712464" cy="731520"/>
            </a:xfrm>
            <a:custGeom>
              <a:avLst/>
              <a:gdLst/>
              <a:ahLst/>
              <a:cxnLst/>
              <a:rect l="l" t="t" r="r" b="b"/>
              <a:pathLst>
                <a:path w="3712464" h="731520">
                  <a:moveTo>
                    <a:pt x="0" y="0"/>
                  </a:moveTo>
                  <a:lnTo>
                    <a:pt x="3712464" y="0"/>
                  </a:lnTo>
                  <a:lnTo>
                    <a:pt x="371246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886" b="-48886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3712464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68"/>
                </a:lnSpc>
              </a:pPr>
              <a:r>
                <a:rPr lang="en-US" sz="1800" b="1">
                  <a:solidFill>
                    <a:srgbClr val="818C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/api/auth</a:t>
              </a:r>
            </a:p>
          </p:txBody>
        </p:sp>
      </p:grpSp>
      <p:sp>
        <p:nvSpPr>
          <p:cNvPr id="17" name="AutoShape 17"/>
          <p:cNvSpPr/>
          <p:nvPr/>
        </p:nvSpPr>
        <p:spPr>
          <a:xfrm rot="23340">
            <a:off x="1019146" y="2944178"/>
            <a:ext cx="2803465" cy="0"/>
          </a:xfrm>
          <a:prstGeom prst="line">
            <a:avLst/>
          </a:prstGeom>
          <a:ln w="9525" cap="rnd">
            <a:solidFill>
              <a:srgbClr val="2E3B5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8" name="Group 18"/>
          <p:cNvGrpSpPr/>
          <p:nvPr/>
        </p:nvGrpSpPr>
        <p:grpSpPr>
          <a:xfrm>
            <a:off x="1028700" y="3195828"/>
            <a:ext cx="1028700" cy="329184"/>
            <a:chOff x="0" y="0"/>
            <a:chExt cx="1371600" cy="43891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371600" cy="438912"/>
            </a:xfrm>
            <a:custGeom>
              <a:avLst/>
              <a:gdLst/>
              <a:ahLst/>
              <a:cxnLst/>
              <a:rect l="l" t="t" r="r" b="b"/>
              <a:pathLst>
                <a:path w="1371600" h="438912">
                  <a:moveTo>
                    <a:pt x="0" y="0"/>
                  </a:moveTo>
                  <a:lnTo>
                    <a:pt x="1371600" y="0"/>
                  </a:lnTo>
                  <a:lnTo>
                    <a:pt x="13716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890" b="-10890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19050"/>
              <a:ext cx="1371600" cy="4579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0"/>
                </a:lnSpc>
              </a:pPr>
              <a:r>
                <a:rPr lang="en-US" sz="1275" b="1">
                  <a:solidFill>
                    <a:srgbClr val="FBBF24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POST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28700" y="3511296"/>
            <a:ext cx="2784348" cy="521208"/>
            <a:chOff x="0" y="0"/>
            <a:chExt cx="3712464" cy="69494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712464" cy="694944"/>
            </a:xfrm>
            <a:custGeom>
              <a:avLst/>
              <a:gdLst/>
              <a:ahLst/>
              <a:cxnLst/>
              <a:rect l="l" t="t" r="r" b="b"/>
              <a:pathLst>
                <a:path w="3712464" h="694944">
                  <a:moveTo>
                    <a:pt x="0" y="0"/>
                  </a:moveTo>
                  <a:lnTo>
                    <a:pt x="3712464" y="0"/>
                  </a:lnTo>
                  <a:lnTo>
                    <a:pt x="3712464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4091" b="-54091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28575"/>
              <a:ext cx="3712464" cy="7235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44"/>
                </a:lnSpc>
              </a:pPr>
              <a:r>
                <a:rPr lang="en-US" sz="1305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/register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28700" y="4059936"/>
            <a:ext cx="1028700" cy="329184"/>
            <a:chOff x="0" y="0"/>
            <a:chExt cx="1371600" cy="43891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371600" cy="438912"/>
            </a:xfrm>
            <a:custGeom>
              <a:avLst/>
              <a:gdLst/>
              <a:ahLst/>
              <a:cxnLst/>
              <a:rect l="l" t="t" r="r" b="b"/>
              <a:pathLst>
                <a:path w="1371600" h="438912">
                  <a:moveTo>
                    <a:pt x="0" y="0"/>
                  </a:moveTo>
                  <a:lnTo>
                    <a:pt x="1371600" y="0"/>
                  </a:lnTo>
                  <a:lnTo>
                    <a:pt x="13716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890" b="-10890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1371600" cy="4579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0"/>
                </a:lnSpc>
              </a:pPr>
              <a:r>
                <a:rPr lang="en-US" sz="1275" b="1">
                  <a:solidFill>
                    <a:srgbClr val="FBBF24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POST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028700" y="4375404"/>
            <a:ext cx="2784348" cy="521208"/>
            <a:chOff x="0" y="0"/>
            <a:chExt cx="3712464" cy="69494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712464" cy="694944"/>
            </a:xfrm>
            <a:custGeom>
              <a:avLst/>
              <a:gdLst/>
              <a:ahLst/>
              <a:cxnLst/>
              <a:rect l="l" t="t" r="r" b="b"/>
              <a:pathLst>
                <a:path w="3712464" h="694944">
                  <a:moveTo>
                    <a:pt x="0" y="0"/>
                  </a:moveTo>
                  <a:lnTo>
                    <a:pt x="3712464" y="0"/>
                  </a:lnTo>
                  <a:lnTo>
                    <a:pt x="3712464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4091" b="-54091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28575"/>
              <a:ext cx="3712464" cy="7235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44"/>
                </a:lnSpc>
              </a:pPr>
              <a:r>
                <a:rPr lang="en-US" sz="1305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/login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28700" y="4924044"/>
            <a:ext cx="1028700" cy="329184"/>
            <a:chOff x="0" y="0"/>
            <a:chExt cx="1371600" cy="43891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371600" cy="438912"/>
            </a:xfrm>
            <a:custGeom>
              <a:avLst/>
              <a:gdLst/>
              <a:ahLst/>
              <a:cxnLst/>
              <a:rect l="l" t="t" r="r" b="b"/>
              <a:pathLst>
                <a:path w="1371600" h="438912">
                  <a:moveTo>
                    <a:pt x="0" y="0"/>
                  </a:moveTo>
                  <a:lnTo>
                    <a:pt x="1371600" y="0"/>
                  </a:lnTo>
                  <a:lnTo>
                    <a:pt x="13716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890" b="-10890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-19050"/>
              <a:ext cx="1371600" cy="4579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0"/>
                </a:lnSpc>
              </a:pPr>
              <a:r>
                <a:rPr lang="en-US" sz="1275" b="1">
                  <a:solidFill>
                    <a:srgbClr val="34D399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GET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028700" y="5239512"/>
            <a:ext cx="2784348" cy="521208"/>
            <a:chOff x="0" y="0"/>
            <a:chExt cx="3712464" cy="694944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3712464" cy="694944"/>
            </a:xfrm>
            <a:custGeom>
              <a:avLst/>
              <a:gdLst/>
              <a:ahLst/>
              <a:cxnLst/>
              <a:rect l="l" t="t" r="r" b="b"/>
              <a:pathLst>
                <a:path w="3712464" h="694944">
                  <a:moveTo>
                    <a:pt x="0" y="0"/>
                  </a:moveTo>
                  <a:lnTo>
                    <a:pt x="3712464" y="0"/>
                  </a:lnTo>
                  <a:lnTo>
                    <a:pt x="3712464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4091" b="-54091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28575"/>
              <a:ext cx="3712464" cy="7235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44"/>
                </a:lnSpc>
              </a:pPr>
              <a:r>
                <a:rPr lang="en-US" sz="1305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/me</a:t>
              </a:r>
            </a:p>
          </p:txBody>
        </p:sp>
      </p:grpSp>
      <p:sp>
        <p:nvSpPr>
          <p:cNvPr id="37" name="Freeform 37"/>
          <p:cNvSpPr/>
          <p:nvPr/>
        </p:nvSpPr>
        <p:spPr>
          <a:xfrm>
            <a:off x="1028700" y="5788152"/>
            <a:ext cx="1028700" cy="329184"/>
          </a:xfrm>
          <a:custGeom>
            <a:avLst/>
            <a:gdLst/>
            <a:ahLst/>
            <a:cxnLst/>
            <a:rect l="l" t="t" r="r" b="b"/>
            <a:pathLst>
              <a:path w="1371600" h="438912">
                <a:moveTo>
                  <a:pt x="0" y="0"/>
                </a:moveTo>
                <a:lnTo>
                  <a:pt x="1371600" y="0"/>
                </a:lnTo>
                <a:lnTo>
                  <a:pt x="1371600" y="438912"/>
                </a:lnTo>
                <a:lnTo>
                  <a:pt x="0" y="438912"/>
                </a:lnTo>
                <a:close/>
              </a:path>
            </a:pathLst>
          </a:custGeom>
          <a:blipFill>
            <a:blip r:embed="rId3">
              <a:alphaModFix amt="0"/>
            </a:blip>
            <a:stretch>
              <a:fillRect t="-10890" b="-10890"/>
            </a:stretch>
          </a:blipFill>
        </p:spPr>
      </p:sp>
      <p:grpSp>
        <p:nvGrpSpPr>
          <p:cNvPr id="42" name="Group 42"/>
          <p:cNvGrpSpPr/>
          <p:nvPr/>
        </p:nvGrpSpPr>
        <p:grpSpPr>
          <a:xfrm>
            <a:off x="4201287" y="2116455"/>
            <a:ext cx="3214878" cy="6259830"/>
            <a:chOff x="0" y="0"/>
            <a:chExt cx="4286504" cy="834644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4286504" cy="8346439"/>
            </a:xfrm>
            <a:custGeom>
              <a:avLst/>
              <a:gdLst/>
              <a:ahLst/>
              <a:cxnLst/>
              <a:rect l="l" t="t" r="r" b="b"/>
              <a:pathLst>
                <a:path w="4286504" h="8346439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4120896" y="0"/>
                  </a:lnTo>
                  <a:cubicBezTo>
                    <a:pt x="4212336" y="0"/>
                    <a:pt x="4286504" y="74168"/>
                    <a:pt x="4286504" y="165608"/>
                  </a:cubicBezTo>
                  <a:lnTo>
                    <a:pt x="4286504" y="8180832"/>
                  </a:lnTo>
                  <a:cubicBezTo>
                    <a:pt x="4286504" y="8272272"/>
                    <a:pt x="4212336" y="8346439"/>
                    <a:pt x="4120896" y="8346439"/>
                  </a:cubicBezTo>
                  <a:lnTo>
                    <a:pt x="165608" y="8346439"/>
                  </a:lnTo>
                  <a:cubicBezTo>
                    <a:pt x="74168" y="8346440"/>
                    <a:pt x="0" y="8272272"/>
                    <a:pt x="0" y="8180832"/>
                  </a:cubicBezTo>
                  <a:close/>
                </a:path>
              </a:pathLst>
            </a:custGeom>
            <a:solidFill>
              <a:srgbClr val="16213A"/>
            </a:solidFill>
            <a:ln w="19050" cap="sq">
              <a:solidFill>
                <a:srgbClr val="22D3EE"/>
              </a:solidFill>
              <a:prstDash val="solid"/>
              <a:miter/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4416552" y="2331720"/>
            <a:ext cx="2784348" cy="548640"/>
            <a:chOff x="0" y="0"/>
            <a:chExt cx="3712464" cy="73152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3712464" cy="731520"/>
            </a:xfrm>
            <a:custGeom>
              <a:avLst/>
              <a:gdLst/>
              <a:ahLst/>
              <a:cxnLst/>
              <a:rect l="l" t="t" r="r" b="b"/>
              <a:pathLst>
                <a:path w="3712464" h="731520">
                  <a:moveTo>
                    <a:pt x="0" y="0"/>
                  </a:moveTo>
                  <a:lnTo>
                    <a:pt x="3712464" y="0"/>
                  </a:lnTo>
                  <a:lnTo>
                    <a:pt x="371246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886" b="-48886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47625"/>
              <a:ext cx="3712464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68"/>
                </a:lnSpc>
              </a:pPr>
              <a:r>
                <a:rPr lang="en-US" sz="1800" b="1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/api/questions</a:t>
              </a:r>
            </a:p>
          </p:txBody>
        </p:sp>
      </p:grpSp>
      <p:sp>
        <p:nvSpPr>
          <p:cNvPr id="47" name="AutoShape 47"/>
          <p:cNvSpPr/>
          <p:nvPr/>
        </p:nvSpPr>
        <p:spPr>
          <a:xfrm rot="23340">
            <a:off x="4406998" y="2944178"/>
            <a:ext cx="2803465" cy="0"/>
          </a:xfrm>
          <a:prstGeom prst="line">
            <a:avLst/>
          </a:prstGeom>
          <a:ln w="9525" cap="rnd">
            <a:solidFill>
              <a:srgbClr val="2E3B5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8" name="Group 48"/>
          <p:cNvGrpSpPr/>
          <p:nvPr/>
        </p:nvGrpSpPr>
        <p:grpSpPr>
          <a:xfrm>
            <a:off x="4416552" y="3195828"/>
            <a:ext cx="1028700" cy="329184"/>
            <a:chOff x="0" y="0"/>
            <a:chExt cx="1371600" cy="438912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371600" cy="438912"/>
            </a:xfrm>
            <a:custGeom>
              <a:avLst/>
              <a:gdLst/>
              <a:ahLst/>
              <a:cxnLst/>
              <a:rect l="l" t="t" r="r" b="b"/>
              <a:pathLst>
                <a:path w="1371600" h="438912">
                  <a:moveTo>
                    <a:pt x="0" y="0"/>
                  </a:moveTo>
                  <a:lnTo>
                    <a:pt x="1371600" y="0"/>
                  </a:lnTo>
                  <a:lnTo>
                    <a:pt x="13716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890" b="-10890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-19050"/>
              <a:ext cx="1371600" cy="4579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0"/>
                </a:lnSpc>
              </a:pPr>
              <a:r>
                <a:rPr lang="en-US" sz="1275" b="1">
                  <a:solidFill>
                    <a:srgbClr val="34D399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GET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4416552" y="3511296"/>
            <a:ext cx="2784348" cy="521208"/>
            <a:chOff x="0" y="0"/>
            <a:chExt cx="3712464" cy="694944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3712464" cy="694944"/>
            </a:xfrm>
            <a:custGeom>
              <a:avLst/>
              <a:gdLst/>
              <a:ahLst/>
              <a:cxnLst/>
              <a:rect l="l" t="t" r="r" b="b"/>
              <a:pathLst>
                <a:path w="3712464" h="694944">
                  <a:moveTo>
                    <a:pt x="0" y="0"/>
                  </a:moveTo>
                  <a:lnTo>
                    <a:pt x="3712464" y="0"/>
                  </a:lnTo>
                  <a:lnTo>
                    <a:pt x="3712464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4091" b="-54091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-28575"/>
              <a:ext cx="3712464" cy="7235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44"/>
                </a:lnSpc>
              </a:pPr>
              <a:r>
                <a:rPr lang="en-US" sz="1305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4416552" y="4059936"/>
            <a:ext cx="1028700" cy="329184"/>
            <a:chOff x="0" y="0"/>
            <a:chExt cx="1371600" cy="438912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371600" cy="438912"/>
            </a:xfrm>
            <a:custGeom>
              <a:avLst/>
              <a:gdLst/>
              <a:ahLst/>
              <a:cxnLst/>
              <a:rect l="l" t="t" r="r" b="b"/>
              <a:pathLst>
                <a:path w="1371600" h="438912">
                  <a:moveTo>
                    <a:pt x="0" y="0"/>
                  </a:moveTo>
                  <a:lnTo>
                    <a:pt x="1371600" y="0"/>
                  </a:lnTo>
                  <a:lnTo>
                    <a:pt x="13716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890" b="-10890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-19050"/>
              <a:ext cx="1371600" cy="4579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0"/>
                </a:lnSpc>
              </a:pPr>
              <a:r>
                <a:rPr lang="en-US" sz="1275" b="1">
                  <a:solidFill>
                    <a:srgbClr val="34D399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GET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4416552" y="4375404"/>
            <a:ext cx="2784348" cy="521208"/>
            <a:chOff x="0" y="0"/>
            <a:chExt cx="3712464" cy="694944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3712464" cy="694944"/>
            </a:xfrm>
            <a:custGeom>
              <a:avLst/>
              <a:gdLst/>
              <a:ahLst/>
              <a:cxnLst/>
              <a:rect l="l" t="t" r="r" b="b"/>
              <a:pathLst>
                <a:path w="3712464" h="694944">
                  <a:moveTo>
                    <a:pt x="0" y="0"/>
                  </a:moveTo>
                  <a:lnTo>
                    <a:pt x="3712464" y="0"/>
                  </a:lnTo>
                  <a:lnTo>
                    <a:pt x="3712464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4091" b="-54091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-28575"/>
              <a:ext cx="3712464" cy="7235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44"/>
                </a:lnSpc>
              </a:pPr>
              <a:r>
                <a:rPr lang="en-US" sz="1305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/meta/filters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7589139" y="2116455"/>
            <a:ext cx="3214878" cy="6259830"/>
            <a:chOff x="0" y="0"/>
            <a:chExt cx="4286504" cy="834644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4286504" cy="8346439"/>
            </a:xfrm>
            <a:custGeom>
              <a:avLst/>
              <a:gdLst/>
              <a:ahLst/>
              <a:cxnLst/>
              <a:rect l="l" t="t" r="r" b="b"/>
              <a:pathLst>
                <a:path w="4286504" h="8346439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4120896" y="0"/>
                  </a:lnTo>
                  <a:cubicBezTo>
                    <a:pt x="4212336" y="0"/>
                    <a:pt x="4286504" y="74168"/>
                    <a:pt x="4286504" y="165608"/>
                  </a:cubicBezTo>
                  <a:lnTo>
                    <a:pt x="4286504" y="8180832"/>
                  </a:lnTo>
                  <a:cubicBezTo>
                    <a:pt x="4286504" y="8272272"/>
                    <a:pt x="4212336" y="8346439"/>
                    <a:pt x="4120896" y="8346439"/>
                  </a:cubicBezTo>
                  <a:lnTo>
                    <a:pt x="165608" y="8346439"/>
                  </a:lnTo>
                  <a:cubicBezTo>
                    <a:pt x="74168" y="8346440"/>
                    <a:pt x="0" y="8272272"/>
                    <a:pt x="0" y="8180832"/>
                  </a:cubicBezTo>
                  <a:close/>
                </a:path>
              </a:pathLst>
            </a:custGeom>
            <a:solidFill>
              <a:srgbClr val="16213A"/>
            </a:solidFill>
            <a:ln w="19050" cap="sq">
              <a:solidFill>
                <a:srgbClr val="34D399"/>
              </a:solidFill>
              <a:prstDash val="solid"/>
              <a:miter/>
            </a:ln>
          </p:spPr>
        </p:sp>
      </p:grpSp>
      <p:grpSp>
        <p:nvGrpSpPr>
          <p:cNvPr id="62" name="Group 62"/>
          <p:cNvGrpSpPr/>
          <p:nvPr/>
        </p:nvGrpSpPr>
        <p:grpSpPr>
          <a:xfrm>
            <a:off x="7804404" y="2331720"/>
            <a:ext cx="2784348" cy="548640"/>
            <a:chOff x="0" y="0"/>
            <a:chExt cx="3712464" cy="73152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3712464" cy="731520"/>
            </a:xfrm>
            <a:custGeom>
              <a:avLst/>
              <a:gdLst/>
              <a:ahLst/>
              <a:cxnLst/>
              <a:rect l="l" t="t" r="r" b="b"/>
              <a:pathLst>
                <a:path w="3712464" h="731520">
                  <a:moveTo>
                    <a:pt x="0" y="0"/>
                  </a:moveTo>
                  <a:lnTo>
                    <a:pt x="3712464" y="0"/>
                  </a:lnTo>
                  <a:lnTo>
                    <a:pt x="371246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886" b="-48886"/>
              </a:stretch>
            </a:blipFill>
          </p:spPr>
        </p:sp>
        <p:sp>
          <p:nvSpPr>
            <p:cNvPr id="64" name="TextBox 64"/>
            <p:cNvSpPr txBox="1"/>
            <p:nvPr/>
          </p:nvSpPr>
          <p:spPr>
            <a:xfrm>
              <a:off x="0" y="-47625"/>
              <a:ext cx="3712464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68"/>
                </a:lnSpc>
              </a:pPr>
              <a:r>
                <a:rPr lang="en-US" sz="1800" b="1">
                  <a:solidFill>
                    <a:srgbClr val="34D3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/api/interviews</a:t>
              </a:r>
            </a:p>
          </p:txBody>
        </p:sp>
      </p:grpSp>
      <p:sp>
        <p:nvSpPr>
          <p:cNvPr id="65" name="AutoShape 65"/>
          <p:cNvSpPr/>
          <p:nvPr/>
        </p:nvSpPr>
        <p:spPr>
          <a:xfrm rot="23340">
            <a:off x="7794850" y="2944178"/>
            <a:ext cx="2803465" cy="0"/>
          </a:xfrm>
          <a:prstGeom prst="line">
            <a:avLst/>
          </a:prstGeom>
          <a:ln w="9525" cap="rnd">
            <a:solidFill>
              <a:srgbClr val="2E3B5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6" name="Group 66"/>
          <p:cNvGrpSpPr/>
          <p:nvPr/>
        </p:nvGrpSpPr>
        <p:grpSpPr>
          <a:xfrm>
            <a:off x="7804404" y="3195828"/>
            <a:ext cx="1028700" cy="329184"/>
            <a:chOff x="0" y="0"/>
            <a:chExt cx="1371600" cy="438912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1371600" cy="438912"/>
            </a:xfrm>
            <a:custGeom>
              <a:avLst/>
              <a:gdLst/>
              <a:ahLst/>
              <a:cxnLst/>
              <a:rect l="l" t="t" r="r" b="b"/>
              <a:pathLst>
                <a:path w="1371600" h="438912">
                  <a:moveTo>
                    <a:pt x="0" y="0"/>
                  </a:moveTo>
                  <a:lnTo>
                    <a:pt x="1371600" y="0"/>
                  </a:lnTo>
                  <a:lnTo>
                    <a:pt x="13716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890" b="-10890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0" y="-19050"/>
              <a:ext cx="1371600" cy="4579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0"/>
                </a:lnSpc>
              </a:pPr>
              <a:r>
                <a:rPr lang="en-US" sz="1275" b="1">
                  <a:solidFill>
                    <a:srgbClr val="FBBF24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POST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7804404" y="3511296"/>
            <a:ext cx="2784348" cy="521208"/>
            <a:chOff x="0" y="0"/>
            <a:chExt cx="3712464" cy="694944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3712464" cy="694944"/>
            </a:xfrm>
            <a:custGeom>
              <a:avLst/>
              <a:gdLst/>
              <a:ahLst/>
              <a:cxnLst/>
              <a:rect l="l" t="t" r="r" b="b"/>
              <a:pathLst>
                <a:path w="3712464" h="694944">
                  <a:moveTo>
                    <a:pt x="0" y="0"/>
                  </a:moveTo>
                  <a:lnTo>
                    <a:pt x="3712464" y="0"/>
                  </a:lnTo>
                  <a:lnTo>
                    <a:pt x="3712464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4091" b="-54091"/>
              </a:stretch>
            </a:blipFill>
          </p:spPr>
        </p:sp>
        <p:sp>
          <p:nvSpPr>
            <p:cNvPr id="71" name="TextBox 71"/>
            <p:cNvSpPr txBox="1"/>
            <p:nvPr/>
          </p:nvSpPr>
          <p:spPr>
            <a:xfrm>
              <a:off x="0" y="-28575"/>
              <a:ext cx="3712464" cy="7235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44"/>
                </a:lnSpc>
              </a:pPr>
              <a:r>
                <a:rPr lang="en-US" sz="1305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/start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7804404" y="4059936"/>
            <a:ext cx="1028700" cy="329184"/>
            <a:chOff x="0" y="0"/>
            <a:chExt cx="1371600" cy="438912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1371600" cy="438912"/>
            </a:xfrm>
            <a:custGeom>
              <a:avLst/>
              <a:gdLst/>
              <a:ahLst/>
              <a:cxnLst/>
              <a:rect l="l" t="t" r="r" b="b"/>
              <a:pathLst>
                <a:path w="1371600" h="438912">
                  <a:moveTo>
                    <a:pt x="0" y="0"/>
                  </a:moveTo>
                  <a:lnTo>
                    <a:pt x="1371600" y="0"/>
                  </a:lnTo>
                  <a:lnTo>
                    <a:pt x="13716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890" b="-10890"/>
              </a:stretch>
            </a:blipFill>
          </p:spPr>
        </p:sp>
        <p:sp>
          <p:nvSpPr>
            <p:cNvPr id="74" name="TextBox 74"/>
            <p:cNvSpPr txBox="1"/>
            <p:nvPr/>
          </p:nvSpPr>
          <p:spPr>
            <a:xfrm>
              <a:off x="0" y="-19050"/>
              <a:ext cx="1371600" cy="4579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0"/>
                </a:lnSpc>
              </a:pPr>
              <a:r>
                <a:rPr lang="en-US" sz="1275" b="1">
                  <a:solidFill>
                    <a:srgbClr val="34D399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GET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7804404" y="4375404"/>
            <a:ext cx="2784348" cy="521208"/>
            <a:chOff x="0" y="0"/>
            <a:chExt cx="3712464" cy="694944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3712464" cy="694944"/>
            </a:xfrm>
            <a:custGeom>
              <a:avLst/>
              <a:gdLst/>
              <a:ahLst/>
              <a:cxnLst/>
              <a:rect l="l" t="t" r="r" b="b"/>
              <a:pathLst>
                <a:path w="3712464" h="694944">
                  <a:moveTo>
                    <a:pt x="0" y="0"/>
                  </a:moveTo>
                  <a:lnTo>
                    <a:pt x="3712464" y="0"/>
                  </a:lnTo>
                  <a:lnTo>
                    <a:pt x="3712464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4091" b="-54091"/>
              </a:stretch>
            </a:blipFill>
          </p:spPr>
        </p:sp>
        <p:sp>
          <p:nvSpPr>
            <p:cNvPr id="77" name="TextBox 77"/>
            <p:cNvSpPr txBox="1"/>
            <p:nvPr/>
          </p:nvSpPr>
          <p:spPr>
            <a:xfrm>
              <a:off x="0" y="-28575"/>
              <a:ext cx="3712464" cy="7235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44"/>
                </a:lnSpc>
              </a:pPr>
              <a:r>
                <a:rPr lang="en-US" sz="1305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7804404" y="4924044"/>
            <a:ext cx="1028700" cy="329184"/>
            <a:chOff x="0" y="0"/>
            <a:chExt cx="1371600" cy="438912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1371600" cy="438912"/>
            </a:xfrm>
            <a:custGeom>
              <a:avLst/>
              <a:gdLst/>
              <a:ahLst/>
              <a:cxnLst/>
              <a:rect l="l" t="t" r="r" b="b"/>
              <a:pathLst>
                <a:path w="1371600" h="438912">
                  <a:moveTo>
                    <a:pt x="0" y="0"/>
                  </a:moveTo>
                  <a:lnTo>
                    <a:pt x="1371600" y="0"/>
                  </a:lnTo>
                  <a:lnTo>
                    <a:pt x="13716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890" b="-10890"/>
              </a:stretch>
            </a:blipFill>
          </p:spPr>
        </p:sp>
        <p:sp>
          <p:nvSpPr>
            <p:cNvPr id="80" name="TextBox 80"/>
            <p:cNvSpPr txBox="1"/>
            <p:nvPr/>
          </p:nvSpPr>
          <p:spPr>
            <a:xfrm>
              <a:off x="0" y="-19050"/>
              <a:ext cx="1371600" cy="4579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0"/>
                </a:lnSpc>
              </a:pPr>
              <a:r>
                <a:rPr lang="en-US" sz="1275" b="1">
                  <a:solidFill>
                    <a:srgbClr val="34D399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GET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7804404" y="5239512"/>
            <a:ext cx="2784348" cy="521208"/>
            <a:chOff x="0" y="0"/>
            <a:chExt cx="3712464" cy="694944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3712464" cy="694944"/>
            </a:xfrm>
            <a:custGeom>
              <a:avLst/>
              <a:gdLst/>
              <a:ahLst/>
              <a:cxnLst/>
              <a:rect l="l" t="t" r="r" b="b"/>
              <a:pathLst>
                <a:path w="3712464" h="694944">
                  <a:moveTo>
                    <a:pt x="0" y="0"/>
                  </a:moveTo>
                  <a:lnTo>
                    <a:pt x="3712464" y="0"/>
                  </a:lnTo>
                  <a:lnTo>
                    <a:pt x="3712464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4091" b="-54091"/>
              </a:stretch>
            </a:blipFill>
          </p:spPr>
        </p:sp>
        <p:sp>
          <p:nvSpPr>
            <p:cNvPr id="83" name="TextBox 83"/>
            <p:cNvSpPr txBox="1"/>
            <p:nvPr/>
          </p:nvSpPr>
          <p:spPr>
            <a:xfrm>
              <a:off x="0" y="-28575"/>
              <a:ext cx="3712464" cy="7235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44"/>
                </a:lnSpc>
              </a:pPr>
              <a:r>
                <a:rPr lang="en-US" sz="1305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/:sessionId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7804404" y="5788152"/>
            <a:ext cx="1028700" cy="329184"/>
            <a:chOff x="0" y="0"/>
            <a:chExt cx="1371600" cy="438912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1371600" cy="438912"/>
            </a:xfrm>
            <a:custGeom>
              <a:avLst/>
              <a:gdLst/>
              <a:ahLst/>
              <a:cxnLst/>
              <a:rect l="l" t="t" r="r" b="b"/>
              <a:pathLst>
                <a:path w="1371600" h="438912">
                  <a:moveTo>
                    <a:pt x="0" y="0"/>
                  </a:moveTo>
                  <a:lnTo>
                    <a:pt x="1371600" y="0"/>
                  </a:lnTo>
                  <a:lnTo>
                    <a:pt x="13716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890" b="-10890"/>
              </a:stretch>
            </a:blipFill>
          </p:spPr>
        </p:sp>
        <p:sp>
          <p:nvSpPr>
            <p:cNvPr id="86" name="TextBox 86"/>
            <p:cNvSpPr txBox="1"/>
            <p:nvPr/>
          </p:nvSpPr>
          <p:spPr>
            <a:xfrm>
              <a:off x="0" y="-19050"/>
              <a:ext cx="1371600" cy="4579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0"/>
                </a:lnSpc>
              </a:pPr>
              <a:r>
                <a:rPr lang="en-US" sz="1275" b="1">
                  <a:solidFill>
                    <a:srgbClr val="FBBF24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POST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7804404" y="6103620"/>
            <a:ext cx="2784348" cy="521208"/>
            <a:chOff x="0" y="0"/>
            <a:chExt cx="3712464" cy="694944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3712464" cy="694944"/>
            </a:xfrm>
            <a:custGeom>
              <a:avLst/>
              <a:gdLst/>
              <a:ahLst/>
              <a:cxnLst/>
              <a:rect l="l" t="t" r="r" b="b"/>
              <a:pathLst>
                <a:path w="3712464" h="694944">
                  <a:moveTo>
                    <a:pt x="0" y="0"/>
                  </a:moveTo>
                  <a:lnTo>
                    <a:pt x="3712464" y="0"/>
                  </a:lnTo>
                  <a:lnTo>
                    <a:pt x="3712464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4091" b="-54091"/>
              </a:stretch>
            </a:blipFill>
          </p:spPr>
        </p:sp>
        <p:sp>
          <p:nvSpPr>
            <p:cNvPr id="89" name="TextBox 89"/>
            <p:cNvSpPr txBox="1"/>
            <p:nvPr/>
          </p:nvSpPr>
          <p:spPr>
            <a:xfrm>
              <a:off x="0" y="-28575"/>
              <a:ext cx="3712464" cy="7235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44"/>
                </a:lnSpc>
              </a:pPr>
              <a:r>
                <a:rPr lang="en-US" sz="1305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/:sessionId/answer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7804404" y="6652260"/>
            <a:ext cx="1028700" cy="329184"/>
            <a:chOff x="0" y="0"/>
            <a:chExt cx="1371600" cy="438912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1371600" cy="438912"/>
            </a:xfrm>
            <a:custGeom>
              <a:avLst/>
              <a:gdLst/>
              <a:ahLst/>
              <a:cxnLst/>
              <a:rect l="l" t="t" r="r" b="b"/>
              <a:pathLst>
                <a:path w="1371600" h="438912">
                  <a:moveTo>
                    <a:pt x="0" y="0"/>
                  </a:moveTo>
                  <a:lnTo>
                    <a:pt x="1371600" y="0"/>
                  </a:lnTo>
                  <a:lnTo>
                    <a:pt x="13716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890" b="-10890"/>
              </a:stretch>
            </a:blipFill>
          </p:spPr>
        </p:sp>
        <p:sp>
          <p:nvSpPr>
            <p:cNvPr id="92" name="TextBox 92"/>
            <p:cNvSpPr txBox="1"/>
            <p:nvPr/>
          </p:nvSpPr>
          <p:spPr>
            <a:xfrm>
              <a:off x="0" y="-19050"/>
              <a:ext cx="1371600" cy="4579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0"/>
                </a:lnSpc>
              </a:pPr>
              <a:r>
                <a:rPr lang="en-US" sz="1275" b="1">
                  <a:solidFill>
                    <a:srgbClr val="F472B6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PUT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7804404" y="6967728"/>
            <a:ext cx="2784348" cy="521208"/>
            <a:chOff x="0" y="0"/>
            <a:chExt cx="3712464" cy="694944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3712464" cy="694944"/>
            </a:xfrm>
            <a:custGeom>
              <a:avLst/>
              <a:gdLst/>
              <a:ahLst/>
              <a:cxnLst/>
              <a:rect l="l" t="t" r="r" b="b"/>
              <a:pathLst>
                <a:path w="3712464" h="694944">
                  <a:moveTo>
                    <a:pt x="0" y="0"/>
                  </a:moveTo>
                  <a:lnTo>
                    <a:pt x="3712464" y="0"/>
                  </a:lnTo>
                  <a:lnTo>
                    <a:pt x="3712464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4091" b="-54091"/>
              </a:stretch>
            </a:blipFill>
          </p:spPr>
        </p:sp>
        <p:sp>
          <p:nvSpPr>
            <p:cNvPr id="95" name="TextBox 95"/>
            <p:cNvSpPr txBox="1"/>
            <p:nvPr/>
          </p:nvSpPr>
          <p:spPr>
            <a:xfrm>
              <a:off x="0" y="-28575"/>
              <a:ext cx="3712464" cy="7235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44"/>
                </a:lnSpc>
              </a:pPr>
              <a:r>
                <a:rPr lang="en-US" sz="1305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/:sessionId/complete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10976991" y="2116455"/>
            <a:ext cx="3214878" cy="6259830"/>
            <a:chOff x="0" y="0"/>
            <a:chExt cx="4286504" cy="8346440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4286504" cy="8346439"/>
            </a:xfrm>
            <a:custGeom>
              <a:avLst/>
              <a:gdLst/>
              <a:ahLst/>
              <a:cxnLst/>
              <a:rect l="l" t="t" r="r" b="b"/>
              <a:pathLst>
                <a:path w="4286504" h="8346439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4120896" y="0"/>
                  </a:lnTo>
                  <a:cubicBezTo>
                    <a:pt x="4212336" y="0"/>
                    <a:pt x="4286504" y="74168"/>
                    <a:pt x="4286504" y="165608"/>
                  </a:cubicBezTo>
                  <a:lnTo>
                    <a:pt x="4286504" y="8180832"/>
                  </a:lnTo>
                  <a:cubicBezTo>
                    <a:pt x="4286504" y="8272272"/>
                    <a:pt x="4212336" y="8346439"/>
                    <a:pt x="4120896" y="8346439"/>
                  </a:cubicBezTo>
                  <a:lnTo>
                    <a:pt x="165608" y="8346439"/>
                  </a:lnTo>
                  <a:cubicBezTo>
                    <a:pt x="74168" y="8346440"/>
                    <a:pt x="0" y="8272272"/>
                    <a:pt x="0" y="8180832"/>
                  </a:cubicBezTo>
                  <a:close/>
                </a:path>
              </a:pathLst>
            </a:custGeom>
            <a:solidFill>
              <a:srgbClr val="16213A"/>
            </a:solidFill>
            <a:ln w="19050" cap="sq">
              <a:solidFill>
                <a:srgbClr val="FBBF24"/>
              </a:solidFill>
              <a:prstDash val="solid"/>
              <a:miter/>
            </a:ln>
          </p:spPr>
        </p:sp>
      </p:grpSp>
      <p:grpSp>
        <p:nvGrpSpPr>
          <p:cNvPr id="98" name="Group 98"/>
          <p:cNvGrpSpPr/>
          <p:nvPr/>
        </p:nvGrpSpPr>
        <p:grpSpPr>
          <a:xfrm>
            <a:off x="11192256" y="2331720"/>
            <a:ext cx="2784348" cy="548640"/>
            <a:chOff x="0" y="0"/>
            <a:chExt cx="3712464" cy="731520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3712464" cy="731520"/>
            </a:xfrm>
            <a:custGeom>
              <a:avLst/>
              <a:gdLst/>
              <a:ahLst/>
              <a:cxnLst/>
              <a:rect l="l" t="t" r="r" b="b"/>
              <a:pathLst>
                <a:path w="3712464" h="731520">
                  <a:moveTo>
                    <a:pt x="0" y="0"/>
                  </a:moveTo>
                  <a:lnTo>
                    <a:pt x="3712464" y="0"/>
                  </a:lnTo>
                  <a:lnTo>
                    <a:pt x="371246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886" b="-48886"/>
              </a:stretch>
            </a:blipFill>
          </p:spPr>
        </p:sp>
        <p:sp>
          <p:nvSpPr>
            <p:cNvPr id="100" name="TextBox 100"/>
            <p:cNvSpPr txBox="1"/>
            <p:nvPr/>
          </p:nvSpPr>
          <p:spPr>
            <a:xfrm>
              <a:off x="0" y="-47625"/>
              <a:ext cx="3712464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68"/>
                </a:lnSpc>
              </a:pPr>
              <a:r>
                <a:rPr lang="en-US" sz="1800" b="1">
                  <a:solidFill>
                    <a:srgbClr val="FBBF2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/api/feedback</a:t>
              </a:r>
            </a:p>
          </p:txBody>
        </p:sp>
      </p:grpSp>
      <p:sp>
        <p:nvSpPr>
          <p:cNvPr id="101" name="AutoShape 101"/>
          <p:cNvSpPr/>
          <p:nvPr/>
        </p:nvSpPr>
        <p:spPr>
          <a:xfrm rot="23340">
            <a:off x="11182702" y="2944178"/>
            <a:ext cx="2803465" cy="0"/>
          </a:xfrm>
          <a:prstGeom prst="line">
            <a:avLst/>
          </a:prstGeom>
          <a:ln w="9525" cap="rnd">
            <a:solidFill>
              <a:srgbClr val="2E3B5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2" name="Group 102"/>
          <p:cNvGrpSpPr/>
          <p:nvPr/>
        </p:nvGrpSpPr>
        <p:grpSpPr>
          <a:xfrm>
            <a:off x="11192256" y="3195828"/>
            <a:ext cx="1028700" cy="329184"/>
            <a:chOff x="0" y="0"/>
            <a:chExt cx="1371600" cy="438912"/>
          </a:xfrm>
        </p:grpSpPr>
        <p:sp>
          <p:nvSpPr>
            <p:cNvPr id="103" name="Freeform 103"/>
            <p:cNvSpPr/>
            <p:nvPr/>
          </p:nvSpPr>
          <p:spPr>
            <a:xfrm>
              <a:off x="0" y="0"/>
              <a:ext cx="1371600" cy="438912"/>
            </a:xfrm>
            <a:custGeom>
              <a:avLst/>
              <a:gdLst/>
              <a:ahLst/>
              <a:cxnLst/>
              <a:rect l="l" t="t" r="r" b="b"/>
              <a:pathLst>
                <a:path w="1371600" h="438912">
                  <a:moveTo>
                    <a:pt x="0" y="0"/>
                  </a:moveTo>
                  <a:lnTo>
                    <a:pt x="1371600" y="0"/>
                  </a:lnTo>
                  <a:lnTo>
                    <a:pt x="13716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890" b="-10890"/>
              </a:stretch>
            </a:blipFill>
          </p:spPr>
        </p:sp>
        <p:sp>
          <p:nvSpPr>
            <p:cNvPr id="104" name="TextBox 104"/>
            <p:cNvSpPr txBox="1"/>
            <p:nvPr/>
          </p:nvSpPr>
          <p:spPr>
            <a:xfrm>
              <a:off x="0" y="-19050"/>
              <a:ext cx="1371600" cy="4579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0"/>
                </a:lnSpc>
              </a:pPr>
              <a:r>
                <a:rPr lang="en-US" sz="1275" b="1">
                  <a:solidFill>
                    <a:srgbClr val="34D399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GET</a:t>
              </a:r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11192256" y="3511296"/>
            <a:ext cx="2784348" cy="521208"/>
            <a:chOff x="0" y="0"/>
            <a:chExt cx="3712464" cy="694944"/>
          </a:xfrm>
        </p:grpSpPr>
        <p:sp>
          <p:nvSpPr>
            <p:cNvPr id="106" name="Freeform 106"/>
            <p:cNvSpPr/>
            <p:nvPr/>
          </p:nvSpPr>
          <p:spPr>
            <a:xfrm>
              <a:off x="0" y="0"/>
              <a:ext cx="3712464" cy="694944"/>
            </a:xfrm>
            <a:custGeom>
              <a:avLst/>
              <a:gdLst/>
              <a:ahLst/>
              <a:cxnLst/>
              <a:rect l="l" t="t" r="r" b="b"/>
              <a:pathLst>
                <a:path w="3712464" h="694944">
                  <a:moveTo>
                    <a:pt x="0" y="0"/>
                  </a:moveTo>
                  <a:lnTo>
                    <a:pt x="3712464" y="0"/>
                  </a:lnTo>
                  <a:lnTo>
                    <a:pt x="3712464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4091" b="-54091"/>
              </a:stretch>
            </a:blipFill>
          </p:spPr>
        </p:sp>
        <p:sp>
          <p:nvSpPr>
            <p:cNvPr id="107" name="TextBox 107"/>
            <p:cNvSpPr txBox="1"/>
            <p:nvPr/>
          </p:nvSpPr>
          <p:spPr>
            <a:xfrm>
              <a:off x="0" y="-28575"/>
              <a:ext cx="3712464" cy="7235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44"/>
                </a:lnSpc>
              </a:pPr>
              <a:r>
                <a:rPr lang="en-US" sz="1305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</a:t>
              </a:r>
            </a:p>
          </p:txBody>
        </p:sp>
      </p:grpSp>
      <p:grpSp>
        <p:nvGrpSpPr>
          <p:cNvPr id="108" name="Group 108"/>
          <p:cNvGrpSpPr/>
          <p:nvPr/>
        </p:nvGrpSpPr>
        <p:grpSpPr>
          <a:xfrm>
            <a:off x="11192256" y="4059936"/>
            <a:ext cx="1028700" cy="329184"/>
            <a:chOff x="0" y="0"/>
            <a:chExt cx="1371600" cy="438912"/>
          </a:xfrm>
        </p:grpSpPr>
        <p:sp>
          <p:nvSpPr>
            <p:cNvPr id="109" name="Freeform 109"/>
            <p:cNvSpPr/>
            <p:nvPr/>
          </p:nvSpPr>
          <p:spPr>
            <a:xfrm>
              <a:off x="0" y="0"/>
              <a:ext cx="1371600" cy="438912"/>
            </a:xfrm>
            <a:custGeom>
              <a:avLst/>
              <a:gdLst/>
              <a:ahLst/>
              <a:cxnLst/>
              <a:rect l="l" t="t" r="r" b="b"/>
              <a:pathLst>
                <a:path w="1371600" h="438912">
                  <a:moveTo>
                    <a:pt x="0" y="0"/>
                  </a:moveTo>
                  <a:lnTo>
                    <a:pt x="1371600" y="0"/>
                  </a:lnTo>
                  <a:lnTo>
                    <a:pt x="13716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890" b="-10890"/>
              </a:stretch>
            </a:blipFill>
          </p:spPr>
        </p:sp>
        <p:sp>
          <p:nvSpPr>
            <p:cNvPr id="110" name="TextBox 110"/>
            <p:cNvSpPr txBox="1"/>
            <p:nvPr/>
          </p:nvSpPr>
          <p:spPr>
            <a:xfrm>
              <a:off x="0" y="-19050"/>
              <a:ext cx="1371600" cy="4579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0"/>
                </a:lnSpc>
              </a:pPr>
              <a:r>
                <a:rPr lang="en-US" sz="1275" b="1">
                  <a:solidFill>
                    <a:srgbClr val="34D399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GET</a:t>
              </a: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11192256" y="4375404"/>
            <a:ext cx="2784348" cy="521208"/>
            <a:chOff x="0" y="0"/>
            <a:chExt cx="3712464" cy="694944"/>
          </a:xfrm>
        </p:grpSpPr>
        <p:sp>
          <p:nvSpPr>
            <p:cNvPr id="112" name="Freeform 112"/>
            <p:cNvSpPr/>
            <p:nvPr/>
          </p:nvSpPr>
          <p:spPr>
            <a:xfrm>
              <a:off x="0" y="0"/>
              <a:ext cx="3712464" cy="694944"/>
            </a:xfrm>
            <a:custGeom>
              <a:avLst/>
              <a:gdLst/>
              <a:ahLst/>
              <a:cxnLst/>
              <a:rect l="l" t="t" r="r" b="b"/>
              <a:pathLst>
                <a:path w="3712464" h="694944">
                  <a:moveTo>
                    <a:pt x="0" y="0"/>
                  </a:moveTo>
                  <a:lnTo>
                    <a:pt x="3712464" y="0"/>
                  </a:lnTo>
                  <a:lnTo>
                    <a:pt x="3712464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4091" b="-54091"/>
              </a:stretch>
            </a:blipFill>
          </p:spPr>
        </p:sp>
        <p:sp>
          <p:nvSpPr>
            <p:cNvPr id="113" name="TextBox 113"/>
            <p:cNvSpPr txBox="1"/>
            <p:nvPr/>
          </p:nvSpPr>
          <p:spPr>
            <a:xfrm>
              <a:off x="0" y="-28575"/>
              <a:ext cx="3712464" cy="7235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44"/>
                </a:lnSpc>
              </a:pPr>
              <a:r>
                <a:rPr lang="en-US" sz="1305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/:id</a:t>
              </a:r>
            </a:p>
          </p:txBody>
        </p:sp>
      </p:grpSp>
      <p:grpSp>
        <p:nvGrpSpPr>
          <p:cNvPr id="114" name="Group 114"/>
          <p:cNvGrpSpPr/>
          <p:nvPr/>
        </p:nvGrpSpPr>
        <p:grpSpPr>
          <a:xfrm>
            <a:off x="14364843" y="2116455"/>
            <a:ext cx="3214878" cy="6259830"/>
            <a:chOff x="0" y="0"/>
            <a:chExt cx="4286504" cy="8346440"/>
          </a:xfrm>
        </p:grpSpPr>
        <p:sp>
          <p:nvSpPr>
            <p:cNvPr id="115" name="Freeform 115"/>
            <p:cNvSpPr/>
            <p:nvPr/>
          </p:nvSpPr>
          <p:spPr>
            <a:xfrm>
              <a:off x="0" y="0"/>
              <a:ext cx="4286504" cy="8346439"/>
            </a:xfrm>
            <a:custGeom>
              <a:avLst/>
              <a:gdLst/>
              <a:ahLst/>
              <a:cxnLst/>
              <a:rect l="l" t="t" r="r" b="b"/>
              <a:pathLst>
                <a:path w="4286504" h="8346439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4120896" y="0"/>
                  </a:lnTo>
                  <a:cubicBezTo>
                    <a:pt x="4212336" y="0"/>
                    <a:pt x="4286504" y="74168"/>
                    <a:pt x="4286504" y="165608"/>
                  </a:cubicBezTo>
                  <a:lnTo>
                    <a:pt x="4286504" y="8180832"/>
                  </a:lnTo>
                  <a:cubicBezTo>
                    <a:pt x="4286504" y="8272272"/>
                    <a:pt x="4212336" y="8346439"/>
                    <a:pt x="4120896" y="8346439"/>
                  </a:cubicBezTo>
                  <a:lnTo>
                    <a:pt x="165608" y="8346439"/>
                  </a:lnTo>
                  <a:cubicBezTo>
                    <a:pt x="74168" y="8346440"/>
                    <a:pt x="0" y="8272272"/>
                    <a:pt x="0" y="8180832"/>
                  </a:cubicBezTo>
                  <a:close/>
                </a:path>
              </a:pathLst>
            </a:custGeom>
            <a:solidFill>
              <a:srgbClr val="16213A"/>
            </a:solidFill>
            <a:ln w="19050" cap="sq">
              <a:solidFill>
                <a:srgbClr val="F472B6"/>
              </a:solidFill>
              <a:prstDash val="solid"/>
              <a:miter/>
            </a:ln>
          </p:spPr>
        </p:sp>
      </p:grpSp>
      <p:grpSp>
        <p:nvGrpSpPr>
          <p:cNvPr id="116" name="Group 116"/>
          <p:cNvGrpSpPr/>
          <p:nvPr/>
        </p:nvGrpSpPr>
        <p:grpSpPr>
          <a:xfrm>
            <a:off x="14580108" y="2331720"/>
            <a:ext cx="2784348" cy="548640"/>
            <a:chOff x="0" y="0"/>
            <a:chExt cx="3712464" cy="731520"/>
          </a:xfrm>
        </p:grpSpPr>
        <p:sp>
          <p:nvSpPr>
            <p:cNvPr id="117" name="Freeform 117"/>
            <p:cNvSpPr/>
            <p:nvPr/>
          </p:nvSpPr>
          <p:spPr>
            <a:xfrm>
              <a:off x="0" y="0"/>
              <a:ext cx="3712464" cy="731520"/>
            </a:xfrm>
            <a:custGeom>
              <a:avLst/>
              <a:gdLst/>
              <a:ahLst/>
              <a:cxnLst/>
              <a:rect l="l" t="t" r="r" b="b"/>
              <a:pathLst>
                <a:path w="3712464" h="731520">
                  <a:moveTo>
                    <a:pt x="0" y="0"/>
                  </a:moveTo>
                  <a:lnTo>
                    <a:pt x="3712464" y="0"/>
                  </a:lnTo>
                  <a:lnTo>
                    <a:pt x="371246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886" b="-48886"/>
              </a:stretch>
            </a:blipFill>
          </p:spPr>
        </p:sp>
        <p:sp>
          <p:nvSpPr>
            <p:cNvPr id="118" name="TextBox 118"/>
            <p:cNvSpPr txBox="1"/>
            <p:nvPr/>
          </p:nvSpPr>
          <p:spPr>
            <a:xfrm>
              <a:off x="0" y="-47625"/>
              <a:ext cx="3712464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68"/>
                </a:lnSpc>
              </a:pPr>
              <a:r>
                <a:rPr lang="en-US" sz="1800" b="1">
                  <a:solidFill>
                    <a:srgbClr val="F472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/api/progress</a:t>
              </a:r>
            </a:p>
          </p:txBody>
        </p:sp>
      </p:grpSp>
      <p:sp>
        <p:nvSpPr>
          <p:cNvPr id="119" name="AutoShape 119"/>
          <p:cNvSpPr/>
          <p:nvPr/>
        </p:nvSpPr>
        <p:spPr>
          <a:xfrm rot="23340">
            <a:off x="14570554" y="2944178"/>
            <a:ext cx="2803465" cy="0"/>
          </a:xfrm>
          <a:prstGeom prst="line">
            <a:avLst/>
          </a:prstGeom>
          <a:ln w="9525" cap="rnd">
            <a:solidFill>
              <a:srgbClr val="2E3B5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0" name="Group 120"/>
          <p:cNvGrpSpPr/>
          <p:nvPr/>
        </p:nvGrpSpPr>
        <p:grpSpPr>
          <a:xfrm>
            <a:off x="14580108" y="3195828"/>
            <a:ext cx="1028700" cy="329184"/>
            <a:chOff x="0" y="0"/>
            <a:chExt cx="1371600" cy="438912"/>
          </a:xfrm>
        </p:grpSpPr>
        <p:sp>
          <p:nvSpPr>
            <p:cNvPr id="121" name="Freeform 121"/>
            <p:cNvSpPr/>
            <p:nvPr/>
          </p:nvSpPr>
          <p:spPr>
            <a:xfrm>
              <a:off x="0" y="0"/>
              <a:ext cx="1371600" cy="438912"/>
            </a:xfrm>
            <a:custGeom>
              <a:avLst/>
              <a:gdLst/>
              <a:ahLst/>
              <a:cxnLst/>
              <a:rect l="l" t="t" r="r" b="b"/>
              <a:pathLst>
                <a:path w="1371600" h="438912">
                  <a:moveTo>
                    <a:pt x="0" y="0"/>
                  </a:moveTo>
                  <a:lnTo>
                    <a:pt x="1371600" y="0"/>
                  </a:lnTo>
                  <a:lnTo>
                    <a:pt x="13716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890" b="-10890"/>
              </a:stretch>
            </a:blipFill>
          </p:spPr>
        </p:sp>
        <p:sp>
          <p:nvSpPr>
            <p:cNvPr id="122" name="TextBox 122"/>
            <p:cNvSpPr txBox="1"/>
            <p:nvPr/>
          </p:nvSpPr>
          <p:spPr>
            <a:xfrm>
              <a:off x="0" y="-19050"/>
              <a:ext cx="1371600" cy="4579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0"/>
                </a:lnSpc>
              </a:pPr>
              <a:r>
                <a:rPr lang="en-US" sz="1275" b="1">
                  <a:solidFill>
                    <a:srgbClr val="34D399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GET</a:t>
              </a:r>
            </a:p>
          </p:txBody>
        </p:sp>
      </p:grpSp>
      <p:grpSp>
        <p:nvGrpSpPr>
          <p:cNvPr id="123" name="Group 123"/>
          <p:cNvGrpSpPr/>
          <p:nvPr/>
        </p:nvGrpSpPr>
        <p:grpSpPr>
          <a:xfrm>
            <a:off x="14580108" y="3511296"/>
            <a:ext cx="2784348" cy="521208"/>
            <a:chOff x="0" y="0"/>
            <a:chExt cx="3712464" cy="694944"/>
          </a:xfrm>
        </p:grpSpPr>
        <p:sp>
          <p:nvSpPr>
            <p:cNvPr id="124" name="Freeform 124"/>
            <p:cNvSpPr/>
            <p:nvPr/>
          </p:nvSpPr>
          <p:spPr>
            <a:xfrm>
              <a:off x="0" y="0"/>
              <a:ext cx="3712464" cy="694944"/>
            </a:xfrm>
            <a:custGeom>
              <a:avLst/>
              <a:gdLst/>
              <a:ahLst/>
              <a:cxnLst/>
              <a:rect l="l" t="t" r="r" b="b"/>
              <a:pathLst>
                <a:path w="3712464" h="694944">
                  <a:moveTo>
                    <a:pt x="0" y="0"/>
                  </a:moveTo>
                  <a:lnTo>
                    <a:pt x="3712464" y="0"/>
                  </a:lnTo>
                  <a:lnTo>
                    <a:pt x="3712464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4091" b="-54091"/>
              </a:stretch>
            </a:blipFill>
          </p:spPr>
        </p:sp>
        <p:sp>
          <p:nvSpPr>
            <p:cNvPr id="125" name="TextBox 125"/>
            <p:cNvSpPr txBox="1"/>
            <p:nvPr/>
          </p:nvSpPr>
          <p:spPr>
            <a:xfrm>
              <a:off x="0" y="-28575"/>
              <a:ext cx="3712464" cy="7235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44"/>
                </a:lnSpc>
              </a:pPr>
              <a:r>
                <a:rPr lang="en-US" sz="1305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</a:t>
              </a:r>
            </a:p>
          </p:txBody>
        </p:sp>
      </p:grpSp>
      <p:grpSp>
        <p:nvGrpSpPr>
          <p:cNvPr id="126" name="Group 126"/>
          <p:cNvGrpSpPr/>
          <p:nvPr/>
        </p:nvGrpSpPr>
        <p:grpSpPr>
          <a:xfrm>
            <a:off x="822960" y="8778240"/>
            <a:ext cx="16596360" cy="754380"/>
            <a:chOff x="0" y="0"/>
            <a:chExt cx="22128480" cy="1005840"/>
          </a:xfrm>
        </p:grpSpPr>
        <p:sp>
          <p:nvSpPr>
            <p:cNvPr id="127" name="Freeform 127"/>
            <p:cNvSpPr/>
            <p:nvPr/>
          </p:nvSpPr>
          <p:spPr>
            <a:xfrm>
              <a:off x="0" y="0"/>
              <a:ext cx="22128480" cy="1005840"/>
            </a:xfrm>
            <a:custGeom>
              <a:avLst/>
              <a:gdLst/>
              <a:ahLst/>
              <a:cxnLst/>
              <a:rect l="l" t="t" r="r" b="b"/>
              <a:pathLst>
                <a:path w="22128480" h="1005840">
                  <a:moveTo>
                    <a:pt x="0" y="0"/>
                  </a:moveTo>
                  <a:lnTo>
                    <a:pt x="22128480" y="0"/>
                  </a:lnTo>
                  <a:lnTo>
                    <a:pt x="221284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8670" b="-378670"/>
              </a:stretch>
            </a:blipFill>
          </p:spPr>
        </p:sp>
        <p:sp>
          <p:nvSpPr>
            <p:cNvPr id="128" name="TextBox 128"/>
            <p:cNvSpPr txBox="1"/>
            <p:nvPr/>
          </p:nvSpPr>
          <p:spPr>
            <a:xfrm>
              <a:off x="0" y="-66675"/>
              <a:ext cx="22128480" cy="10725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76"/>
                </a:lnSpc>
              </a:pPr>
              <a:r>
                <a:rPr lang="en-US" sz="1650" i="1">
                  <a:solidFill>
                    <a:srgbClr val="94A3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All /interviews, /feedback, /progress and auth/me routes run through the JWT “protect” middleware; /questions and auth register/login are public.</a:t>
              </a:r>
            </a:p>
          </p:txBody>
        </p:sp>
      </p:grpSp>
      <p:grpSp>
        <p:nvGrpSpPr>
          <p:cNvPr id="129" name="Group 129"/>
          <p:cNvGrpSpPr/>
          <p:nvPr/>
        </p:nvGrpSpPr>
        <p:grpSpPr>
          <a:xfrm>
            <a:off x="822960" y="9710928"/>
            <a:ext cx="8229600" cy="411480"/>
            <a:chOff x="0" y="0"/>
            <a:chExt cx="10972800" cy="548640"/>
          </a:xfrm>
        </p:grpSpPr>
        <p:sp>
          <p:nvSpPr>
            <p:cNvPr id="130" name="Freeform 130"/>
            <p:cNvSpPr/>
            <p:nvPr/>
          </p:nvSpPr>
          <p:spPr>
            <a:xfrm>
              <a:off x="0" y="0"/>
              <a:ext cx="10972800" cy="548640"/>
            </a:xfrm>
            <a:custGeom>
              <a:avLst/>
              <a:gdLst/>
              <a:ahLst/>
              <a:cxnLst/>
              <a:rect l="l" t="t" r="r" b="b"/>
              <a:pathLst>
                <a:path w="10972800" h="54864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131" name="TextBox 131"/>
            <p:cNvSpPr txBox="1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Interview Practice Platform</a:t>
              </a:r>
            </a:p>
          </p:txBody>
        </p:sp>
      </p:grpSp>
      <p:grpSp>
        <p:nvGrpSpPr>
          <p:cNvPr id="132" name="Group 132"/>
          <p:cNvGrpSpPr/>
          <p:nvPr/>
        </p:nvGrpSpPr>
        <p:grpSpPr>
          <a:xfrm>
            <a:off x="16641623" y="9710928"/>
            <a:ext cx="822960" cy="411480"/>
            <a:chOff x="0" y="0"/>
            <a:chExt cx="1097280" cy="548640"/>
          </a:xfrm>
        </p:grpSpPr>
        <p:sp>
          <p:nvSpPr>
            <p:cNvPr id="133" name="Freeform 133"/>
            <p:cNvSpPr/>
            <p:nvPr/>
          </p:nvSpPr>
          <p:spPr>
            <a:xfrm>
              <a:off x="0" y="0"/>
              <a:ext cx="1097280" cy="548640"/>
            </a:xfrm>
            <a:custGeom>
              <a:avLst/>
              <a:gdLst/>
              <a:ahLst/>
              <a:cxnLst/>
              <a:rect l="l" t="t" r="r" b="b"/>
              <a:pathLst>
                <a:path w="1097280" h="54864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134" name="TextBox 134"/>
            <p:cNvSpPr txBox="1"/>
            <p:nvPr/>
          </p:nvSpPr>
          <p:spPr>
            <a:xfrm>
              <a:off x="0" y="-28575"/>
              <a:ext cx="109728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</a:t>
              </a:r>
            </a:p>
          </p:txBody>
        </p:sp>
      </p:grpSp>
      <p:pic>
        <p:nvPicPr>
          <p:cNvPr id="136" name="Picture 135" descr="Our Team - KLH Bachupally">
            <a:extLst>
              <a:ext uri="{FF2B5EF4-FFF2-40B4-BE49-F238E27FC236}">
                <a16:creationId xmlns:a16="http://schemas.microsoft.com/office/drawing/2014/main" id="{B65775C4-04C1-D3DF-ED9E-6C5C0F11B7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72054" y="0"/>
            <a:ext cx="3115946" cy="161964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480060"/>
            <a:ext cx="10972800" cy="411480"/>
            <a:chOff x="0" y="0"/>
            <a:chExt cx="14630400" cy="5486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0400" cy="548640"/>
            </a:xfrm>
            <a:custGeom>
              <a:avLst/>
              <a:gdLst/>
              <a:ahLst/>
              <a:cxnLst/>
              <a:rect l="l" t="t" r="r" b="b"/>
              <a:pathLst>
                <a:path w="14630400" h="54864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9601" b="-469601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300">
                  <a:solidFill>
                    <a:srgbClr val="818C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REACT ROUTER PAGES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850392"/>
            <a:ext cx="15773400" cy="960120"/>
            <a:chOff x="0" y="0"/>
            <a:chExt cx="21031200" cy="12801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031200" cy="1280160"/>
            </a:xfrm>
            <a:custGeom>
              <a:avLst/>
              <a:gdLst/>
              <a:ahLst/>
              <a:cxnLst/>
              <a:rect l="l" t="t" r="r" b="b"/>
              <a:pathLst>
                <a:path w="21031200" h="128016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0111" b="-270111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21031200" cy="13658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User Journey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035583" y="548640"/>
            <a:ext cx="3429000" cy="411480"/>
            <a:chOff x="0" y="0"/>
            <a:chExt cx="4572000" cy="5486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572000" cy="548640"/>
            </a:xfrm>
            <a:custGeom>
              <a:avLst/>
              <a:gdLst/>
              <a:ahLst/>
              <a:cxnLst/>
              <a:rect l="l" t="t" r="r" b="b"/>
              <a:pathLst>
                <a:path w="4572000" h="548640">
                  <a:moveTo>
                    <a:pt x="0" y="0"/>
                  </a:moveTo>
                  <a:lnTo>
                    <a:pt x="4572000" y="0"/>
                  </a:lnTo>
                  <a:lnTo>
                    <a:pt x="4572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2375" b="-112375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45720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980"/>
                </a:lnSpc>
              </a:pPr>
              <a:r>
                <a:rPr lang="en-US" sz="1650" b="1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INTTE</a:t>
              </a:r>
              <a:r>
                <a:rPr lang="en-US" sz="1650" b="1">
                  <a:solidFill>
                    <a:srgbClr val="818C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REE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 rot="3960">
            <a:off x="813425" y="1750886"/>
            <a:ext cx="16660682" cy="0"/>
          </a:xfrm>
          <a:prstGeom prst="line">
            <a:avLst/>
          </a:prstGeom>
          <a:ln w="9525" cap="rnd">
            <a:solidFill>
              <a:srgbClr val="2E3B5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>
            <a:off x="813435" y="3556635"/>
            <a:ext cx="2556510" cy="2350770"/>
            <a:chOff x="0" y="0"/>
            <a:chExt cx="3408680" cy="31343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408680" cy="3134360"/>
            </a:xfrm>
            <a:custGeom>
              <a:avLst/>
              <a:gdLst/>
              <a:ahLst/>
              <a:cxnLst/>
              <a:rect l="l" t="t" r="r" b="b"/>
              <a:pathLst>
                <a:path w="3408680" h="3134360">
                  <a:moveTo>
                    <a:pt x="0" y="165989"/>
                  </a:moveTo>
                  <a:cubicBezTo>
                    <a:pt x="0" y="74295"/>
                    <a:pt x="74295" y="0"/>
                    <a:pt x="165989" y="0"/>
                  </a:cubicBezTo>
                  <a:lnTo>
                    <a:pt x="3242691" y="0"/>
                  </a:lnTo>
                  <a:cubicBezTo>
                    <a:pt x="3334385" y="0"/>
                    <a:pt x="3408680" y="74295"/>
                    <a:pt x="3408680" y="165989"/>
                  </a:cubicBezTo>
                  <a:lnTo>
                    <a:pt x="3408680" y="2968371"/>
                  </a:lnTo>
                  <a:cubicBezTo>
                    <a:pt x="3408680" y="3060065"/>
                    <a:pt x="3334385" y="3134360"/>
                    <a:pt x="3242691" y="3134360"/>
                  </a:cubicBezTo>
                  <a:lnTo>
                    <a:pt x="165989" y="3134360"/>
                  </a:lnTo>
                  <a:cubicBezTo>
                    <a:pt x="74295" y="3134360"/>
                    <a:pt x="0" y="3060065"/>
                    <a:pt x="0" y="2968371"/>
                  </a:cubicBezTo>
                  <a:close/>
                </a:path>
              </a:pathLst>
            </a:custGeom>
            <a:solidFill>
              <a:srgbClr val="16213A"/>
            </a:solidFill>
            <a:ln w="19050" cap="sq">
              <a:solidFill>
                <a:srgbClr val="34D399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866900" y="3341370"/>
            <a:ext cx="449580" cy="449580"/>
            <a:chOff x="0" y="0"/>
            <a:chExt cx="599440" cy="5994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99440" cy="599440"/>
            </a:xfrm>
            <a:custGeom>
              <a:avLst/>
              <a:gdLst/>
              <a:ahLst/>
              <a:cxnLst/>
              <a:rect l="l" t="t" r="r" b="b"/>
              <a:pathLst>
                <a:path w="599440" h="599440">
                  <a:moveTo>
                    <a:pt x="0" y="299720"/>
                  </a:moveTo>
                  <a:cubicBezTo>
                    <a:pt x="0" y="134239"/>
                    <a:pt x="134239" y="0"/>
                    <a:pt x="299720" y="0"/>
                  </a:cubicBezTo>
                  <a:cubicBezTo>
                    <a:pt x="465201" y="0"/>
                    <a:pt x="599440" y="134239"/>
                    <a:pt x="599440" y="299720"/>
                  </a:cubicBezTo>
                  <a:cubicBezTo>
                    <a:pt x="599440" y="465201"/>
                    <a:pt x="465201" y="599440"/>
                    <a:pt x="299720" y="599440"/>
                  </a:cubicBezTo>
                  <a:cubicBezTo>
                    <a:pt x="134239" y="599440"/>
                    <a:pt x="0" y="465201"/>
                    <a:pt x="0" y="299720"/>
                  </a:cubicBezTo>
                  <a:close/>
                </a:path>
              </a:pathLst>
            </a:custGeom>
            <a:solidFill>
              <a:srgbClr val="34D399"/>
            </a:solidFill>
            <a:ln w="38100" cap="sq">
              <a:solidFill>
                <a:srgbClr val="0F172A"/>
              </a:solidFill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1885950" y="3346704"/>
            <a:ext cx="411480" cy="411480"/>
            <a:chOff x="0" y="0"/>
            <a:chExt cx="548640" cy="54864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28575"/>
              <a:ext cx="54864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60120" y="3950208"/>
            <a:ext cx="2263140" cy="822960"/>
            <a:chOff x="0" y="0"/>
            <a:chExt cx="3017520" cy="109728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017520" cy="1097280"/>
            </a:xfrm>
            <a:custGeom>
              <a:avLst/>
              <a:gdLst/>
              <a:ahLst/>
              <a:cxnLst/>
              <a:rect l="l" t="t" r="r" b="b"/>
              <a:pathLst>
                <a:path w="3017520" h="1097280">
                  <a:moveTo>
                    <a:pt x="0" y="0"/>
                  </a:moveTo>
                  <a:lnTo>
                    <a:pt x="3017520" y="0"/>
                  </a:lnTo>
                  <a:lnTo>
                    <a:pt x="3017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83" b="-3583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3017520" cy="11449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68"/>
                </a:lnSpc>
              </a:pPr>
              <a:r>
                <a:rPr lang="en-US" sz="1800" b="1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Login /</a:t>
              </a:r>
            </a:p>
            <a:p>
              <a:pPr algn="ctr">
                <a:lnSpc>
                  <a:spcPts val="2268"/>
                </a:lnSpc>
              </a:pPr>
              <a:r>
                <a:rPr lang="en-US" sz="1800" b="1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Register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60120" y="4869180"/>
            <a:ext cx="2263140" cy="891540"/>
            <a:chOff x="0" y="0"/>
            <a:chExt cx="3017520" cy="118872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017520" cy="1188720"/>
            </a:xfrm>
            <a:custGeom>
              <a:avLst/>
              <a:gdLst/>
              <a:ahLst/>
              <a:cxnLst/>
              <a:rect l="l" t="t" r="r" b="b"/>
              <a:pathLst>
                <a:path w="3017520" h="1188720">
                  <a:moveTo>
                    <a:pt x="0" y="0"/>
                  </a:moveTo>
                  <a:lnTo>
                    <a:pt x="3017520" y="0"/>
                  </a:lnTo>
                  <a:lnTo>
                    <a:pt x="30175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43" r="-543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3017520" cy="12363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22"/>
                </a:lnSpc>
              </a:pPr>
              <a:r>
                <a:rPr lang="en-US" sz="1305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JWT issued, stored client-side</a:t>
              </a:r>
            </a:p>
          </p:txBody>
        </p:sp>
      </p:grpSp>
      <p:sp>
        <p:nvSpPr>
          <p:cNvPr id="25" name="AutoShape 25"/>
          <p:cNvSpPr/>
          <p:nvPr/>
        </p:nvSpPr>
        <p:spPr>
          <a:xfrm rot="314880">
            <a:off x="3345475" y="4722495"/>
            <a:ext cx="312430" cy="0"/>
          </a:xfrm>
          <a:prstGeom prst="line">
            <a:avLst/>
          </a:prstGeom>
          <a:ln w="19050" cap="rnd">
            <a:solidFill>
              <a:srgbClr val="94A3B8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26" name="Group 26"/>
          <p:cNvGrpSpPr/>
          <p:nvPr/>
        </p:nvGrpSpPr>
        <p:grpSpPr>
          <a:xfrm>
            <a:off x="3633445" y="3556635"/>
            <a:ext cx="2556510" cy="2350770"/>
            <a:chOff x="0" y="0"/>
            <a:chExt cx="3408680" cy="313436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408680" cy="3134360"/>
            </a:xfrm>
            <a:custGeom>
              <a:avLst/>
              <a:gdLst/>
              <a:ahLst/>
              <a:cxnLst/>
              <a:rect l="l" t="t" r="r" b="b"/>
              <a:pathLst>
                <a:path w="3408680" h="3134360">
                  <a:moveTo>
                    <a:pt x="0" y="165989"/>
                  </a:moveTo>
                  <a:cubicBezTo>
                    <a:pt x="0" y="74295"/>
                    <a:pt x="74295" y="0"/>
                    <a:pt x="165989" y="0"/>
                  </a:cubicBezTo>
                  <a:lnTo>
                    <a:pt x="3242691" y="0"/>
                  </a:lnTo>
                  <a:cubicBezTo>
                    <a:pt x="3334385" y="0"/>
                    <a:pt x="3408680" y="74295"/>
                    <a:pt x="3408680" y="165989"/>
                  </a:cubicBezTo>
                  <a:lnTo>
                    <a:pt x="3408680" y="2968371"/>
                  </a:lnTo>
                  <a:cubicBezTo>
                    <a:pt x="3408680" y="3060065"/>
                    <a:pt x="3334385" y="3134360"/>
                    <a:pt x="3242691" y="3134360"/>
                  </a:cubicBezTo>
                  <a:lnTo>
                    <a:pt x="165989" y="3134360"/>
                  </a:lnTo>
                  <a:cubicBezTo>
                    <a:pt x="74295" y="3134360"/>
                    <a:pt x="0" y="3060065"/>
                    <a:pt x="0" y="2968371"/>
                  </a:cubicBezTo>
                  <a:close/>
                </a:path>
              </a:pathLst>
            </a:custGeom>
            <a:solidFill>
              <a:srgbClr val="16213A"/>
            </a:solidFill>
            <a:ln w="19050" cap="sq">
              <a:solidFill>
                <a:srgbClr val="818CF8"/>
              </a:solidFill>
              <a:prstDash val="solid"/>
              <a:miter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4686910" y="3341370"/>
            <a:ext cx="449580" cy="449580"/>
            <a:chOff x="0" y="0"/>
            <a:chExt cx="599440" cy="59944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99440" cy="599440"/>
            </a:xfrm>
            <a:custGeom>
              <a:avLst/>
              <a:gdLst/>
              <a:ahLst/>
              <a:cxnLst/>
              <a:rect l="l" t="t" r="r" b="b"/>
              <a:pathLst>
                <a:path w="599440" h="599440">
                  <a:moveTo>
                    <a:pt x="0" y="299720"/>
                  </a:moveTo>
                  <a:cubicBezTo>
                    <a:pt x="0" y="134239"/>
                    <a:pt x="134239" y="0"/>
                    <a:pt x="299720" y="0"/>
                  </a:cubicBezTo>
                  <a:cubicBezTo>
                    <a:pt x="465201" y="0"/>
                    <a:pt x="599440" y="134239"/>
                    <a:pt x="599440" y="299720"/>
                  </a:cubicBezTo>
                  <a:cubicBezTo>
                    <a:pt x="599440" y="465201"/>
                    <a:pt x="465201" y="599440"/>
                    <a:pt x="299720" y="599440"/>
                  </a:cubicBezTo>
                  <a:cubicBezTo>
                    <a:pt x="134239" y="599440"/>
                    <a:pt x="0" y="465201"/>
                    <a:pt x="0" y="299720"/>
                  </a:cubicBezTo>
                  <a:close/>
                </a:path>
              </a:pathLst>
            </a:custGeom>
            <a:solidFill>
              <a:srgbClr val="818CF8"/>
            </a:solidFill>
            <a:ln w="38100" cap="sq">
              <a:solidFill>
                <a:srgbClr val="0F172A"/>
              </a:solidFill>
              <a:prstDash val="solid"/>
              <a:miter/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4705960" y="3346704"/>
            <a:ext cx="411480" cy="411480"/>
            <a:chOff x="0" y="0"/>
            <a:chExt cx="548640" cy="54864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-28575"/>
              <a:ext cx="54864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3780130" y="3950208"/>
            <a:ext cx="2263140" cy="822960"/>
            <a:chOff x="0" y="0"/>
            <a:chExt cx="3017520" cy="109728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3017520" cy="1097280"/>
            </a:xfrm>
            <a:custGeom>
              <a:avLst/>
              <a:gdLst/>
              <a:ahLst/>
              <a:cxnLst/>
              <a:rect l="l" t="t" r="r" b="b"/>
              <a:pathLst>
                <a:path w="3017520" h="1097280">
                  <a:moveTo>
                    <a:pt x="0" y="0"/>
                  </a:moveTo>
                  <a:lnTo>
                    <a:pt x="3017520" y="0"/>
                  </a:lnTo>
                  <a:lnTo>
                    <a:pt x="3017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83" b="-3583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47625"/>
              <a:ext cx="3017520" cy="11449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68"/>
                </a:lnSpc>
              </a:pPr>
              <a:r>
                <a:rPr lang="en-US" sz="1800" b="1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Dashboard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3780130" y="4869180"/>
            <a:ext cx="2263140" cy="891540"/>
            <a:chOff x="0" y="0"/>
            <a:chExt cx="3017520" cy="118872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017520" cy="1188720"/>
            </a:xfrm>
            <a:custGeom>
              <a:avLst/>
              <a:gdLst/>
              <a:ahLst/>
              <a:cxnLst/>
              <a:rect l="l" t="t" r="r" b="b"/>
              <a:pathLst>
                <a:path w="3017520" h="1188720">
                  <a:moveTo>
                    <a:pt x="0" y="0"/>
                  </a:moveTo>
                  <a:lnTo>
                    <a:pt x="3017520" y="0"/>
                  </a:lnTo>
                  <a:lnTo>
                    <a:pt x="30175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43" r="-543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47625"/>
              <a:ext cx="3017520" cy="12363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22"/>
                </a:lnSpc>
              </a:pPr>
              <a:r>
                <a:rPr lang="en-US" sz="1305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Quick stats + recent sessions</a:t>
              </a:r>
            </a:p>
          </p:txBody>
        </p:sp>
      </p:grpSp>
      <p:sp>
        <p:nvSpPr>
          <p:cNvPr id="39" name="AutoShape 39"/>
          <p:cNvSpPr/>
          <p:nvPr/>
        </p:nvSpPr>
        <p:spPr>
          <a:xfrm rot="314880">
            <a:off x="6165485" y="4722495"/>
            <a:ext cx="312430" cy="0"/>
          </a:xfrm>
          <a:prstGeom prst="line">
            <a:avLst/>
          </a:prstGeom>
          <a:ln w="19050" cap="rnd">
            <a:solidFill>
              <a:srgbClr val="94A3B8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40" name="Group 40"/>
          <p:cNvGrpSpPr/>
          <p:nvPr/>
        </p:nvGrpSpPr>
        <p:grpSpPr>
          <a:xfrm>
            <a:off x="6453454" y="3556635"/>
            <a:ext cx="2556510" cy="2350770"/>
            <a:chOff x="0" y="0"/>
            <a:chExt cx="3408680" cy="313436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3408680" cy="3134360"/>
            </a:xfrm>
            <a:custGeom>
              <a:avLst/>
              <a:gdLst/>
              <a:ahLst/>
              <a:cxnLst/>
              <a:rect l="l" t="t" r="r" b="b"/>
              <a:pathLst>
                <a:path w="3408680" h="3134360">
                  <a:moveTo>
                    <a:pt x="0" y="165989"/>
                  </a:moveTo>
                  <a:cubicBezTo>
                    <a:pt x="0" y="74295"/>
                    <a:pt x="74295" y="0"/>
                    <a:pt x="165989" y="0"/>
                  </a:cubicBezTo>
                  <a:lnTo>
                    <a:pt x="3242691" y="0"/>
                  </a:lnTo>
                  <a:cubicBezTo>
                    <a:pt x="3334385" y="0"/>
                    <a:pt x="3408680" y="74295"/>
                    <a:pt x="3408680" y="165989"/>
                  </a:cubicBezTo>
                  <a:lnTo>
                    <a:pt x="3408680" y="2968371"/>
                  </a:lnTo>
                  <a:cubicBezTo>
                    <a:pt x="3408680" y="3060065"/>
                    <a:pt x="3334385" y="3134360"/>
                    <a:pt x="3242691" y="3134360"/>
                  </a:cubicBezTo>
                  <a:lnTo>
                    <a:pt x="165989" y="3134360"/>
                  </a:lnTo>
                  <a:cubicBezTo>
                    <a:pt x="74295" y="3134360"/>
                    <a:pt x="0" y="3060065"/>
                    <a:pt x="0" y="2968371"/>
                  </a:cubicBezTo>
                  <a:close/>
                </a:path>
              </a:pathLst>
            </a:custGeom>
            <a:solidFill>
              <a:srgbClr val="16213A"/>
            </a:solidFill>
            <a:ln w="19050" cap="sq">
              <a:solidFill>
                <a:srgbClr val="22D3EE"/>
              </a:solidFill>
              <a:prstDash val="solid"/>
              <a:miter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7506919" y="3341370"/>
            <a:ext cx="449580" cy="449580"/>
            <a:chOff x="0" y="0"/>
            <a:chExt cx="599440" cy="59944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599440" cy="599440"/>
            </a:xfrm>
            <a:custGeom>
              <a:avLst/>
              <a:gdLst/>
              <a:ahLst/>
              <a:cxnLst/>
              <a:rect l="l" t="t" r="r" b="b"/>
              <a:pathLst>
                <a:path w="599440" h="599440">
                  <a:moveTo>
                    <a:pt x="0" y="299720"/>
                  </a:moveTo>
                  <a:cubicBezTo>
                    <a:pt x="0" y="134239"/>
                    <a:pt x="134239" y="0"/>
                    <a:pt x="299720" y="0"/>
                  </a:cubicBezTo>
                  <a:cubicBezTo>
                    <a:pt x="465201" y="0"/>
                    <a:pt x="599440" y="134239"/>
                    <a:pt x="599440" y="299720"/>
                  </a:cubicBezTo>
                  <a:cubicBezTo>
                    <a:pt x="599440" y="465201"/>
                    <a:pt x="465201" y="599440"/>
                    <a:pt x="299720" y="599440"/>
                  </a:cubicBezTo>
                  <a:cubicBezTo>
                    <a:pt x="134239" y="599440"/>
                    <a:pt x="0" y="465201"/>
                    <a:pt x="0" y="299720"/>
                  </a:cubicBezTo>
                  <a:close/>
                </a:path>
              </a:pathLst>
            </a:custGeom>
            <a:solidFill>
              <a:srgbClr val="22D3EE"/>
            </a:solidFill>
            <a:ln w="38100" cap="sq">
              <a:solidFill>
                <a:srgbClr val="0F172A"/>
              </a:solidFill>
              <a:prstDash val="solid"/>
              <a:miter/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7525969" y="3346704"/>
            <a:ext cx="411480" cy="411480"/>
            <a:chOff x="0" y="0"/>
            <a:chExt cx="548640" cy="54864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28575"/>
              <a:ext cx="54864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600139" y="3950208"/>
            <a:ext cx="2263140" cy="822960"/>
            <a:chOff x="0" y="0"/>
            <a:chExt cx="3017520" cy="109728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3017520" cy="1097280"/>
            </a:xfrm>
            <a:custGeom>
              <a:avLst/>
              <a:gdLst/>
              <a:ahLst/>
              <a:cxnLst/>
              <a:rect l="l" t="t" r="r" b="b"/>
              <a:pathLst>
                <a:path w="3017520" h="1097280">
                  <a:moveTo>
                    <a:pt x="0" y="0"/>
                  </a:moveTo>
                  <a:lnTo>
                    <a:pt x="3017520" y="0"/>
                  </a:lnTo>
                  <a:lnTo>
                    <a:pt x="3017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83" b="-3583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47625"/>
              <a:ext cx="3017520" cy="11449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68"/>
                </a:lnSpc>
              </a:pPr>
              <a:r>
                <a:rPr lang="en-US" sz="1800" b="1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Categories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600139" y="4869180"/>
            <a:ext cx="2263140" cy="891540"/>
            <a:chOff x="0" y="0"/>
            <a:chExt cx="3017520" cy="118872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3017520" cy="1188720"/>
            </a:xfrm>
            <a:custGeom>
              <a:avLst/>
              <a:gdLst/>
              <a:ahLst/>
              <a:cxnLst/>
              <a:rect l="l" t="t" r="r" b="b"/>
              <a:pathLst>
                <a:path w="3017520" h="1188720">
                  <a:moveTo>
                    <a:pt x="0" y="0"/>
                  </a:moveTo>
                  <a:lnTo>
                    <a:pt x="3017520" y="0"/>
                  </a:lnTo>
                  <a:lnTo>
                    <a:pt x="30175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43" r="-543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47625"/>
              <a:ext cx="3017520" cy="12363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22"/>
                </a:lnSpc>
              </a:pPr>
              <a:r>
                <a:rPr lang="en-US" sz="1305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Configure category, role, count</a:t>
              </a:r>
            </a:p>
          </p:txBody>
        </p:sp>
      </p:grpSp>
      <p:sp>
        <p:nvSpPr>
          <p:cNvPr id="53" name="AutoShape 53"/>
          <p:cNvSpPr/>
          <p:nvPr/>
        </p:nvSpPr>
        <p:spPr>
          <a:xfrm rot="314880">
            <a:off x="8985494" y="4722495"/>
            <a:ext cx="312430" cy="0"/>
          </a:xfrm>
          <a:prstGeom prst="line">
            <a:avLst/>
          </a:prstGeom>
          <a:ln w="19050" cap="rnd">
            <a:solidFill>
              <a:srgbClr val="94A3B8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54" name="Group 54"/>
          <p:cNvGrpSpPr/>
          <p:nvPr/>
        </p:nvGrpSpPr>
        <p:grpSpPr>
          <a:xfrm>
            <a:off x="9273464" y="3556635"/>
            <a:ext cx="2556510" cy="2350770"/>
            <a:chOff x="0" y="0"/>
            <a:chExt cx="3408680" cy="313436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3408680" cy="3134360"/>
            </a:xfrm>
            <a:custGeom>
              <a:avLst/>
              <a:gdLst/>
              <a:ahLst/>
              <a:cxnLst/>
              <a:rect l="l" t="t" r="r" b="b"/>
              <a:pathLst>
                <a:path w="3408680" h="3134360">
                  <a:moveTo>
                    <a:pt x="0" y="165989"/>
                  </a:moveTo>
                  <a:cubicBezTo>
                    <a:pt x="0" y="74295"/>
                    <a:pt x="74295" y="0"/>
                    <a:pt x="165989" y="0"/>
                  </a:cubicBezTo>
                  <a:lnTo>
                    <a:pt x="3242691" y="0"/>
                  </a:lnTo>
                  <a:cubicBezTo>
                    <a:pt x="3334385" y="0"/>
                    <a:pt x="3408680" y="74295"/>
                    <a:pt x="3408680" y="165989"/>
                  </a:cubicBezTo>
                  <a:lnTo>
                    <a:pt x="3408680" y="2968371"/>
                  </a:lnTo>
                  <a:cubicBezTo>
                    <a:pt x="3408680" y="3060065"/>
                    <a:pt x="3334385" y="3134360"/>
                    <a:pt x="3242691" y="3134360"/>
                  </a:cubicBezTo>
                  <a:lnTo>
                    <a:pt x="165989" y="3134360"/>
                  </a:lnTo>
                  <a:cubicBezTo>
                    <a:pt x="74295" y="3134360"/>
                    <a:pt x="0" y="3060065"/>
                    <a:pt x="0" y="2968371"/>
                  </a:cubicBezTo>
                  <a:close/>
                </a:path>
              </a:pathLst>
            </a:custGeom>
            <a:solidFill>
              <a:srgbClr val="16213A"/>
            </a:solidFill>
            <a:ln w="19050" cap="sq">
              <a:solidFill>
                <a:srgbClr val="FBBF24"/>
              </a:solidFill>
              <a:prstDash val="solid"/>
              <a:miter/>
            </a:ln>
          </p:spPr>
        </p:sp>
      </p:grpSp>
      <p:grpSp>
        <p:nvGrpSpPr>
          <p:cNvPr id="56" name="Group 56"/>
          <p:cNvGrpSpPr/>
          <p:nvPr/>
        </p:nvGrpSpPr>
        <p:grpSpPr>
          <a:xfrm>
            <a:off x="10326929" y="3341370"/>
            <a:ext cx="449580" cy="449580"/>
            <a:chOff x="0" y="0"/>
            <a:chExt cx="599440" cy="59944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599440" cy="599440"/>
            </a:xfrm>
            <a:custGeom>
              <a:avLst/>
              <a:gdLst/>
              <a:ahLst/>
              <a:cxnLst/>
              <a:rect l="l" t="t" r="r" b="b"/>
              <a:pathLst>
                <a:path w="599440" h="599440">
                  <a:moveTo>
                    <a:pt x="0" y="299720"/>
                  </a:moveTo>
                  <a:cubicBezTo>
                    <a:pt x="0" y="134239"/>
                    <a:pt x="134239" y="0"/>
                    <a:pt x="299720" y="0"/>
                  </a:cubicBezTo>
                  <a:cubicBezTo>
                    <a:pt x="465201" y="0"/>
                    <a:pt x="599440" y="134239"/>
                    <a:pt x="599440" y="299720"/>
                  </a:cubicBezTo>
                  <a:cubicBezTo>
                    <a:pt x="599440" y="465201"/>
                    <a:pt x="465201" y="599440"/>
                    <a:pt x="299720" y="599440"/>
                  </a:cubicBezTo>
                  <a:cubicBezTo>
                    <a:pt x="134239" y="599440"/>
                    <a:pt x="0" y="465201"/>
                    <a:pt x="0" y="299720"/>
                  </a:cubicBezTo>
                  <a:close/>
                </a:path>
              </a:pathLst>
            </a:custGeom>
            <a:solidFill>
              <a:srgbClr val="FBBF24"/>
            </a:solidFill>
            <a:ln w="38100" cap="sq">
              <a:solidFill>
                <a:srgbClr val="0F172A"/>
              </a:solidFill>
              <a:prstDash val="solid"/>
              <a:miter/>
            </a:ln>
          </p:spPr>
        </p:sp>
      </p:grpSp>
      <p:grpSp>
        <p:nvGrpSpPr>
          <p:cNvPr id="58" name="Group 58"/>
          <p:cNvGrpSpPr/>
          <p:nvPr/>
        </p:nvGrpSpPr>
        <p:grpSpPr>
          <a:xfrm>
            <a:off x="10345979" y="3346704"/>
            <a:ext cx="411480" cy="411480"/>
            <a:chOff x="0" y="0"/>
            <a:chExt cx="548640" cy="54864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60" name="TextBox 60"/>
            <p:cNvSpPr txBox="1"/>
            <p:nvPr/>
          </p:nvSpPr>
          <p:spPr>
            <a:xfrm>
              <a:off x="0" y="-28575"/>
              <a:ext cx="54864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9420149" y="3950208"/>
            <a:ext cx="2263140" cy="822960"/>
            <a:chOff x="0" y="0"/>
            <a:chExt cx="3017520" cy="109728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3017520" cy="1097280"/>
            </a:xfrm>
            <a:custGeom>
              <a:avLst/>
              <a:gdLst/>
              <a:ahLst/>
              <a:cxnLst/>
              <a:rect l="l" t="t" r="r" b="b"/>
              <a:pathLst>
                <a:path w="3017520" h="1097280">
                  <a:moveTo>
                    <a:pt x="0" y="0"/>
                  </a:moveTo>
                  <a:lnTo>
                    <a:pt x="3017520" y="0"/>
                  </a:lnTo>
                  <a:lnTo>
                    <a:pt x="3017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83" b="-3583"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0" y="-47625"/>
              <a:ext cx="3017520" cy="11449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68"/>
                </a:lnSpc>
              </a:pPr>
              <a:r>
                <a:rPr lang="en-US" sz="1800" b="1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Interview</a:t>
              </a:r>
            </a:p>
            <a:p>
              <a:pPr algn="ctr">
                <a:lnSpc>
                  <a:spcPts val="2268"/>
                </a:lnSpc>
              </a:pPr>
              <a:r>
                <a:rPr lang="en-US" sz="1800" b="1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Session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9420149" y="4869180"/>
            <a:ext cx="2263140" cy="891540"/>
            <a:chOff x="0" y="0"/>
            <a:chExt cx="3017520" cy="118872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3017520" cy="1188720"/>
            </a:xfrm>
            <a:custGeom>
              <a:avLst/>
              <a:gdLst/>
              <a:ahLst/>
              <a:cxnLst/>
              <a:rect l="l" t="t" r="r" b="b"/>
              <a:pathLst>
                <a:path w="3017520" h="1188720">
                  <a:moveTo>
                    <a:pt x="0" y="0"/>
                  </a:moveTo>
                  <a:lnTo>
                    <a:pt x="3017520" y="0"/>
                  </a:lnTo>
                  <a:lnTo>
                    <a:pt x="30175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43" r="-543"/>
              </a:stretch>
            </a:blipFill>
          </p:spPr>
        </p:sp>
        <p:sp>
          <p:nvSpPr>
            <p:cNvPr id="66" name="TextBox 66"/>
            <p:cNvSpPr txBox="1"/>
            <p:nvPr/>
          </p:nvSpPr>
          <p:spPr>
            <a:xfrm>
              <a:off x="0" y="-47625"/>
              <a:ext cx="3017520" cy="12363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22"/>
                </a:lnSpc>
              </a:pPr>
              <a:r>
                <a:rPr lang="en-US" sz="1305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Timer, answer, live AI feedback</a:t>
              </a:r>
            </a:p>
          </p:txBody>
        </p:sp>
      </p:grpSp>
      <p:sp>
        <p:nvSpPr>
          <p:cNvPr id="67" name="AutoShape 67"/>
          <p:cNvSpPr/>
          <p:nvPr/>
        </p:nvSpPr>
        <p:spPr>
          <a:xfrm rot="314880">
            <a:off x="11805504" y="4722495"/>
            <a:ext cx="312430" cy="0"/>
          </a:xfrm>
          <a:prstGeom prst="line">
            <a:avLst/>
          </a:prstGeom>
          <a:ln w="19050" cap="rnd">
            <a:solidFill>
              <a:srgbClr val="94A3B8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68" name="Group 68"/>
          <p:cNvGrpSpPr/>
          <p:nvPr/>
        </p:nvGrpSpPr>
        <p:grpSpPr>
          <a:xfrm>
            <a:off x="12093473" y="3556635"/>
            <a:ext cx="2556510" cy="2350770"/>
            <a:chOff x="0" y="0"/>
            <a:chExt cx="3408680" cy="313436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3408680" cy="3134360"/>
            </a:xfrm>
            <a:custGeom>
              <a:avLst/>
              <a:gdLst/>
              <a:ahLst/>
              <a:cxnLst/>
              <a:rect l="l" t="t" r="r" b="b"/>
              <a:pathLst>
                <a:path w="3408680" h="3134360">
                  <a:moveTo>
                    <a:pt x="0" y="165989"/>
                  </a:moveTo>
                  <a:cubicBezTo>
                    <a:pt x="0" y="74295"/>
                    <a:pt x="74295" y="0"/>
                    <a:pt x="165989" y="0"/>
                  </a:cubicBezTo>
                  <a:lnTo>
                    <a:pt x="3242691" y="0"/>
                  </a:lnTo>
                  <a:cubicBezTo>
                    <a:pt x="3334385" y="0"/>
                    <a:pt x="3408680" y="74295"/>
                    <a:pt x="3408680" y="165989"/>
                  </a:cubicBezTo>
                  <a:lnTo>
                    <a:pt x="3408680" y="2968371"/>
                  </a:lnTo>
                  <a:cubicBezTo>
                    <a:pt x="3408680" y="3060065"/>
                    <a:pt x="3334385" y="3134360"/>
                    <a:pt x="3242691" y="3134360"/>
                  </a:cubicBezTo>
                  <a:lnTo>
                    <a:pt x="165989" y="3134360"/>
                  </a:lnTo>
                  <a:cubicBezTo>
                    <a:pt x="74295" y="3134360"/>
                    <a:pt x="0" y="3060065"/>
                    <a:pt x="0" y="2968371"/>
                  </a:cubicBezTo>
                  <a:close/>
                </a:path>
              </a:pathLst>
            </a:custGeom>
            <a:solidFill>
              <a:srgbClr val="16213A"/>
            </a:solidFill>
            <a:ln w="19050" cap="sq">
              <a:solidFill>
                <a:srgbClr val="F472B6"/>
              </a:solidFill>
              <a:prstDash val="solid"/>
              <a:miter/>
            </a:ln>
          </p:spPr>
        </p:sp>
      </p:grpSp>
      <p:grpSp>
        <p:nvGrpSpPr>
          <p:cNvPr id="70" name="Group 70"/>
          <p:cNvGrpSpPr/>
          <p:nvPr/>
        </p:nvGrpSpPr>
        <p:grpSpPr>
          <a:xfrm>
            <a:off x="13146938" y="3341370"/>
            <a:ext cx="449580" cy="449580"/>
            <a:chOff x="0" y="0"/>
            <a:chExt cx="599440" cy="599440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599440" cy="599440"/>
            </a:xfrm>
            <a:custGeom>
              <a:avLst/>
              <a:gdLst/>
              <a:ahLst/>
              <a:cxnLst/>
              <a:rect l="l" t="t" r="r" b="b"/>
              <a:pathLst>
                <a:path w="599440" h="599440">
                  <a:moveTo>
                    <a:pt x="0" y="299720"/>
                  </a:moveTo>
                  <a:cubicBezTo>
                    <a:pt x="0" y="134239"/>
                    <a:pt x="134239" y="0"/>
                    <a:pt x="299720" y="0"/>
                  </a:cubicBezTo>
                  <a:cubicBezTo>
                    <a:pt x="465201" y="0"/>
                    <a:pt x="599440" y="134239"/>
                    <a:pt x="599440" y="299720"/>
                  </a:cubicBezTo>
                  <a:cubicBezTo>
                    <a:pt x="599440" y="465201"/>
                    <a:pt x="465201" y="599440"/>
                    <a:pt x="299720" y="599440"/>
                  </a:cubicBezTo>
                  <a:cubicBezTo>
                    <a:pt x="134239" y="599440"/>
                    <a:pt x="0" y="465201"/>
                    <a:pt x="0" y="299720"/>
                  </a:cubicBezTo>
                  <a:close/>
                </a:path>
              </a:pathLst>
            </a:custGeom>
            <a:solidFill>
              <a:srgbClr val="F472B6"/>
            </a:solidFill>
            <a:ln w="38100" cap="sq">
              <a:solidFill>
                <a:srgbClr val="0F172A"/>
              </a:solidFill>
              <a:prstDash val="solid"/>
              <a:miter/>
            </a:ln>
          </p:spPr>
        </p:sp>
      </p:grpSp>
      <p:grpSp>
        <p:nvGrpSpPr>
          <p:cNvPr id="72" name="Group 72"/>
          <p:cNvGrpSpPr/>
          <p:nvPr/>
        </p:nvGrpSpPr>
        <p:grpSpPr>
          <a:xfrm>
            <a:off x="13165988" y="3346704"/>
            <a:ext cx="411480" cy="411480"/>
            <a:chOff x="0" y="0"/>
            <a:chExt cx="548640" cy="548640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74" name="TextBox 74"/>
            <p:cNvSpPr txBox="1"/>
            <p:nvPr/>
          </p:nvSpPr>
          <p:spPr>
            <a:xfrm>
              <a:off x="0" y="-28575"/>
              <a:ext cx="54864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12240158" y="3950208"/>
            <a:ext cx="2263140" cy="822960"/>
            <a:chOff x="0" y="0"/>
            <a:chExt cx="3017520" cy="1097280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3017520" cy="1097280"/>
            </a:xfrm>
            <a:custGeom>
              <a:avLst/>
              <a:gdLst/>
              <a:ahLst/>
              <a:cxnLst/>
              <a:rect l="l" t="t" r="r" b="b"/>
              <a:pathLst>
                <a:path w="3017520" h="1097280">
                  <a:moveTo>
                    <a:pt x="0" y="0"/>
                  </a:moveTo>
                  <a:lnTo>
                    <a:pt x="3017520" y="0"/>
                  </a:lnTo>
                  <a:lnTo>
                    <a:pt x="3017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83" b="-3583"/>
              </a:stretch>
            </a:blipFill>
          </p:spPr>
        </p:sp>
        <p:sp>
          <p:nvSpPr>
            <p:cNvPr id="77" name="TextBox 77"/>
            <p:cNvSpPr txBox="1"/>
            <p:nvPr/>
          </p:nvSpPr>
          <p:spPr>
            <a:xfrm>
              <a:off x="0" y="-47625"/>
              <a:ext cx="3017520" cy="11449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68"/>
                </a:lnSpc>
              </a:pPr>
              <a:r>
                <a:rPr lang="en-US" sz="1800" b="1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Feedback</a:t>
              </a:r>
            </a:p>
            <a:p>
              <a:pPr algn="ctr">
                <a:lnSpc>
                  <a:spcPts val="2268"/>
                </a:lnSpc>
              </a:pPr>
              <a:r>
                <a:rPr lang="en-US" sz="1800" b="1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12240158" y="4869180"/>
            <a:ext cx="2263140" cy="891540"/>
            <a:chOff x="0" y="0"/>
            <a:chExt cx="3017520" cy="1188720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3017520" cy="1188720"/>
            </a:xfrm>
            <a:custGeom>
              <a:avLst/>
              <a:gdLst/>
              <a:ahLst/>
              <a:cxnLst/>
              <a:rect l="l" t="t" r="r" b="b"/>
              <a:pathLst>
                <a:path w="3017520" h="1188720">
                  <a:moveTo>
                    <a:pt x="0" y="0"/>
                  </a:moveTo>
                  <a:lnTo>
                    <a:pt x="3017520" y="0"/>
                  </a:lnTo>
                  <a:lnTo>
                    <a:pt x="30175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43" r="-543"/>
              </a:stretch>
            </a:blipFill>
          </p:spPr>
        </p:sp>
        <p:sp>
          <p:nvSpPr>
            <p:cNvPr id="80" name="TextBox 80"/>
            <p:cNvSpPr txBox="1"/>
            <p:nvPr/>
          </p:nvSpPr>
          <p:spPr>
            <a:xfrm>
              <a:off x="0" y="-47625"/>
              <a:ext cx="3017520" cy="12363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22"/>
                </a:lnSpc>
              </a:pPr>
              <a:r>
                <a:rPr lang="en-US" sz="1305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Full session score breakdown</a:t>
              </a:r>
            </a:p>
          </p:txBody>
        </p:sp>
      </p:grpSp>
      <p:sp>
        <p:nvSpPr>
          <p:cNvPr id="81" name="AutoShape 81"/>
          <p:cNvSpPr/>
          <p:nvPr/>
        </p:nvSpPr>
        <p:spPr>
          <a:xfrm rot="314880">
            <a:off x="14625514" y="4722495"/>
            <a:ext cx="312430" cy="0"/>
          </a:xfrm>
          <a:prstGeom prst="line">
            <a:avLst/>
          </a:prstGeom>
          <a:ln w="19050" cap="rnd">
            <a:solidFill>
              <a:srgbClr val="94A3B8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82" name="Group 82"/>
          <p:cNvGrpSpPr/>
          <p:nvPr/>
        </p:nvGrpSpPr>
        <p:grpSpPr>
          <a:xfrm>
            <a:off x="14913483" y="3556635"/>
            <a:ext cx="2556510" cy="2350770"/>
            <a:chOff x="0" y="0"/>
            <a:chExt cx="3408680" cy="3134360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3408680" cy="3134360"/>
            </a:xfrm>
            <a:custGeom>
              <a:avLst/>
              <a:gdLst/>
              <a:ahLst/>
              <a:cxnLst/>
              <a:rect l="l" t="t" r="r" b="b"/>
              <a:pathLst>
                <a:path w="3408680" h="3134360">
                  <a:moveTo>
                    <a:pt x="0" y="165989"/>
                  </a:moveTo>
                  <a:cubicBezTo>
                    <a:pt x="0" y="74295"/>
                    <a:pt x="74295" y="0"/>
                    <a:pt x="165989" y="0"/>
                  </a:cubicBezTo>
                  <a:lnTo>
                    <a:pt x="3242691" y="0"/>
                  </a:lnTo>
                  <a:cubicBezTo>
                    <a:pt x="3334385" y="0"/>
                    <a:pt x="3408680" y="74295"/>
                    <a:pt x="3408680" y="165989"/>
                  </a:cubicBezTo>
                  <a:lnTo>
                    <a:pt x="3408680" y="2968371"/>
                  </a:lnTo>
                  <a:cubicBezTo>
                    <a:pt x="3408680" y="3060065"/>
                    <a:pt x="3334385" y="3134360"/>
                    <a:pt x="3242691" y="3134360"/>
                  </a:cubicBezTo>
                  <a:lnTo>
                    <a:pt x="165989" y="3134360"/>
                  </a:lnTo>
                  <a:cubicBezTo>
                    <a:pt x="74295" y="3134360"/>
                    <a:pt x="0" y="3060065"/>
                    <a:pt x="0" y="2968371"/>
                  </a:cubicBezTo>
                  <a:close/>
                </a:path>
              </a:pathLst>
            </a:custGeom>
            <a:solidFill>
              <a:srgbClr val="16213A"/>
            </a:solidFill>
            <a:ln w="19050" cap="sq">
              <a:solidFill>
                <a:srgbClr val="F87171"/>
              </a:solidFill>
              <a:prstDash val="solid"/>
              <a:miter/>
            </a:ln>
          </p:spPr>
        </p:sp>
      </p:grpSp>
      <p:grpSp>
        <p:nvGrpSpPr>
          <p:cNvPr id="84" name="Group 84"/>
          <p:cNvGrpSpPr/>
          <p:nvPr/>
        </p:nvGrpSpPr>
        <p:grpSpPr>
          <a:xfrm>
            <a:off x="15966948" y="3341370"/>
            <a:ext cx="449580" cy="449580"/>
            <a:chOff x="0" y="0"/>
            <a:chExt cx="599440" cy="599440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599440" cy="599440"/>
            </a:xfrm>
            <a:custGeom>
              <a:avLst/>
              <a:gdLst/>
              <a:ahLst/>
              <a:cxnLst/>
              <a:rect l="l" t="t" r="r" b="b"/>
              <a:pathLst>
                <a:path w="599440" h="599440">
                  <a:moveTo>
                    <a:pt x="0" y="299720"/>
                  </a:moveTo>
                  <a:cubicBezTo>
                    <a:pt x="0" y="134239"/>
                    <a:pt x="134239" y="0"/>
                    <a:pt x="299720" y="0"/>
                  </a:cubicBezTo>
                  <a:cubicBezTo>
                    <a:pt x="465201" y="0"/>
                    <a:pt x="599440" y="134239"/>
                    <a:pt x="599440" y="299720"/>
                  </a:cubicBezTo>
                  <a:cubicBezTo>
                    <a:pt x="599440" y="465201"/>
                    <a:pt x="465201" y="599440"/>
                    <a:pt x="299720" y="599440"/>
                  </a:cubicBezTo>
                  <a:cubicBezTo>
                    <a:pt x="134239" y="599440"/>
                    <a:pt x="0" y="465201"/>
                    <a:pt x="0" y="299720"/>
                  </a:cubicBezTo>
                  <a:close/>
                </a:path>
              </a:pathLst>
            </a:custGeom>
            <a:solidFill>
              <a:srgbClr val="F87171"/>
            </a:solidFill>
            <a:ln w="38100" cap="sq">
              <a:solidFill>
                <a:srgbClr val="0F172A"/>
              </a:solidFill>
              <a:prstDash val="solid"/>
              <a:miter/>
            </a:ln>
          </p:spPr>
        </p:sp>
      </p:grpSp>
      <p:grpSp>
        <p:nvGrpSpPr>
          <p:cNvPr id="86" name="Group 86"/>
          <p:cNvGrpSpPr/>
          <p:nvPr/>
        </p:nvGrpSpPr>
        <p:grpSpPr>
          <a:xfrm>
            <a:off x="15985998" y="3346704"/>
            <a:ext cx="411480" cy="411480"/>
            <a:chOff x="0" y="0"/>
            <a:chExt cx="548640" cy="548640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88" name="TextBox 88"/>
            <p:cNvSpPr txBox="1"/>
            <p:nvPr/>
          </p:nvSpPr>
          <p:spPr>
            <a:xfrm>
              <a:off x="0" y="-28575"/>
              <a:ext cx="54864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15060168" y="3950208"/>
            <a:ext cx="2263140" cy="822960"/>
            <a:chOff x="0" y="0"/>
            <a:chExt cx="3017520" cy="1097280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3017520" cy="1097280"/>
            </a:xfrm>
            <a:custGeom>
              <a:avLst/>
              <a:gdLst/>
              <a:ahLst/>
              <a:cxnLst/>
              <a:rect l="l" t="t" r="r" b="b"/>
              <a:pathLst>
                <a:path w="3017520" h="1097280">
                  <a:moveTo>
                    <a:pt x="0" y="0"/>
                  </a:moveTo>
                  <a:lnTo>
                    <a:pt x="3017520" y="0"/>
                  </a:lnTo>
                  <a:lnTo>
                    <a:pt x="3017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83" b="-3583"/>
              </a:stretch>
            </a:blipFill>
          </p:spPr>
        </p:sp>
        <p:sp>
          <p:nvSpPr>
            <p:cNvPr id="91" name="TextBox 91"/>
            <p:cNvSpPr txBox="1"/>
            <p:nvPr/>
          </p:nvSpPr>
          <p:spPr>
            <a:xfrm>
              <a:off x="0" y="-47625"/>
              <a:ext cx="3017520" cy="11449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68"/>
                </a:lnSpc>
              </a:pPr>
              <a:r>
                <a:rPr lang="en-US" sz="1800" b="1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Progress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15060168" y="4869180"/>
            <a:ext cx="2263140" cy="891540"/>
            <a:chOff x="0" y="0"/>
            <a:chExt cx="3017520" cy="1188720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3017520" cy="1188720"/>
            </a:xfrm>
            <a:custGeom>
              <a:avLst/>
              <a:gdLst/>
              <a:ahLst/>
              <a:cxnLst/>
              <a:rect l="l" t="t" r="r" b="b"/>
              <a:pathLst>
                <a:path w="3017520" h="1188720">
                  <a:moveTo>
                    <a:pt x="0" y="0"/>
                  </a:moveTo>
                  <a:lnTo>
                    <a:pt x="3017520" y="0"/>
                  </a:lnTo>
                  <a:lnTo>
                    <a:pt x="30175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43" r="-543"/>
              </a:stretch>
            </a:blipFill>
          </p:spPr>
        </p:sp>
        <p:sp>
          <p:nvSpPr>
            <p:cNvPr id="94" name="TextBox 94"/>
            <p:cNvSpPr txBox="1"/>
            <p:nvPr/>
          </p:nvSpPr>
          <p:spPr>
            <a:xfrm>
              <a:off x="0" y="-47625"/>
              <a:ext cx="3017520" cy="12363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22"/>
                </a:lnSpc>
              </a:pPr>
              <a:r>
                <a:rPr lang="en-US" sz="1305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Trend chart + weak areas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822960" y="6515100"/>
            <a:ext cx="16184880" cy="548640"/>
            <a:chOff x="0" y="0"/>
            <a:chExt cx="21579840" cy="731520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21579839" cy="731520"/>
            </a:xfrm>
            <a:custGeom>
              <a:avLst/>
              <a:gdLst/>
              <a:ahLst/>
              <a:cxnLst/>
              <a:rect l="l" t="t" r="r" b="b"/>
              <a:pathLst>
                <a:path w="21579839" h="731520">
                  <a:moveTo>
                    <a:pt x="0" y="0"/>
                  </a:moveTo>
                  <a:lnTo>
                    <a:pt x="21579839" y="0"/>
                  </a:lnTo>
                  <a:lnTo>
                    <a:pt x="215798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4808" b="-524808"/>
              </a:stretch>
            </a:blipFill>
          </p:spPr>
        </p:sp>
        <p:sp>
          <p:nvSpPr>
            <p:cNvPr id="97" name="TextBox 97"/>
            <p:cNvSpPr txBox="1"/>
            <p:nvPr/>
          </p:nvSpPr>
          <p:spPr>
            <a:xfrm>
              <a:off x="0" y="-28575"/>
              <a:ext cx="21579840" cy="7600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i="1">
                  <a:solidFill>
                    <a:srgbClr val="94A3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ProtectedRoute wraps every page except Login/Register; AuthContext restores the session on load via GET /api/auth/me.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813435" y="7328535"/>
            <a:ext cx="16651148" cy="2145030"/>
            <a:chOff x="0" y="0"/>
            <a:chExt cx="22201530" cy="2860040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22201530" cy="2860040"/>
            </a:xfrm>
            <a:custGeom>
              <a:avLst/>
              <a:gdLst/>
              <a:ahLst/>
              <a:cxnLst/>
              <a:rect l="l" t="t" r="r" b="b"/>
              <a:pathLst>
                <a:path w="22201530" h="2860040">
                  <a:moveTo>
                    <a:pt x="0" y="166116"/>
                  </a:moveTo>
                  <a:cubicBezTo>
                    <a:pt x="0" y="74295"/>
                    <a:pt x="76801" y="0"/>
                    <a:pt x="171718" y="0"/>
                  </a:cubicBezTo>
                  <a:lnTo>
                    <a:pt x="22029813" y="0"/>
                  </a:lnTo>
                  <a:cubicBezTo>
                    <a:pt x="22124598" y="0"/>
                    <a:pt x="22201530" y="74295"/>
                    <a:pt x="22201530" y="166116"/>
                  </a:cubicBezTo>
                  <a:lnTo>
                    <a:pt x="22201530" y="2693924"/>
                  </a:lnTo>
                  <a:cubicBezTo>
                    <a:pt x="22201530" y="2785618"/>
                    <a:pt x="22124730" y="2860040"/>
                    <a:pt x="22029813" y="2860040"/>
                  </a:cubicBezTo>
                  <a:lnTo>
                    <a:pt x="171718" y="2860040"/>
                  </a:lnTo>
                  <a:cubicBezTo>
                    <a:pt x="76801" y="2860040"/>
                    <a:pt x="0" y="2785745"/>
                    <a:pt x="0" y="2693924"/>
                  </a:cubicBezTo>
                  <a:close/>
                </a:path>
              </a:pathLst>
            </a:custGeom>
            <a:solidFill>
              <a:srgbClr val="1E293B"/>
            </a:solidFill>
            <a:ln w="19050" cap="sq">
              <a:solidFill>
                <a:srgbClr val="2E3B52"/>
              </a:solidFill>
              <a:prstDash val="solid"/>
              <a:miter/>
            </a:ln>
          </p:spPr>
        </p:sp>
      </p:grpSp>
      <p:grpSp>
        <p:nvGrpSpPr>
          <p:cNvPr id="100" name="Group 100"/>
          <p:cNvGrpSpPr/>
          <p:nvPr/>
        </p:nvGrpSpPr>
        <p:grpSpPr>
          <a:xfrm>
            <a:off x="1234440" y="7543800"/>
            <a:ext cx="6858000" cy="411480"/>
            <a:chOff x="0" y="0"/>
            <a:chExt cx="9144000" cy="548640"/>
          </a:xfrm>
        </p:grpSpPr>
        <p:sp>
          <p:nvSpPr>
            <p:cNvPr id="101" name="Freeform 101"/>
            <p:cNvSpPr/>
            <p:nvPr/>
          </p:nvSpPr>
          <p:spPr>
            <a:xfrm>
              <a:off x="0" y="0"/>
              <a:ext cx="9144000" cy="548640"/>
            </a:xfrm>
            <a:custGeom>
              <a:avLst/>
              <a:gdLst/>
              <a:ahLst/>
              <a:cxnLst/>
              <a:rect l="l" t="t" r="r" b="b"/>
              <a:pathLst>
                <a:path w="9144000" h="54864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4750" b="-274750"/>
              </a:stretch>
            </a:blipFill>
          </p:spPr>
        </p:sp>
        <p:sp>
          <p:nvSpPr>
            <p:cNvPr id="102" name="TextBox 102"/>
            <p:cNvSpPr txBox="1"/>
            <p:nvPr/>
          </p:nvSpPr>
          <p:spPr>
            <a:xfrm>
              <a:off x="0" y="-28575"/>
              <a:ext cx="91440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180">
                  <a:solidFill>
                    <a:srgbClr val="818C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UI COMPONENTS</a:t>
              </a: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1224915" y="8082915"/>
            <a:ext cx="2487930" cy="457962"/>
            <a:chOff x="0" y="0"/>
            <a:chExt cx="3317240" cy="610616"/>
          </a:xfrm>
        </p:grpSpPr>
        <p:sp>
          <p:nvSpPr>
            <p:cNvPr id="104" name="Freeform 104"/>
            <p:cNvSpPr/>
            <p:nvPr/>
          </p:nvSpPr>
          <p:spPr>
            <a:xfrm>
              <a:off x="0" y="0"/>
              <a:ext cx="3317240" cy="610616"/>
            </a:xfrm>
            <a:custGeom>
              <a:avLst/>
              <a:gdLst/>
              <a:ahLst/>
              <a:cxnLst/>
              <a:rect l="l" t="t" r="r" b="b"/>
              <a:pathLst>
                <a:path w="3317240" h="610616">
                  <a:moveTo>
                    <a:pt x="0" y="152654"/>
                  </a:moveTo>
                  <a:cubicBezTo>
                    <a:pt x="0" y="68326"/>
                    <a:pt x="68326" y="0"/>
                    <a:pt x="152654" y="0"/>
                  </a:cubicBezTo>
                  <a:lnTo>
                    <a:pt x="3164586" y="0"/>
                  </a:lnTo>
                  <a:cubicBezTo>
                    <a:pt x="3248914" y="0"/>
                    <a:pt x="3317240" y="68326"/>
                    <a:pt x="3317240" y="152654"/>
                  </a:cubicBezTo>
                  <a:lnTo>
                    <a:pt x="3317240" y="457962"/>
                  </a:lnTo>
                  <a:cubicBezTo>
                    <a:pt x="3317240" y="542290"/>
                    <a:pt x="3248914" y="610616"/>
                    <a:pt x="3164586" y="610616"/>
                  </a:cubicBezTo>
                  <a:lnTo>
                    <a:pt x="152654" y="610616"/>
                  </a:lnTo>
                  <a:cubicBezTo>
                    <a:pt x="68326" y="610616"/>
                    <a:pt x="0" y="542290"/>
                    <a:pt x="0" y="457962"/>
                  </a:cubicBezTo>
                  <a:close/>
                </a:path>
              </a:pathLst>
            </a:custGeom>
            <a:solidFill>
              <a:srgbClr val="22D3EE">
                <a:alpha val="3137"/>
              </a:srgbClr>
            </a:solidFill>
            <a:ln w="19050" cap="sq">
              <a:solidFill>
                <a:srgbClr val="22D3EE"/>
              </a:solidFill>
              <a:prstDash val="solid"/>
              <a:miter/>
            </a:ln>
          </p:spPr>
        </p:sp>
      </p:grpSp>
      <p:grpSp>
        <p:nvGrpSpPr>
          <p:cNvPr id="105" name="Group 105"/>
          <p:cNvGrpSpPr/>
          <p:nvPr/>
        </p:nvGrpSpPr>
        <p:grpSpPr>
          <a:xfrm>
            <a:off x="1028700" y="8092440"/>
            <a:ext cx="2468880" cy="438912"/>
            <a:chOff x="0" y="0"/>
            <a:chExt cx="3291840" cy="585216"/>
          </a:xfrm>
        </p:grpSpPr>
        <p:sp>
          <p:nvSpPr>
            <p:cNvPr id="106" name="Freeform 106"/>
            <p:cNvSpPr/>
            <p:nvPr/>
          </p:nvSpPr>
          <p:spPr>
            <a:xfrm>
              <a:off x="0" y="0"/>
              <a:ext cx="3291840" cy="585216"/>
            </a:xfrm>
            <a:custGeom>
              <a:avLst/>
              <a:gdLst/>
              <a:ahLst/>
              <a:cxnLst/>
              <a:rect l="l" t="t" r="r" b="b"/>
              <a:pathLst>
                <a:path w="3291840" h="585216">
                  <a:moveTo>
                    <a:pt x="0" y="0"/>
                  </a:moveTo>
                  <a:lnTo>
                    <a:pt x="3291840" y="0"/>
                  </a:lnTo>
                  <a:lnTo>
                    <a:pt x="32918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603" b="-59603"/>
              </a:stretch>
            </a:blipFill>
          </p:spPr>
        </p:sp>
        <p:sp>
          <p:nvSpPr>
            <p:cNvPr id="107" name="TextBox 107"/>
            <p:cNvSpPr txBox="1"/>
            <p:nvPr/>
          </p:nvSpPr>
          <p:spPr>
            <a:xfrm>
              <a:off x="0" y="-19050"/>
              <a:ext cx="3291840" cy="6042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   Navbar</a:t>
              </a:r>
            </a:p>
          </p:txBody>
        </p:sp>
      </p:grpSp>
      <p:grpSp>
        <p:nvGrpSpPr>
          <p:cNvPr id="108" name="Group 108"/>
          <p:cNvGrpSpPr/>
          <p:nvPr/>
        </p:nvGrpSpPr>
        <p:grpSpPr>
          <a:xfrm>
            <a:off x="3899535" y="8082915"/>
            <a:ext cx="2487930" cy="457962"/>
            <a:chOff x="0" y="0"/>
            <a:chExt cx="3317240" cy="610616"/>
          </a:xfrm>
        </p:grpSpPr>
        <p:sp>
          <p:nvSpPr>
            <p:cNvPr id="109" name="Freeform 109"/>
            <p:cNvSpPr/>
            <p:nvPr/>
          </p:nvSpPr>
          <p:spPr>
            <a:xfrm>
              <a:off x="0" y="0"/>
              <a:ext cx="3317240" cy="610616"/>
            </a:xfrm>
            <a:custGeom>
              <a:avLst/>
              <a:gdLst/>
              <a:ahLst/>
              <a:cxnLst/>
              <a:rect l="l" t="t" r="r" b="b"/>
              <a:pathLst>
                <a:path w="3317240" h="610616">
                  <a:moveTo>
                    <a:pt x="0" y="152654"/>
                  </a:moveTo>
                  <a:cubicBezTo>
                    <a:pt x="0" y="68326"/>
                    <a:pt x="68326" y="0"/>
                    <a:pt x="152654" y="0"/>
                  </a:cubicBezTo>
                  <a:lnTo>
                    <a:pt x="3164586" y="0"/>
                  </a:lnTo>
                  <a:cubicBezTo>
                    <a:pt x="3248914" y="0"/>
                    <a:pt x="3317240" y="68326"/>
                    <a:pt x="3317240" y="152654"/>
                  </a:cubicBezTo>
                  <a:lnTo>
                    <a:pt x="3317240" y="457962"/>
                  </a:lnTo>
                  <a:cubicBezTo>
                    <a:pt x="3317240" y="542290"/>
                    <a:pt x="3248914" y="610616"/>
                    <a:pt x="3164586" y="610616"/>
                  </a:cubicBezTo>
                  <a:lnTo>
                    <a:pt x="152654" y="610616"/>
                  </a:lnTo>
                  <a:cubicBezTo>
                    <a:pt x="68326" y="610616"/>
                    <a:pt x="0" y="542290"/>
                    <a:pt x="0" y="457962"/>
                  </a:cubicBezTo>
                  <a:close/>
                </a:path>
              </a:pathLst>
            </a:custGeom>
            <a:solidFill>
              <a:srgbClr val="22D3EE">
                <a:alpha val="3137"/>
              </a:srgbClr>
            </a:solidFill>
            <a:ln w="19050" cap="sq">
              <a:solidFill>
                <a:srgbClr val="22D3EE"/>
              </a:solidFill>
              <a:prstDash val="solid"/>
              <a:miter/>
            </a:ln>
          </p:spPr>
        </p:sp>
      </p:grpSp>
      <p:grpSp>
        <p:nvGrpSpPr>
          <p:cNvPr id="110" name="Group 110"/>
          <p:cNvGrpSpPr/>
          <p:nvPr/>
        </p:nvGrpSpPr>
        <p:grpSpPr>
          <a:xfrm>
            <a:off x="3909060" y="8092440"/>
            <a:ext cx="2468880" cy="438912"/>
            <a:chOff x="0" y="0"/>
            <a:chExt cx="3291840" cy="585216"/>
          </a:xfrm>
        </p:grpSpPr>
        <p:sp>
          <p:nvSpPr>
            <p:cNvPr id="111" name="Freeform 111"/>
            <p:cNvSpPr/>
            <p:nvPr/>
          </p:nvSpPr>
          <p:spPr>
            <a:xfrm>
              <a:off x="0" y="0"/>
              <a:ext cx="3291840" cy="585216"/>
            </a:xfrm>
            <a:custGeom>
              <a:avLst/>
              <a:gdLst/>
              <a:ahLst/>
              <a:cxnLst/>
              <a:rect l="l" t="t" r="r" b="b"/>
              <a:pathLst>
                <a:path w="3291840" h="585216">
                  <a:moveTo>
                    <a:pt x="0" y="0"/>
                  </a:moveTo>
                  <a:lnTo>
                    <a:pt x="3291840" y="0"/>
                  </a:lnTo>
                  <a:lnTo>
                    <a:pt x="32918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603" b="-59603"/>
              </a:stretch>
            </a:blipFill>
          </p:spPr>
        </p:sp>
        <p:sp>
          <p:nvSpPr>
            <p:cNvPr id="112" name="TextBox 112"/>
            <p:cNvSpPr txBox="1"/>
            <p:nvPr/>
          </p:nvSpPr>
          <p:spPr>
            <a:xfrm>
              <a:off x="0" y="-19050"/>
              <a:ext cx="3291840" cy="6042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QuestionCard</a:t>
              </a: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6574155" y="8082915"/>
            <a:ext cx="2487930" cy="457962"/>
            <a:chOff x="0" y="0"/>
            <a:chExt cx="3317240" cy="610616"/>
          </a:xfrm>
        </p:grpSpPr>
        <p:sp>
          <p:nvSpPr>
            <p:cNvPr id="114" name="Freeform 114"/>
            <p:cNvSpPr/>
            <p:nvPr/>
          </p:nvSpPr>
          <p:spPr>
            <a:xfrm>
              <a:off x="0" y="0"/>
              <a:ext cx="3317240" cy="610616"/>
            </a:xfrm>
            <a:custGeom>
              <a:avLst/>
              <a:gdLst/>
              <a:ahLst/>
              <a:cxnLst/>
              <a:rect l="l" t="t" r="r" b="b"/>
              <a:pathLst>
                <a:path w="3317240" h="610616">
                  <a:moveTo>
                    <a:pt x="0" y="152654"/>
                  </a:moveTo>
                  <a:cubicBezTo>
                    <a:pt x="0" y="68326"/>
                    <a:pt x="68326" y="0"/>
                    <a:pt x="152654" y="0"/>
                  </a:cubicBezTo>
                  <a:lnTo>
                    <a:pt x="3164586" y="0"/>
                  </a:lnTo>
                  <a:cubicBezTo>
                    <a:pt x="3248914" y="0"/>
                    <a:pt x="3317240" y="68326"/>
                    <a:pt x="3317240" y="152654"/>
                  </a:cubicBezTo>
                  <a:lnTo>
                    <a:pt x="3317240" y="457962"/>
                  </a:lnTo>
                  <a:cubicBezTo>
                    <a:pt x="3317240" y="542290"/>
                    <a:pt x="3248914" y="610616"/>
                    <a:pt x="3164586" y="610616"/>
                  </a:cubicBezTo>
                  <a:lnTo>
                    <a:pt x="152654" y="610616"/>
                  </a:lnTo>
                  <a:cubicBezTo>
                    <a:pt x="68326" y="610616"/>
                    <a:pt x="0" y="542290"/>
                    <a:pt x="0" y="457962"/>
                  </a:cubicBezTo>
                  <a:close/>
                </a:path>
              </a:pathLst>
            </a:custGeom>
            <a:solidFill>
              <a:srgbClr val="22D3EE">
                <a:alpha val="3137"/>
              </a:srgbClr>
            </a:solidFill>
            <a:ln w="19050" cap="sq">
              <a:solidFill>
                <a:srgbClr val="22D3EE"/>
              </a:solidFill>
              <a:prstDash val="solid"/>
              <a:miter/>
            </a:ln>
          </p:spPr>
        </p:sp>
      </p:grpSp>
      <p:grpSp>
        <p:nvGrpSpPr>
          <p:cNvPr id="115" name="Group 115"/>
          <p:cNvGrpSpPr/>
          <p:nvPr/>
        </p:nvGrpSpPr>
        <p:grpSpPr>
          <a:xfrm>
            <a:off x="6583680" y="8092440"/>
            <a:ext cx="2468880" cy="438912"/>
            <a:chOff x="0" y="0"/>
            <a:chExt cx="3291840" cy="585216"/>
          </a:xfrm>
        </p:grpSpPr>
        <p:sp>
          <p:nvSpPr>
            <p:cNvPr id="116" name="Freeform 116"/>
            <p:cNvSpPr/>
            <p:nvPr/>
          </p:nvSpPr>
          <p:spPr>
            <a:xfrm>
              <a:off x="0" y="0"/>
              <a:ext cx="3291840" cy="585216"/>
            </a:xfrm>
            <a:custGeom>
              <a:avLst/>
              <a:gdLst/>
              <a:ahLst/>
              <a:cxnLst/>
              <a:rect l="l" t="t" r="r" b="b"/>
              <a:pathLst>
                <a:path w="3291840" h="585216">
                  <a:moveTo>
                    <a:pt x="0" y="0"/>
                  </a:moveTo>
                  <a:lnTo>
                    <a:pt x="3291840" y="0"/>
                  </a:lnTo>
                  <a:lnTo>
                    <a:pt x="32918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603" b="-59603"/>
              </a:stretch>
            </a:blipFill>
          </p:spPr>
        </p:sp>
        <p:sp>
          <p:nvSpPr>
            <p:cNvPr id="117" name="TextBox 117"/>
            <p:cNvSpPr txBox="1"/>
            <p:nvPr/>
          </p:nvSpPr>
          <p:spPr>
            <a:xfrm>
              <a:off x="0" y="-19050"/>
              <a:ext cx="3291840" cy="6042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Timer</a:t>
              </a:r>
            </a:p>
          </p:txBody>
        </p:sp>
      </p:grpSp>
      <p:grpSp>
        <p:nvGrpSpPr>
          <p:cNvPr id="118" name="Group 118"/>
          <p:cNvGrpSpPr/>
          <p:nvPr/>
        </p:nvGrpSpPr>
        <p:grpSpPr>
          <a:xfrm>
            <a:off x="9248775" y="8082915"/>
            <a:ext cx="2487930" cy="457962"/>
            <a:chOff x="0" y="0"/>
            <a:chExt cx="3317240" cy="610616"/>
          </a:xfrm>
        </p:grpSpPr>
        <p:sp>
          <p:nvSpPr>
            <p:cNvPr id="119" name="Freeform 119"/>
            <p:cNvSpPr/>
            <p:nvPr/>
          </p:nvSpPr>
          <p:spPr>
            <a:xfrm>
              <a:off x="0" y="0"/>
              <a:ext cx="3317240" cy="610616"/>
            </a:xfrm>
            <a:custGeom>
              <a:avLst/>
              <a:gdLst/>
              <a:ahLst/>
              <a:cxnLst/>
              <a:rect l="l" t="t" r="r" b="b"/>
              <a:pathLst>
                <a:path w="3317240" h="610616">
                  <a:moveTo>
                    <a:pt x="0" y="152654"/>
                  </a:moveTo>
                  <a:cubicBezTo>
                    <a:pt x="0" y="68326"/>
                    <a:pt x="68326" y="0"/>
                    <a:pt x="152654" y="0"/>
                  </a:cubicBezTo>
                  <a:lnTo>
                    <a:pt x="3164586" y="0"/>
                  </a:lnTo>
                  <a:cubicBezTo>
                    <a:pt x="3248914" y="0"/>
                    <a:pt x="3317240" y="68326"/>
                    <a:pt x="3317240" y="152654"/>
                  </a:cubicBezTo>
                  <a:lnTo>
                    <a:pt x="3317240" y="457962"/>
                  </a:lnTo>
                  <a:cubicBezTo>
                    <a:pt x="3317240" y="542290"/>
                    <a:pt x="3248914" y="610616"/>
                    <a:pt x="3164586" y="610616"/>
                  </a:cubicBezTo>
                  <a:lnTo>
                    <a:pt x="152654" y="610616"/>
                  </a:lnTo>
                  <a:cubicBezTo>
                    <a:pt x="68326" y="610616"/>
                    <a:pt x="0" y="542290"/>
                    <a:pt x="0" y="457962"/>
                  </a:cubicBezTo>
                  <a:close/>
                </a:path>
              </a:pathLst>
            </a:custGeom>
            <a:solidFill>
              <a:srgbClr val="22D3EE">
                <a:alpha val="3137"/>
              </a:srgbClr>
            </a:solidFill>
            <a:ln w="19050" cap="sq">
              <a:solidFill>
                <a:srgbClr val="22D3EE"/>
              </a:solidFill>
              <a:prstDash val="solid"/>
              <a:miter/>
            </a:ln>
          </p:spPr>
        </p:sp>
      </p:grpSp>
      <p:grpSp>
        <p:nvGrpSpPr>
          <p:cNvPr id="120" name="Group 120"/>
          <p:cNvGrpSpPr/>
          <p:nvPr/>
        </p:nvGrpSpPr>
        <p:grpSpPr>
          <a:xfrm>
            <a:off x="9258300" y="8092440"/>
            <a:ext cx="2468880" cy="438912"/>
            <a:chOff x="0" y="0"/>
            <a:chExt cx="3291840" cy="585216"/>
          </a:xfrm>
        </p:grpSpPr>
        <p:sp>
          <p:nvSpPr>
            <p:cNvPr id="121" name="Freeform 121"/>
            <p:cNvSpPr/>
            <p:nvPr/>
          </p:nvSpPr>
          <p:spPr>
            <a:xfrm>
              <a:off x="0" y="0"/>
              <a:ext cx="3291840" cy="585216"/>
            </a:xfrm>
            <a:custGeom>
              <a:avLst/>
              <a:gdLst/>
              <a:ahLst/>
              <a:cxnLst/>
              <a:rect l="l" t="t" r="r" b="b"/>
              <a:pathLst>
                <a:path w="3291840" h="585216">
                  <a:moveTo>
                    <a:pt x="0" y="0"/>
                  </a:moveTo>
                  <a:lnTo>
                    <a:pt x="3291840" y="0"/>
                  </a:lnTo>
                  <a:lnTo>
                    <a:pt x="32918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603" b="-59603"/>
              </a:stretch>
            </a:blipFill>
          </p:spPr>
        </p:sp>
        <p:sp>
          <p:nvSpPr>
            <p:cNvPr id="122" name="TextBox 122"/>
            <p:cNvSpPr txBox="1"/>
            <p:nvPr/>
          </p:nvSpPr>
          <p:spPr>
            <a:xfrm>
              <a:off x="0" y="-19050"/>
              <a:ext cx="3291840" cy="6042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FeedbackCard</a:t>
              </a:r>
            </a:p>
          </p:txBody>
        </p:sp>
      </p:grpSp>
      <p:grpSp>
        <p:nvGrpSpPr>
          <p:cNvPr id="123" name="Group 123"/>
          <p:cNvGrpSpPr/>
          <p:nvPr/>
        </p:nvGrpSpPr>
        <p:grpSpPr>
          <a:xfrm>
            <a:off x="11923395" y="8082915"/>
            <a:ext cx="2487930" cy="457962"/>
            <a:chOff x="0" y="0"/>
            <a:chExt cx="3317240" cy="610616"/>
          </a:xfrm>
        </p:grpSpPr>
        <p:sp>
          <p:nvSpPr>
            <p:cNvPr id="124" name="Freeform 124"/>
            <p:cNvSpPr/>
            <p:nvPr/>
          </p:nvSpPr>
          <p:spPr>
            <a:xfrm>
              <a:off x="0" y="0"/>
              <a:ext cx="3317240" cy="610616"/>
            </a:xfrm>
            <a:custGeom>
              <a:avLst/>
              <a:gdLst/>
              <a:ahLst/>
              <a:cxnLst/>
              <a:rect l="l" t="t" r="r" b="b"/>
              <a:pathLst>
                <a:path w="3317240" h="610616">
                  <a:moveTo>
                    <a:pt x="0" y="152654"/>
                  </a:moveTo>
                  <a:cubicBezTo>
                    <a:pt x="0" y="68326"/>
                    <a:pt x="68326" y="0"/>
                    <a:pt x="152654" y="0"/>
                  </a:cubicBezTo>
                  <a:lnTo>
                    <a:pt x="3164586" y="0"/>
                  </a:lnTo>
                  <a:cubicBezTo>
                    <a:pt x="3248914" y="0"/>
                    <a:pt x="3317240" y="68326"/>
                    <a:pt x="3317240" y="152654"/>
                  </a:cubicBezTo>
                  <a:lnTo>
                    <a:pt x="3317240" y="457962"/>
                  </a:lnTo>
                  <a:cubicBezTo>
                    <a:pt x="3317240" y="542290"/>
                    <a:pt x="3248914" y="610616"/>
                    <a:pt x="3164586" y="610616"/>
                  </a:cubicBezTo>
                  <a:lnTo>
                    <a:pt x="152654" y="610616"/>
                  </a:lnTo>
                  <a:cubicBezTo>
                    <a:pt x="68326" y="610616"/>
                    <a:pt x="0" y="542290"/>
                    <a:pt x="0" y="457962"/>
                  </a:cubicBezTo>
                  <a:close/>
                </a:path>
              </a:pathLst>
            </a:custGeom>
            <a:solidFill>
              <a:srgbClr val="22D3EE">
                <a:alpha val="3137"/>
              </a:srgbClr>
            </a:solidFill>
            <a:ln w="19050" cap="sq">
              <a:solidFill>
                <a:srgbClr val="22D3EE"/>
              </a:solidFill>
              <a:prstDash val="solid"/>
              <a:miter/>
            </a:ln>
          </p:spPr>
        </p:sp>
      </p:grpSp>
      <p:grpSp>
        <p:nvGrpSpPr>
          <p:cNvPr id="125" name="Group 125"/>
          <p:cNvGrpSpPr/>
          <p:nvPr/>
        </p:nvGrpSpPr>
        <p:grpSpPr>
          <a:xfrm>
            <a:off x="11932920" y="8092440"/>
            <a:ext cx="2468880" cy="438912"/>
            <a:chOff x="0" y="0"/>
            <a:chExt cx="3291840" cy="585216"/>
          </a:xfrm>
        </p:grpSpPr>
        <p:sp>
          <p:nvSpPr>
            <p:cNvPr id="126" name="Freeform 126"/>
            <p:cNvSpPr/>
            <p:nvPr/>
          </p:nvSpPr>
          <p:spPr>
            <a:xfrm>
              <a:off x="0" y="0"/>
              <a:ext cx="3291840" cy="585216"/>
            </a:xfrm>
            <a:custGeom>
              <a:avLst/>
              <a:gdLst/>
              <a:ahLst/>
              <a:cxnLst/>
              <a:rect l="l" t="t" r="r" b="b"/>
              <a:pathLst>
                <a:path w="3291840" h="585216">
                  <a:moveTo>
                    <a:pt x="0" y="0"/>
                  </a:moveTo>
                  <a:lnTo>
                    <a:pt x="3291840" y="0"/>
                  </a:lnTo>
                  <a:lnTo>
                    <a:pt x="32918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603" b="-59603"/>
              </a:stretch>
            </a:blipFill>
          </p:spPr>
        </p:sp>
        <p:sp>
          <p:nvSpPr>
            <p:cNvPr id="127" name="TextBox 127"/>
            <p:cNvSpPr txBox="1"/>
            <p:nvPr/>
          </p:nvSpPr>
          <p:spPr>
            <a:xfrm>
              <a:off x="0" y="-19050"/>
              <a:ext cx="3291840" cy="6042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ProgressChart</a:t>
              </a:r>
            </a:p>
          </p:txBody>
        </p:sp>
      </p:grpSp>
      <p:grpSp>
        <p:nvGrpSpPr>
          <p:cNvPr id="128" name="Group 128"/>
          <p:cNvGrpSpPr/>
          <p:nvPr/>
        </p:nvGrpSpPr>
        <p:grpSpPr>
          <a:xfrm>
            <a:off x="14598015" y="8082915"/>
            <a:ext cx="2487930" cy="457962"/>
            <a:chOff x="0" y="0"/>
            <a:chExt cx="3317240" cy="610616"/>
          </a:xfrm>
        </p:grpSpPr>
        <p:sp>
          <p:nvSpPr>
            <p:cNvPr id="129" name="Freeform 129"/>
            <p:cNvSpPr/>
            <p:nvPr/>
          </p:nvSpPr>
          <p:spPr>
            <a:xfrm>
              <a:off x="0" y="0"/>
              <a:ext cx="3317240" cy="610616"/>
            </a:xfrm>
            <a:custGeom>
              <a:avLst/>
              <a:gdLst/>
              <a:ahLst/>
              <a:cxnLst/>
              <a:rect l="l" t="t" r="r" b="b"/>
              <a:pathLst>
                <a:path w="3317240" h="610616">
                  <a:moveTo>
                    <a:pt x="0" y="152654"/>
                  </a:moveTo>
                  <a:cubicBezTo>
                    <a:pt x="0" y="68326"/>
                    <a:pt x="68326" y="0"/>
                    <a:pt x="152654" y="0"/>
                  </a:cubicBezTo>
                  <a:lnTo>
                    <a:pt x="3164586" y="0"/>
                  </a:lnTo>
                  <a:cubicBezTo>
                    <a:pt x="3248914" y="0"/>
                    <a:pt x="3317240" y="68326"/>
                    <a:pt x="3317240" y="152654"/>
                  </a:cubicBezTo>
                  <a:lnTo>
                    <a:pt x="3317240" y="457962"/>
                  </a:lnTo>
                  <a:cubicBezTo>
                    <a:pt x="3317240" y="542290"/>
                    <a:pt x="3248914" y="610616"/>
                    <a:pt x="3164586" y="610616"/>
                  </a:cubicBezTo>
                  <a:lnTo>
                    <a:pt x="152654" y="610616"/>
                  </a:lnTo>
                  <a:cubicBezTo>
                    <a:pt x="68326" y="610616"/>
                    <a:pt x="0" y="542290"/>
                    <a:pt x="0" y="457962"/>
                  </a:cubicBezTo>
                  <a:close/>
                </a:path>
              </a:pathLst>
            </a:custGeom>
            <a:solidFill>
              <a:srgbClr val="22D3EE">
                <a:alpha val="3137"/>
              </a:srgbClr>
            </a:solidFill>
            <a:ln w="19050" cap="sq">
              <a:solidFill>
                <a:srgbClr val="22D3EE"/>
              </a:solidFill>
              <a:prstDash val="solid"/>
              <a:miter/>
            </a:ln>
          </p:spPr>
        </p:sp>
      </p:grpSp>
      <p:grpSp>
        <p:nvGrpSpPr>
          <p:cNvPr id="130" name="Group 130"/>
          <p:cNvGrpSpPr/>
          <p:nvPr/>
        </p:nvGrpSpPr>
        <p:grpSpPr>
          <a:xfrm>
            <a:off x="14607540" y="8092440"/>
            <a:ext cx="2468880" cy="438912"/>
            <a:chOff x="0" y="0"/>
            <a:chExt cx="3291840" cy="585216"/>
          </a:xfrm>
        </p:grpSpPr>
        <p:sp>
          <p:nvSpPr>
            <p:cNvPr id="131" name="Freeform 131"/>
            <p:cNvSpPr/>
            <p:nvPr/>
          </p:nvSpPr>
          <p:spPr>
            <a:xfrm>
              <a:off x="0" y="0"/>
              <a:ext cx="3291840" cy="585216"/>
            </a:xfrm>
            <a:custGeom>
              <a:avLst/>
              <a:gdLst/>
              <a:ahLst/>
              <a:cxnLst/>
              <a:rect l="l" t="t" r="r" b="b"/>
              <a:pathLst>
                <a:path w="3291840" h="585216">
                  <a:moveTo>
                    <a:pt x="0" y="0"/>
                  </a:moveTo>
                  <a:lnTo>
                    <a:pt x="3291840" y="0"/>
                  </a:lnTo>
                  <a:lnTo>
                    <a:pt x="32918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603" b="-59603"/>
              </a:stretch>
            </a:blipFill>
          </p:spPr>
        </p:sp>
        <p:sp>
          <p:nvSpPr>
            <p:cNvPr id="132" name="TextBox 132"/>
            <p:cNvSpPr txBox="1"/>
            <p:nvPr/>
          </p:nvSpPr>
          <p:spPr>
            <a:xfrm>
              <a:off x="0" y="-19050"/>
              <a:ext cx="3291840" cy="6042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ProtectedRoute</a:t>
              </a:r>
            </a:p>
          </p:txBody>
        </p:sp>
      </p:grpSp>
      <p:grpSp>
        <p:nvGrpSpPr>
          <p:cNvPr id="133" name="Group 133"/>
          <p:cNvGrpSpPr/>
          <p:nvPr/>
        </p:nvGrpSpPr>
        <p:grpSpPr>
          <a:xfrm>
            <a:off x="822960" y="9710928"/>
            <a:ext cx="8229600" cy="411480"/>
            <a:chOff x="0" y="0"/>
            <a:chExt cx="10972800" cy="548640"/>
          </a:xfrm>
        </p:grpSpPr>
        <p:sp>
          <p:nvSpPr>
            <p:cNvPr id="134" name="Freeform 134"/>
            <p:cNvSpPr/>
            <p:nvPr/>
          </p:nvSpPr>
          <p:spPr>
            <a:xfrm>
              <a:off x="0" y="0"/>
              <a:ext cx="10972800" cy="548640"/>
            </a:xfrm>
            <a:custGeom>
              <a:avLst/>
              <a:gdLst/>
              <a:ahLst/>
              <a:cxnLst/>
              <a:rect l="l" t="t" r="r" b="b"/>
              <a:pathLst>
                <a:path w="10972800" h="54864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135" name="TextBox 135"/>
            <p:cNvSpPr txBox="1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Interview Practice Platform</a:t>
              </a:r>
            </a:p>
          </p:txBody>
        </p:sp>
      </p:grpSp>
      <p:grpSp>
        <p:nvGrpSpPr>
          <p:cNvPr id="136" name="Group 136"/>
          <p:cNvGrpSpPr/>
          <p:nvPr/>
        </p:nvGrpSpPr>
        <p:grpSpPr>
          <a:xfrm>
            <a:off x="16641623" y="9710928"/>
            <a:ext cx="822960" cy="411480"/>
            <a:chOff x="0" y="0"/>
            <a:chExt cx="1097280" cy="548640"/>
          </a:xfrm>
        </p:grpSpPr>
        <p:sp>
          <p:nvSpPr>
            <p:cNvPr id="137" name="Freeform 137"/>
            <p:cNvSpPr/>
            <p:nvPr/>
          </p:nvSpPr>
          <p:spPr>
            <a:xfrm>
              <a:off x="0" y="0"/>
              <a:ext cx="1097280" cy="548640"/>
            </a:xfrm>
            <a:custGeom>
              <a:avLst/>
              <a:gdLst/>
              <a:ahLst/>
              <a:cxnLst/>
              <a:rect l="l" t="t" r="r" b="b"/>
              <a:pathLst>
                <a:path w="1097280" h="54864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138" name="TextBox 138"/>
            <p:cNvSpPr txBox="1"/>
            <p:nvPr/>
          </p:nvSpPr>
          <p:spPr>
            <a:xfrm>
              <a:off x="0" y="-28575"/>
              <a:ext cx="109728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</a:t>
              </a:r>
            </a:p>
          </p:txBody>
        </p:sp>
      </p:grpSp>
      <p:pic>
        <p:nvPicPr>
          <p:cNvPr id="140" name="Picture 139" descr="Our Team - KLH Bachupally">
            <a:extLst>
              <a:ext uri="{FF2B5EF4-FFF2-40B4-BE49-F238E27FC236}">
                <a16:creationId xmlns:a16="http://schemas.microsoft.com/office/drawing/2014/main" id="{69B32DA9-BB53-FA1A-00B0-2CC194D96A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72054" y="0"/>
            <a:ext cx="3115946" cy="161964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480060"/>
            <a:ext cx="10972800" cy="411480"/>
            <a:chOff x="0" y="0"/>
            <a:chExt cx="14630400" cy="5486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0400" cy="548640"/>
            </a:xfrm>
            <a:custGeom>
              <a:avLst/>
              <a:gdLst/>
              <a:ahLst/>
              <a:cxnLst/>
              <a:rect l="l" t="t" r="r" b="b"/>
              <a:pathLst>
                <a:path w="14630400" h="54864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9601" b="-469601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300">
                  <a:solidFill>
                    <a:srgbClr val="818C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AUTHENTICATION &amp; DATA PROTECTION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850392"/>
            <a:ext cx="15773400" cy="960120"/>
            <a:chOff x="0" y="0"/>
            <a:chExt cx="21031200" cy="12801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031200" cy="1280160"/>
            </a:xfrm>
            <a:custGeom>
              <a:avLst/>
              <a:gdLst/>
              <a:ahLst/>
              <a:cxnLst/>
              <a:rect l="l" t="t" r="r" b="b"/>
              <a:pathLst>
                <a:path w="21031200" h="128016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0111" b="-270111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21031200" cy="13658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Security &amp; Auth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035583" y="548640"/>
            <a:ext cx="3429000" cy="411480"/>
            <a:chOff x="0" y="0"/>
            <a:chExt cx="4572000" cy="5486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572000" cy="548640"/>
            </a:xfrm>
            <a:custGeom>
              <a:avLst/>
              <a:gdLst/>
              <a:ahLst/>
              <a:cxnLst/>
              <a:rect l="l" t="t" r="r" b="b"/>
              <a:pathLst>
                <a:path w="4572000" h="548640">
                  <a:moveTo>
                    <a:pt x="0" y="0"/>
                  </a:moveTo>
                  <a:lnTo>
                    <a:pt x="4572000" y="0"/>
                  </a:lnTo>
                  <a:lnTo>
                    <a:pt x="4572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2375" b="-112375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45720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980"/>
                </a:lnSpc>
              </a:pPr>
              <a:r>
                <a:rPr lang="en-US" sz="1650" b="1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INTTE</a:t>
              </a:r>
              <a:r>
                <a:rPr lang="en-US" sz="1650" b="1">
                  <a:solidFill>
                    <a:srgbClr val="818C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REE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 rot="3960">
            <a:off x="813425" y="1750886"/>
            <a:ext cx="16660682" cy="0"/>
          </a:xfrm>
          <a:prstGeom prst="line">
            <a:avLst/>
          </a:prstGeom>
          <a:ln w="9525" cap="rnd">
            <a:solidFill>
              <a:srgbClr val="2E3B5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>
            <a:off x="813435" y="2116455"/>
            <a:ext cx="8180070" cy="2145030"/>
            <a:chOff x="0" y="0"/>
            <a:chExt cx="10906760" cy="286004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906760" cy="2860040"/>
            </a:xfrm>
            <a:custGeom>
              <a:avLst/>
              <a:gdLst/>
              <a:ahLst/>
              <a:cxnLst/>
              <a:rect l="l" t="t" r="r" b="b"/>
              <a:pathLst>
                <a:path w="10906760" h="2860040">
                  <a:moveTo>
                    <a:pt x="0" y="166116"/>
                  </a:moveTo>
                  <a:cubicBezTo>
                    <a:pt x="0" y="74295"/>
                    <a:pt x="74295" y="0"/>
                    <a:pt x="166116" y="0"/>
                  </a:cubicBezTo>
                  <a:lnTo>
                    <a:pt x="10740644" y="0"/>
                  </a:lnTo>
                  <a:cubicBezTo>
                    <a:pt x="10832337" y="0"/>
                    <a:pt x="10906760" y="74295"/>
                    <a:pt x="10906760" y="166116"/>
                  </a:cubicBezTo>
                  <a:lnTo>
                    <a:pt x="10906760" y="2693924"/>
                  </a:lnTo>
                  <a:cubicBezTo>
                    <a:pt x="10906760" y="2785618"/>
                    <a:pt x="10832464" y="2860040"/>
                    <a:pt x="10740644" y="2860040"/>
                  </a:cubicBezTo>
                  <a:lnTo>
                    <a:pt x="166116" y="2860040"/>
                  </a:lnTo>
                  <a:cubicBezTo>
                    <a:pt x="74295" y="2860040"/>
                    <a:pt x="0" y="2785745"/>
                    <a:pt x="0" y="2693924"/>
                  </a:cubicBezTo>
                  <a:close/>
                </a:path>
              </a:pathLst>
            </a:custGeom>
            <a:solidFill>
              <a:srgbClr val="1E293B"/>
            </a:solidFill>
            <a:ln w="19050" cap="sq">
              <a:solidFill>
                <a:srgbClr val="2E3B52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119664" y="2799874"/>
            <a:ext cx="778193" cy="778193"/>
            <a:chOff x="0" y="0"/>
            <a:chExt cx="1037590" cy="103759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37590" cy="1037590"/>
            </a:xfrm>
            <a:custGeom>
              <a:avLst/>
              <a:gdLst/>
              <a:ahLst/>
              <a:cxnLst/>
              <a:rect l="l" t="t" r="r" b="b"/>
              <a:pathLst>
                <a:path w="1037590" h="1037590">
                  <a:moveTo>
                    <a:pt x="0" y="518795"/>
                  </a:moveTo>
                  <a:cubicBezTo>
                    <a:pt x="0" y="232283"/>
                    <a:pt x="232283" y="0"/>
                    <a:pt x="518795" y="0"/>
                  </a:cubicBezTo>
                  <a:cubicBezTo>
                    <a:pt x="805307" y="0"/>
                    <a:pt x="1037590" y="232283"/>
                    <a:pt x="1037590" y="518795"/>
                  </a:cubicBezTo>
                  <a:cubicBezTo>
                    <a:pt x="1037590" y="805307"/>
                    <a:pt x="805307" y="1037590"/>
                    <a:pt x="518795" y="1037590"/>
                  </a:cubicBezTo>
                  <a:cubicBezTo>
                    <a:pt x="232283" y="1037590"/>
                    <a:pt x="0" y="805307"/>
                    <a:pt x="0" y="518795"/>
                  </a:cubicBezTo>
                  <a:close/>
                </a:path>
              </a:pathLst>
            </a:custGeom>
            <a:solidFill>
              <a:srgbClr val="34D399">
                <a:alpha val="3137"/>
              </a:srgbClr>
            </a:solidFill>
            <a:ln w="23812" cap="sq">
              <a:solidFill>
                <a:srgbClr val="34D399"/>
              </a:solidFill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1131570" y="2811780"/>
            <a:ext cx="754380" cy="754380"/>
            <a:chOff x="0" y="0"/>
            <a:chExt cx="1005840" cy="100584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005840" cy="1043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74"/>
                </a:lnSpc>
              </a:pPr>
              <a:r>
                <a:rPr lang="en-US" sz="2145" b="1">
                  <a:solidFill>
                    <a:srgbClr val="34D3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125980" y="2372868"/>
            <a:ext cx="6583680" cy="480060"/>
            <a:chOff x="0" y="0"/>
            <a:chExt cx="8778240" cy="64008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778240" cy="640080"/>
            </a:xfrm>
            <a:custGeom>
              <a:avLst/>
              <a:gdLst/>
              <a:ahLst/>
              <a:cxnLst/>
              <a:rect l="l" t="t" r="r" b="b"/>
              <a:pathLst>
                <a:path w="8778240" h="640080">
                  <a:moveTo>
                    <a:pt x="0" y="0"/>
                  </a:moveTo>
                  <a:lnTo>
                    <a:pt x="8778240" y="0"/>
                  </a:lnTo>
                  <a:lnTo>
                    <a:pt x="87782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7223" b="-217223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8778240" cy="6877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Password hashing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125980" y="2880360"/>
            <a:ext cx="6583680" cy="1234440"/>
            <a:chOff x="0" y="0"/>
            <a:chExt cx="8778240" cy="164592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778240" cy="1645920"/>
            </a:xfrm>
            <a:custGeom>
              <a:avLst/>
              <a:gdLst/>
              <a:ahLst/>
              <a:cxnLst/>
              <a:rect l="l" t="t" r="r" b="b"/>
              <a:pathLst>
                <a:path w="8778240" h="1645920">
                  <a:moveTo>
                    <a:pt x="0" y="0"/>
                  </a:moveTo>
                  <a:lnTo>
                    <a:pt x="8778240" y="0"/>
                  </a:lnTo>
                  <a:lnTo>
                    <a:pt x="877824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920" b="-53920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66675"/>
              <a:ext cx="8778240" cy="17125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5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bcryptjs salts and hashes every password in a Mongoose pre-save hook — plaintext is never stored.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221343" y="2116455"/>
            <a:ext cx="8180070" cy="2145030"/>
            <a:chOff x="0" y="0"/>
            <a:chExt cx="10906760" cy="286004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906760" cy="2860040"/>
            </a:xfrm>
            <a:custGeom>
              <a:avLst/>
              <a:gdLst/>
              <a:ahLst/>
              <a:cxnLst/>
              <a:rect l="l" t="t" r="r" b="b"/>
              <a:pathLst>
                <a:path w="10906760" h="2860040">
                  <a:moveTo>
                    <a:pt x="0" y="166116"/>
                  </a:moveTo>
                  <a:cubicBezTo>
                    <a:pt x="0" y="74295"/>
                    <a:pt x="74295" y="0"/>
                    <a:pt x="166116" y="0"/>
                  </a:cubicBezTo>
                  <a:lnTo>
                    <a:pt x="10740644" y="0"/>
                  </a:lnTo>
                  <a:cubicBezTo>
                    <a:pt x="10832337" y="0"/>
                    <a:pt x="10906760" y="74295"/>
                    <a:pt x="10906760" y="166116"/>
                  </a:cubicBezTo>
                  <a:lnTo>
                    <a:pt x="10906760" y="2693924"/>
                  </a:lnTo>
                  <a:cubicBezTo>
                    <a:pt x="10906760" y="2785618"/>
                    <a:pt x="10832464" y="2860040"/>
                    <a:pt x="10740644" y="2860040"/>
                  </a:cubicBezTo>
                  <a:lnTo>
                    <a:pt x="166116" y="2860040"/>
                  </a:lnTo>
                  <a:cubicBezTo>
                    <a:pt x="74295" y="2860040"/>
                    <a:pt x="0" y="2785745"/>
                    <a:pt x="0" y="2693924"/>
                  </a:cubicBezTo>
                  <a:close/>
                </a:path>
              </a:pathLst>
            </a:custGeom>
            <a:solidFill>
              <a:srgbClr val="1E293B"/>
            </a:solidFill>
            <a:ln w="19050" cap="sq">
              <a:solidFill>
                <a:srgbClr val="2E3B52"/>
              </a:solidFill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9527572" y="2799874"/>
            <a:ext cx="778193" cy="778193"/>
            <a:chOff x="0" y="0"/>
            <a:chExt cx="1037590" cy="103759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37590" cy="1037590"/>
            </a:xfrm>
            <a:custGeom>
              <a:avLst/>
              <a:gdLst/>
              <a:ahLst/>
              <a:cxnLst/>
              <a:rect l="l" t="t" r="r" b="b"/>
              <a:pathLst>
                <a:path w="1037590" h="1037590">
                  <a:moveTo>
                    <a:pt x="0" y="518795"/>
                  </a:moveTo>
                  <a:cubicBezTo>
                    <a:pt x="0" y="232283"/>
                    <a:pt x="232283" y="0"/>
                    <a:pt x="518795" y="0"/>
                  </a:cubicBezTo>
                  <a:cubicBezTo>
                    <a:pt x="805307" y="0"/>
                    <a:pt x="1037590" y="232283"/>
                    <a:pt x="1037590" y="518795"/>
                  </a:cubicBezTo>
                  <a:cubicBezTo>
                    <a:pt x="1037590" y="805307"/>
                    <a:pt x="805307" y="1037590"/>
                    <a:pt x="518795" y="1037590"/>
                  </a:cubicBezTo>
                  <a:cubicBezTo>
                    <a:pt x="232283" y="1037590"/>
                    <a:pt x="0" y="805307"/>
                    <a:pt x="0" y="518795"/>
                  </a:cubicBezTo>
                  <a:close/>
                </a:path>
              </a:pathLst>
            </a:custGeom>
            <a:solidFill>
              <a:srgbClr val="818CF8">
                <a:alpha val="3137"/>
              </a:srgbClr>
            </a:solidFill>
            <a:ln w="23812" cap="sq">
              <a:solidFill>
                <a:srgbClr val="818CF8"/>
              </a:solidFill>
              <a:prstDash val="solid"/>
              <a:miter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9539478" y="2811780"/>
            <a:ext cx="754380" cy="754380"/>
            <a:chOff x="0" y="0"/>
            <a:chExt cx="1005840" cy="100584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1005840" cy="1043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74"/>
                </a:lnSpc>
              </a:pPr>
              <a:r>
                <a:rPr lang="en-US" sz="2145" b="1">
                  <a:solidFill>
                    <a:srgbClr val="818C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0533888" y="2372868"/>
            <a:ext cx="6583680" cy="480060"/>
            <a:chOff x="0" y="0"/>
            <a:chExt cx="8778240" cy="64008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778240" cy="640080"/>
            </a:xfrm>
            <a:custGeom>
              <a:avLst/>
              <a:gdLst/>
              <a:ahLst/>
              <a:cxnLst/>
              <a:rect l="l" t="t" r="r" b="b"/>
              <a:pathLst>
                <a:path w="8778240" h="640080">
                  <a:moveTo>
                    <a:pt x="0" y="0"/>
                  </a:moveTo>
                  <a:lnTo>
                    <a:pt x="8778240" y="0"/>
                  </a:lnTo>
                  <a:lnTo>
                    <a:pt x="87782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7223" b="-217223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47625"/>
              <a:ext cx="8778240" cy="6877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JWT session tokens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0533888" y="2880360"/>
            <a:ext cx="6583680" cy="1234440"/>
            <a:chOff x="0" y="0"/>
            <a:chExt cx="8778240" cy="164592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778240" cy="1645920"/>
            </a:xfrm>
            <a:custGeom>
              <a:avLst/>
              <a:gdLst/>
              <a:ahLst/>
              <a:cxnLst/>
              <a:rect l="l" t="t" r="r" b="b"/>
              <a:pathLst>
                <a:path w="8778240" h="1645920">
                  <a:moveTo>
                    <a:pt x="0" y="0"/>
                  </a:moveTo>
                  <a:lnTo>
                    <a:pt x="8778240" y="0"/>
                  </a:lnTo>
                  <a:lnTo>
                    <a:pt x="877824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920" b="-53920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66675"/>
              <a:ext cx="8778240" cy="17125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5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generateToken() signs a token with the user id; JWT_EXPIRES_IN controls its lifetime (default 7 days).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13435" y="4489323"/>
            <a:ext cx="8180070" cy="2145030"/>
            <a:chOff x="0" y="0"/>
            <a:chExt cx="10906760" cy="286004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0906760" cy="2860040"/>
            </a:xfrm>
            <a:custGeom>
              <a:avLst/>
              <a:gdLst/>
              <a:ahLst/>
              <a:cxnLst/>
              <a:rect l="l" t="t" r="r" b="b"/>
              <a:pathLst>
                <a:path w="10906760" h="2860040">
                  <a:moveTo>
                    <a:pt x="0" y="166116"/>
                  </a:moveTo>
                  <a:cubicBezTo>
                    <a:pt x="0" y="74295"/>
                    <a:pt x="74295" y="0"/>
                    <a:pt x="166116" y="0"/>
                  </a:cubicBezTo>
                  <a:lnTo>
                    <a:pt x="10740644" y="0"/>
                  </a:lnTo>
                  <a:cubicBezTo>
                    <a:pt x="10832337" y="0"/>
                    <a:pt x="10906760" y="74295"/>
                    <a:pt x="10906760" y="166116"/>
                  </a:cubicBezTo>
                  <a:lnTo>
                    <a:pt x="10906760" y="2693924"/>
                  </a:lnTo>
                  <a:cubicBezTo>
                    <a:pt x="10906760" y="2785618"/>
                    <a:pt x="10832464" y="2860040"/>
                    <a:pt x="10740644" y="2860040"/>
                  </a:cubicBezTo>
                  <a:lnTo>
                    <a:pt x="166116" y="2860040"/>
                  </a:lnTo>
                  <a:cubicBezTo>
                    <a:pt x="74295" y="2860040"/>
                    <a:pt x="0" y="2785745"/>
                    <a:pt x="0" y="2693924"/>
                  </a:cubicBezTo>
                  <a:close/>
                </a:path>
              </a:pathLst>
            </a:custGeom>
            <a:solidFill>
              <a:srgbClr val="1E293B"/>
            </a:solidFill>
            <a:ln w="19050" cap="sq">
              <a:solidFill>
                <a:srgbClr val="2E3B52"/>
              </a:solidFill>
              <a:prstDash val="solid"/>
              <a:miter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1119664" y="5172742"/>
            <a:ext cx="778193" cy="778193"/>
            <a:chOff x="0" y="0"/>
            <a:chExt cx="1037590" cy="103759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037590" cy="1037590"/>
            </a:xfrm>
            <a:custGeom>
              <a:avLst/>
              <a:gdLst/>
              <a:ahLst/>
              <a:cxnLst/>
              <a:rect l="l" t="t" r="r" b="b"/>
              <a:pathLst>
                <a:path w="1037590" h="1037590">
                  <a:moveTo>
                    <a:pt x="0" y="518795"/>
                  </a:moveTo>
                  <a:cubicBezTo>
                    <a:pt x="0" y="232283"/>
                    <a:pt x="232283" y="0"/>
                    <a:pt x="518795" y="0"/>
                  </a:cubicBezTo>
                  <a:cubicBezTo>
                    <a:pt x="805307" y="0"/>
                    <a:pt x="1037590" y="232283"/>
                    <a:pt x="1037590" y="518795"/>
                  </a:cubicBezTo>
                  <a:cubicBezTo>
                    <a:pt x="1037590" y="805307"/>
                    <a:pt x="805307" y="1037590"/>
                    <a:pt x="518795" y="1037590"/>
                  </a:cubicBezTo>
                  <a:cubicBezTo>
                    <a:pt x="232283" y="1037590"/>
                    <a:pt x="0" y="805307"/>
                    <a:pt x="0" y="518795"/>
                  </a:cubicBezTo>
                  <a:close/>
                </a:path>
              </a:pathLst>
            </a:custGeom>
            <a:solidFill>
              <a:srgbClr val="22D3EE">
                <a:alpha val="3137"/>
              </a:srgbClr>
            </a:solidFill>
            <a:ln w="23812" cap="sq">
              <a:solidFill>
                <a:srgbClr val="22D3EE"/>
              </a:solidFill>
              <a:prstDash val="solid"/>
              <a:miter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1131570" y="5184648"/>
            <a:ext cx="754380" cy="754380"/>
            <a:chOff x="0" y="0"/>
            <a:chExt cx="1005840" cy="100584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1005840" cy="1043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74"/>
                </a:lnSpc>
              </a:pPr>
              <a:r>
                <a:rPr lang="en-US" sz="2145" b="1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2125980" y="4745736"/>
            <a:ext cx="6583680" cy="480060"/>
            <a:chOff x="0" y="0"/>
            <a:chExt cx="8778240" cy="64008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778240" cy="640080"/>
            </a:xfrm>
            <a:custGeom>
              <a:avLst/>
              <a:gdLst/>
              <a:ahLst/>
              <a:cxnLst/>
              <a:rect l="l" t="t" r="r" b="b"/>
              <a:pathLst>
                <a:path w="8778240" h="640080">
                  <a:moveTo>
                    <a:pt x="0" y="0"/>
                  </a:moveTo>
                  <a:lnTo>
                    <a:pt x="8778240" y="0"/>
                  </a:lnTo>
                  <a:lnTo>
                    <a:pt x="87782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7223" b="-217223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47625"/>
              <a:ext cx="8778240" cy="6877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protect middleware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2125980" y="5253228"/>
            <a:ext cx="6583680" cy="1234440"/>
            <a:chOff x="0" y="0"/>
            <a:chExt cx="8778240" cy="164592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8778240" cy="1645920"/>
            </a:xfrm>
            <a:custGeom>
              <a:avLst/>
              <a:gdLst/>
              <a:ahLst/>
              <a:cxnLst/>
              <a:rect l="l" t="t" r="r" b="b"/>
              <a:pathLst>
                <a:path w="8778240" h="1645920">
                  <a:moveTo>
                    <a:pt x="0" y="0"/>
                  </a:moveTo>
                  <a:lnTo>
                    <a:pt x="8778240" y="0"/>
                  </a:lnTo>
                  <a:lnTo>
                    <a:pt x="877824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920" b="-53920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-66675"/>
              <a:ext cx="8778240" cy="17125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5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Verifies the Bearer token on every private route and attaches the authenticated user to req.user.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9221343" y="4489323"/>
            <a:ext cx="8180070" cy="2145030"/>
            <a:chOff x="0" y="0"/>
            <a:chExt cx="10906760" cy="286004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0906760" cy="2860040"/>
            </a:xfrm>
            <a:custGeom>
              <a:avLst/>
              <a:gdLst/>
              <a:ahLst/>
              <a:cxnLst/>
              <a:rect l="l" t="t" r="r" b="b"/>
              <a:pathLst>
                <a:path w="10906760" h="2860040">
                  <a:moveTo>
                    <a:pt x="0" y="166116"/>
                  </a:moveTo>
                  <a:cubicBezTo>
                    <a:pt x="0" y="74295"/>
                    <a:pt x="74295" y="0"/>
                    <a:pt x="166116" y="0"/>
                  </a:cubicBezTo>
                  <a:lnTo>
                    <a:pt x="10740644" y="0"/>
                  </a:lnTo>
                  <a:cubicBezTo>
                    <a:pt x="10832337" y="0"/>
                    <a:pt x="10906760" y="74295"/>
                    <a:pt x="10906760" y="166116"/>
                  </a:cubicBezTo>
                  <a:lnTo>
                    <a:pt x="10906760" y="2693924"/>
                  </a:lnTo>
                  <a:cubicBezTo>
                    <a:pt x="10906760" y="2785618"/>
                    <a:pt x="10832464" y="2860040"/>
                    <a:pt x="10740644" y="2860040"/>
                  </a:cubicBezTo>
                  <a:lnTo>
                    <a:pt x="166116" y="2860040"/>
                  </a:lnTo>
                  <a:cubicBezTo>
                    <a:pt x="74295" y="2860040"/>
                    <a:pt x="0" y="2785745"/>
                    <a:pt x="0" y="2693924"/>
                  </a:cubicBezTo>
                  <a:close/>
                </a:path>
              </a:pathLst>
            </a:custGeom>
            <a:solidFill>
              <a:srgbClr val="1E293B"/>
            </a:solidFill>
            <a:ln w="19050" cap="sq">
              <a:solidFill>
                <a:srgbClr val="2E3B52"/>
              </a:solidFill>
              <a:prstDash val="solid"/>
              <a:miter/>
            </a:ln>
          </p:spPr>
        </p:sp>
      </p:grpSp>
      <p:grpSp>
        <p:nvGrpSpPr>
          <p:cNvPr id="53" name="Group 53"/>
          <p:cNvGrpSpPr/>
          <p:nvPr/>
        </p:nvGrpSpPr>
        <p:grpSpPr>
          <a:xfrm>
            <a:off x="9527572" y="5172742"/>
            <a:ext cx="778193" cy="778193"/>
            <a:chOff x="0" y="0"/>
            <a:chExt cx="1037590" cy="103759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037590" cy="1037590"/>
            </a:xfrm>
            <a:custGeom>
              <a:avLst/>
              <a:gdLst/>
              <a:ahLst/>
              <a:cxnLst/>
              <a:rect l="l" t="t" r="r" b="b"/>
              <a:pathLst>
                <a:path w="1037590" h="1037590">
                  <a:moveTo>
                    <a:pt x="0" y="518795"/>
                  </a:moveTo>
                  <a:cubicBezTo>
                    <a:pt x="0" y="232283"/>
                    <a:pt x="232283" y="0"/>
                    <a:pt x="518795" y="0"/>
                  </a:cubicBezTo>
                  <a:cubicBezTo>
                    <a:pt x="805307" y="0"/>
                    <a:pt x="1037590" y="232283"/>
                    <a:pt x="1037590" y="518795"/>
                  </a:cubicBezTo>
                  <a:cubicBezTo>
                    <a:pt x="1037590" y="805307"/>
                    <a:pt x="805307" y="1037590"/>
                    <a:pt x="518795" y="1037590"/>
                  </a:cubicBezTo>
                  <a:cubicBezTo>
                    <a:pt x="232283" y="1037590"/>
                    <a:pt x="0" y="805307"/>
                    <a:pt x="0" y="518795"/>
                  </a:cubicBezTo>
                  <a:close/>
                </a:path>
              </a:pathLst>
            </a:custGeom>
            <a:solidFill>
              <a:srgbClr val="FBBF24">
                <a:alpha val="3137"/>
              </a:srgbClr>
            </a:solidFill>
            <a:ln w="23812" cap="sq">
              <a:solidFill>
                <a:srgbClr val="FBBF24"/>
              </a:solidFill>
              <a:prstDash val="solid"/>
              <a:miter/>
            </a:ln>
          </p:spPr>
        </p:sp>
      </p:grpSp>
      <p:grpSp>
        <p:nvGrpSpPr>
          <p:cNvPr id="55" name="Group 55"/>
          <p:cNvGrpSpPr/>
          <p:nvPr/>
        </p:nvGrpSpPr>
        <p:grpSpPr>
          <a:xfrm>
            <a:off x="9539478" y="5184648"/>
            <a:ext cx="754380" cy="754380"/>
            <a:chOff x="0" y="0"/>
            <a:chExt cx="1005840" cy="100584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57" name="TextBox 57"/>
            <p:cNvSpPr txBox="1"/>
            <p:nvPr/>
          </p:nvSpPr>
          <p:spPr>
            <a:xfrm>
              <a:off x="0" y="-38100"/>
              <a:ext cx="1005840" cy="1043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74"/>
                </a:lnSpc>
              </a:pPr>
              <a:r>
                <a:rPr lang="en-US" sz="2145" b="1">
                  <a:solidFill>
                    <a:srgbClr val="FBBF2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0533888" y="4745736"/>
            <a:ext cx="6583680" cy="480060"/>
            <a:chOff x="0" y="0"/>
            <a:chExt cx="8778240" cy="64008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8778240" cy="640080"/>
            </a:xfrm>
            <a:custGeom>
              <a:avLst/>
              <a:gdLst/>
              <a:ahLst/>
              <a:cxnLst/>
              <a:rect l="l" t="t" r="r" b="b"/>
              <a:pathLst>
                <a:path w="8778240" h="640080">
                  <a:moveTo>
                    <a:pt x="0" y="0"/>
                  </a:moveTo>
                  <a:lnTo>
                    <a:pt x="8778240" y="0"/>
                  </a:lnTo>
                  <a:lnTo>
                    <a:pt x="87782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7223" b="-217223"/>
              </a:stretch>
            </a:blipFill>
          </p:spPr>
        </p:sp>
        <p:sp>
          <p:nvSpPr>
            <p:cNvPr id="60" name="TextBox 60"/>
            <p:cNvSpPr txBox="1"/>
            <p:nvPr/>
          </p:nvSpPr>
          <p:spPr>
            <a:xfrm>
              <a:off x="0" y="-47625"/>
              <a:ext cx="8778240" cy="6877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Frontend route guarding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0533888" y="5253228"/>
            <a:ext cx="6583680" cy="1234440"/>
            <a:chOff x="0" y="0"/>
            <a:chExt cx="8778240" cy="164592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8778240" cy="1645920"/>
            </a:xfrm>
            <a:custGeom>
              <a:avLst/>
              <a:gdLst/>
              <a:ahLst/>
              <a:cxnLst/>
              <a:rect l="l" t="t" r="r" b="b"/>
              <a:pathLst>
                <a:path w="8778240" h="1645920">
                  <a:moveTo>
                    <a:pt x="0" y="0"/>
                  </a:moveTo>
                  <a:lnTo>
                    <a:pt x="8778240" y="0"/>
                  </a:lnTo>
                  <a:lnTo>
                    <a:pt x="877824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920" b="-53920"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0" y="-66675"/>
              <a:ext cx="8778240" cy="17125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5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ProtectedRoute redirects unauthenticated users to /login before any private page renders.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813435" y="6862191"/>
            <a:ext cx="8180070" cy="2145030"/>
            <a:chOff x="0" y="0"/>
            <a:chExt cx="10906760" cy="286004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10906760" cy="2860040"/>
            </a:xfrm>
            <a:custGeom>
              <a:avLst/>
              <a:gdLst/>
              <a:ahLst/>
              <a:cxnLst/>
              <a:rect l="l" t="t" r="r" b="b"/>
              <a:pathLst>
                <a:path w="10906760" h="2860040">
                  <a:moveTo>
                    <a:pt x="0" y="166116"/>
                  </a:moveTo>
                  <a:cubicBezTo>
                    <a:pt x="0" y="74295"/>
                    <a:pt x="74295" y="0"/>
                    <a:pt x="166116" y="0"/>
                  </a:cubicBezTo>
                  <a:lnTo>
                    <a:pt x="10740644" y="0"/>
                  </a:lnTo>
                  <a:cubicBezTo>
                    <a:pt x="10832337" y="0"/>
                    <a:pt x="10906760" y="74295"/>
                    <a:pt x="10906760" y="166116"/>
                  </a:cubicBezTo>
                  <a:lnTo>
                    <a:pt x="10906760" y="2693924"/>
                  </a:lnTo>
                  <a:cubicBezTo>
                    <a:pt x="10906760" y="2785618"/>
                    <a:pt x="10832464" y="2860040"/>
                    <a:pt x="10740644" y="2860040"/>
                  </a:cubicBezTo>
                  <a:lnTo>
                    <a:pt x="166116" y="2860040"/>
                  </a:lnTo>
                  <a:cubicBezTo>
                    <a:pt x="74295" y="2860040"/>
                    <a:pt x="0" y="2785745"/>
                    <a:pt x="0" y="2693924"/>
                  </a:cubicBezTo>
                  <a:close/>
                </a:path>
              </a:pathLst>
            </a:custGeom>
            <a:solidFill>
              <a:srgbClr val="1E293B"/>
            </a:solidFill>
            <a:ln w="19050" cap="sq">
              <a:solidFill>
                <a:srgbClr val="2E3B52"/>
              </a:solidFill>
              <a:prstDash val="solid"/>
              <a:miter/>
            </a:ln>
          </p:spPr>
        </p:sp>
      </p:grpSp>
      <p:grpSp>
        <p:nvGrpSpPr>
          <p:cNvPr id="66" name="Group 66"/>
          <p:cNvGrpSpPr/>
          <p:nvPr/>
        </p:nvGrpSpPr>
        <p:grpSpPr>
          <a:xfrm>
            <a:off x="1119664" y="7545610"/>
            <a:ext cx="778193" cy="778193"/>
            <a:chOff x="0" y="0"/>
            <a:chExt cx="1037590" cy="103759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1037590" cy="1037590"/>
            </a:xfrm>
            <a:custGeom>
              <a:avLst/>
              <a:gdLst/>
              <a:ahLst/>
              <a:cxnLst/>
              <a:rect l="l" t="t" r="r" b="b"/>
              <a:pathLst>
                <a:path w="1037590" h="1037590">
                  <a:moveTo>
                    <a:pt x="0" y="518795"/>
                  </a:moveTo>
                  <a:cubicBezTo>
                    <a:pt x="0" y="232283"/>
                    <a:pt x="232283" y="0"/>
                    <a:pt x="518795" y="0"/>
                  </a:cubicBezTo>
                  <a:cubicBezTo>
                    <a:pt x="805307" y="0"/>
                    <a:pt x="1037590" y="232283"/>
                    <a:pt x="1037590" y="518795"/>
                  </a:cubicBezTo>
                  <a:cubicBezTo>
                    <a:pt x="1037590" y="805307"/>
                    <a:pt x="805307" y="1037590"/>
                    <a:pt x="518795" y="1037590"/>
                  </a:cubicBezTo>
                  <a:cubicBezTo>
                    <a:pt x="232283" y="1037590"/>
                    <a:pt x="0" y="805307"/>
                    <a:pt x="0" y="518795"/>
                  </a:cubicBezTo>
                  <a:close/>
                </a:path>
              </a:pathLst>
            </a:custGeom>
            <a:solidFill>
              <a:srgbClr val="F472B6">
                <a:alpha val="3137"/>
              </a:srgbClr>
            </a:solidFill>
            <a:ln w="23812" cap="sq">
              <a:solidFill>
                <a:srgbClr val="F472B6"/>
              </a:solidFill>
              <a:prstDash val="solid"/>
              <a:miter/>
            </a:ln>
          </p:spPr>
        </p:sp>
      </p:grpSp>
      <p:grpSp>
        <p:nvGrpSpPr>
          <p:cNvPr id="68" name="Group 68"/>
          <p:cNvGrpSpPr/>
          <p:nvPr/>
        </p:nvGrpSpPr>
        <p:grpSpPr>
          <a:xfrm>
            <a:off x="1131570" y="7557516"/>
            <a:ext cx="754380" cy="754380"/>
            <a:chOff x="0" y="0"/>
            <a:chExt cx="1005840" cy="100584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70" name="TextBox 70"/>
            <p:cNvSpPr txBox="1"/>
            <p:nvPr/>
          </p:nvSpPr>
          <p:spPr>
            <a:xfrm>
              <a:off x="0" y="-38100"/>
              <a:ext cx="1005840" cy="1043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74"/>
                </a:lnSpc>
              </a:pPr>
              <a:r>
                <a:rPr lang="en-US" sz="2145" b="1">
                  <a:solidFill>
                    <a:srgbClr val="F472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2125980" y="7118604"/>
            <a:ext cx="6583680" cy="480060"/>
            <a:chOff x="0" y="0"/>
            <a:chExt cx="8778240" cy="64008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8778240" cy="640080"/>
            </a:xfrm>
            <a:custGeom>
              <a:avLst/>
              <a:gdLst/>
              <a:ahLst/>
              <a:cxnLst/>
              <a:rect l="l" t="t" r="r" b="b"/>
              <a:pathLst>
                <a:path w="8778240" h="640080">
                  <a:moveTo>
                    <a:pt x="0" y="0"/>
                  </a:moveTo>
                  <a:lnTo>
                    <a:pt x="8778240" y="0"/>
                  </a:lnTo>
                  <a:lnTo>
                    <a:pt x="87782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7223" b="-217223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-47625"/>
              <a:ext cx="8778240" cy="6877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Scoped CORS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2125980" y="7626096"/>
            <a:ext cx="6583680" cy="1234440"/>
            <a:chOff x="0" y="0"/>
            <a:chExt cx="8778240" cy="164592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8778240" cy="1645920"/>
            </a:xfrm>
            <a:custGeom>
              <a:avLst/>
              <a:gdLst/>
              <a:ahLst/>
              <a:cxnLst/>
              <a:rect l="l" t="t" r="r" b="b"/>
              <a:pathLst>
                <a:path w="8778240" h="1645920">
                  <a:moveTo>
                    <a:pt x="0" y="0"/>
                  </a:moveTo>
                  <a:lnTo>
                    <a:pt x="8778240" y="0"/>
                  </a:lnTo>
                  <a:lnTo>
                    <a:pt x="877824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920" b="-53920"/>
              </a:stretch>
            </a:blipFill>
          </p:spPr>
        </p:sp>
        <p:sp>
          <p:nvSpPr>
            <p:cNvPr id="76" name="TextBox 76"/>
            <p:cNvSpPr txBox="1"/>
            <p:nvPr/>
          </p:nvSpPr>
          <p:spPr>
            <a:xfrm>
              <a:off x="0" y="-66675"/>
              <a:ext cx="8778240" cy="17125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5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Express CORS is restricted to CLIENT_URL, so only the trusted frontend origin can call the API.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9221343" y="6862191"/>
            <a:ext cx="8180070" cy="2145030"/>
            <a:chOff x="0" y="0"/>
            <a:chExt cx="10906760" cy="2860040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10906760" cy="2860040"/>
            </a:xfrm>
            <a:custGeom>
              <a:avLst/>
              <a:gdLst/>
              <a:ahLst/>
              <a:cxnLst/>
              <a:rect l="l" t="t" r="r" b="b"/>
              <a:pathLst>
                <a:path w="10906760" h="2860040">
                  <a:moveTo>
                    <a:pt x="0" y="166116"/>
                  </a:moveTo>
                  <a:cubicBezTo>
                    <a:pt x="0" y="74295"/>
                    <a:pt x="74295" y="0"/>
                    <a:pt x="166116" y="0"/>
                  </a:cubicBezTo>
                  <a:lnTo>
                    <a:pt x="10740644" y="0"/>
                  </a:lnTo>
                  <a:cubicBezTo>
                    <a:pt x="10832337" y="0"/>
                    <a:pt x="10906760" y="74295"/>
                    <a:pt x="10906760" y="166116"/>
                  </a:cubicBezTo>
                  <a:lnTo>
                    <a:pt x="10906760" y="2693924"/>
                  </a:lnTo>
                  <a:cubicBezTo>
                    <a:pt x="10906760" y="2785618"/>
                    <a:pt x="10832464" y="2860040"/>
                    <a:pt x="10740644" y="2860040"/>
                  </a:cubicBezTo>
                  <a:lnTo>
                    <a:pt x="166116" y="2860040"/>
                  </a:lnTo>
                  <a:cubicBezTo>
                    <a:pt x="74295" y="2860040"/>
                    <a:pt x="0" y="2785745"/>
                    <a:pt x="0" y="2693924"/>
                  </a:cubicBezTo>
                  <a:close/>
                </a:path>
              </a:pathLst>
            </a:custGeom>
            <a:solidFill>
              <a:srgbClr val="1E293B"/>
            </a:solidFill>
            <a:ln w="19050" cap="sq">
              <a:solidFill>
                <a:srgbClr val="2E3B52"/>
              </a:solidFill>
              <a:prstDash val="solid"/>
              <a:miter/>
            </a:ln>
          </p:spPr>
        </p:sp>
      </p:grpSp>
      <p:grpSp>
        <p:nvGrpSpPr>
          <p:cNvPr id="79" name="Group 79"/>
          <p:cNvGrpSpPr/>
          <p:nvPr/>
        </p:nvGrpSpPr>
        <p:grpSpPr>
          <a:xfrm>
            <a:off x="9527572" y="7545610"/>
            <a:ext cx="778193" cy="778193"/>
            <a:chOff x="0" y="0"/>
            <a:chExt cx="1037590" cy="1037590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1037590" cy="1037590"/>
            </a:xfrm>
            <a:custGeom>
              <a:avLst/>
              <a:gdLst/>
              <a:ahLst/>
              <a:cxnLst/>
              <a:rect l="l" t="t" r="r" b="b"/>
              <a:pathLst>
                <a:path w="1037590" h="1037590">
                  <a:moveTo>
                    <a:pt x="0" y="518795"/>
                  </a:moveTo>
                  <a:cubicBezTo>
                    <a:pt x="0" y="232283"/>
                    <a:pt x="232283" y="0"/>
                    <a:pt x="518795" y="0"/>
                  </a:cubicBezTo>
                  <a:cubicBezTo>
                    <a:pt x="805307" y="0"/>
                    <a:pt x="1037590" y="232283"/>
                    <a:pt x="1037590" y="518795"/>
                  </a:cubicBezTo>
                  <a:cubicBezTo>
                    <a:pt x="1037590" y="805307"/>
                    <a:pt x="805307" y="1037590"/>
                    <a:pt x="518795" y="1037590"/>
                  </a:cubicBezTo>
                  <a:cubicBezTo>
                    <a:pt x="232283" y="1037590"/>
                    <a:pt x="0" y="805307"/>
                    <a:pt x="0" y="518795"/>
                  </a:cubicBezTo>
                  <a:close/>
                </a:path>
              </a:pathLst>
            </a:custGeom>
            <a:solidFill>
              <a:srgbClr val="F87171">
                <a:alpha val="3137"/>
              </a:srgbClr>
            </a:solidFill>
            <a:ln w="23812" cap="sq">
              <a:solidFill>
                <a:srgbClr val="F87171"/>
              </a:solidFill>
              <a:prstDash val="solid"/>
              <a:miter/>
            </a:ln>
          </p:spPr>
        </p:sp>
      </p:grpSp>
      <p:grpSp>
        <p:nvGrpSpPr>
          <p:cNvPr id="81" name="Group 81"/>
          <p:cNvGrpSpPr/>
          <p:nvPr/>
        </p:nvGrpSpPr>
        <p:grpSpPr>
          <a:xfrm>
            <a:off x="9539478" y="7557516"/>
            <a:ext cx="754380" cy="754380"/>
            <a:chOff x="0" y="0"/>
            <a:chExt cx="1005840" cy="1005840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83" name="TextBox 83"/>
            <p:cNvSpPr txBox="1"/>
            <p:nvPr/>
          </p:nvSpPr>
          <p:spPr>
            <a:xfrm>
              <a:off x="0" y="-38100"/>
              <a:ext cx="1005840" cy="1043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74"/>
                </a:lnSpc>
              </a:pPr>
              <a:r>
                <a:rPr lang="en-US" sz="2145" b="1">
                  <a:solidFill>
                    <a:srgbClr val="F8717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10533888" y="7118604"/>
            <a:ext cx="6583680" cy="480060"/>
            <a:chOff x="0" y="0"/>
            <a:chExt cx="8778240" cy="640080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8778240" cy="640080"/>
            </a:xfrm>
            <a:custGeom>
              <a:avLst/>
              <a:gdLst/>
              <a:ahLst/>
              <a:cxnLst/>
              <a:rect l="l" t="t" r="r" b="b"/>
              <a:pathLst>
                <a:path w="8778240" h="640080">
                  <a:moveTo>
                    <a:pt x="0" y="0"/>
                  </a:moveTo>
                  <a:lnTo>
                    <a:pt x="8778240" y="0"/>
                  </a:lnTo>
                  <a:lnTo>
                    <a:pt x="87782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7223" b="-217223"/>
              </a:stretch>
            </a:blipFill>
          </p:spPr>
        </p:sp>
        <p:sp>
          <p:nvSpPr>
            <p:cNvPr id="86" name="TextBox 86"/>
            <p:cNvSpPr txBox="1"/>
            <p:nvPr/>
          </p:nvSpPr>
          <p:spPr>
            <a:xfrm>
              <a:off x="0" y="-47625"/>
              <a:ext cx="8778240" cy="6877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Secrets via .env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10533888" y="7626096"/>
            <a:ext cx="6583680" cy="1234440"/>
            <a:chOff x="0" y="0"/>
            <a:chExt cx="8778240" cy="1645920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8778240" cy="1645920"/>
            </a:xfrm>
            <a:custGeom>
              <a:avLst/>
              <a:gdLst/>
              <a:ahLst/>
              <a:cxnLst/>
              <a:rect l="l" t="t" r="r" b="b"/>
              <a:pathLst>
                <a:path w="8778240" h="1645920">
                  <a:moveTo>
                    <a:pt x="0" y="0"/>
                  </a:moveTo>
                  <a:lnTo>
                    <a:pt x="8778240" y="0"/>
                  </a:lnTo>
                  <a:lnTo>
                    <a:pt x="877824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920" b="-53920"/>
              </a:stretch>
            </a:blipFill>
          </p:spPr>
        </p:sp>
        <p:sp>
          <p:nvSpPr>
            <p:cNvPr id="89" name="TextBox 89"/>
            <p:cNvSpPr txBox="1"/>
            <p:nvPr/>
          </p:nvSpPr>
          <p:spPr>
            <a:xfrm>
              <a:off x="0" y="-66675"/>
              <a:ext cx="8778240" cy="17125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5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JWT_SECRET, MONGO_URI and GEMINI_API_KEY are all environment-driven, never hard-coded.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822960" y="9710928"/>
            <a:ext cx="8229600" cy="411480"/>
            <a:chOff x="0" y="0"/>
            <a:chExt cx="10972800" cy="548640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10972800" cy="548640"/>
            </a:xfrm>
            <a:custGeom>
              <a:avLst/>
              <a:gdLst/>
              <a:ahLst/>
              <a:cxnLst/>
              <a:rect l="l" t="t" r="r" b="b"/>
              <a:pathLst>
                <a:path w="10972800" h="54864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92" name="TextBox 92"/>
            <p:cNvSpPr txBox="1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Interview Practice Platform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16641623" y="9710928"/>
            <a:ext cx="822960" cy="411480"/>
            <a:chOff x="0" y="0"/>
            <a:chExt cx="1097280" cy="548640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1097280" cy="548640"/>
            </a:xfrm>
            <a:custGeom>
              <a:avLst/>
              <a:gdLst/>
              <a:ahLst/>
              <a:cxnLst/>
              <a:rect l="l" t="t" r="r" b="b"/>
              <a:pathLst>
                <a:path w="1097280" h="54864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95" name="TextBox 95"/>
            <p:cNvSpPr txBox="1"/>
            <p:nvPr/>
          </p:nvSpPr>
          <p:spPr>
            <a:xfrm>
              <a:off x="0" y="-28575"/>
              <a:ext cx="109728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  <p:pic>
        <p:nvPicPr>
          <p:cNvPr id="97" name="Picture 96" descr="Our Team - KLH Bachupally">
            <a:extLst>
              <a:ext uri="{FF2B5EF4-FFF2-40B4-BE49-F238E27FC236}">
                <a16:creationId xmlns:a16="http://schemas.microsoft.com/office/drawing/2014/main" id="{05818A2F-BF5C-1750-BE79-47F5463F99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72054" y="0"/>
            <a:ext cx="3115946" cy="161964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538960" y="-1920240"/>
            <a:ext cx="6309360" cy="6309360"/>
            <a:chOff x="0" y="0"/>
            <a:chExt cx="8412480" cy="84124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412480" cy="8412480"/>
            </a:xfrm>
            <a:custGeom>
              <a:avLst/>
              <a:gdLst/>
              <a:ahLst/>
              <a:cxnLst/>
              <a:rect l="l" t="t" r="r" b="b"/>
              <a:pathLst>
                <a:path w="8412480" h="8412480">
                  <a:moveTo>
                    <a:pt x="0" y="4206240"/>
                  </a:moveTo>
                  <a:cubicBezTo>
                    <a:pt x="0" y="1883156"/>
                    <a:pt x="1883156" y="0"/>
                    <a:pt x="4206240" y="0"/>
                  </a:cubicBezTo>
                  <a:cubicBezTo>
                    <a:pt x="6529325" y="0"/>
                    <a:pt x="8412480" y="1883156"/>
                    <a:pt x="8412480" y="4206240"/>
                  </a:cubicBezTo>
                  <a:cubicBezTo>
                    <a:pt x="8412480" y="6529325"/>
                    <a:pt x="6529324" y="8412480"/>
                    <a:pt x="4206240" y="8412480"/>
                  </a:cubicBezTo>
                  <a:cubicBezTo>
                    <a:pt x="1883156" y="8412480"/>
                    <a:pt x="0" y="6529324"/>
                    <a:pt x="0" y="4206240"/>
                  </a:cubicBezTo>
                  <a:close/>
                </a:path>
              </a:pathLst>
            </a:custGeom>
            <a:solidFill>
              <a:srgbClr val="4F46E5">
                <a:alpha val="1176"/>
              </a:srgbClr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822960" y="685800"/>
            <a:ext cx="8229600" cy="411480"/>
            <a:chOff x="0" y="0"/>
            <a:chExt cx="10972800" cy="5486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972800" cy="548640"/>
            </a:xfrm>
            <a:custGeom>
              <a:avLst/>
              <a:gdLst/>
              <a:ahLst/>
              <a:cxnLst/>
              <a:rect l="l" t="t" r="r" b="b"/>
              <a:pathLst>
                <a:path w="10972800" h="54864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300">
                  <a:solidFill>
                    <a:srgbClr val="818C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SUMMARY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22960" y="1097280"/>
            <a:ext cx="15087600" cy="822960"/>
            <a:chOff x="0" y="0"/>
            <a:chExt cx="20116800" cy="109728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0116800" cy="1097280"/>
            </a:xfrm>
            <a:custGeom>
              <a:avLst/>
              <a:gdLst/>
              <a:ahLst/>
              <a:cxnLst/>
              <a:rect l="l" t="t" r="r" b="b"/>
              <a:pathLst>
                <a:path w="20116800" h="1097280">
                  <a:moveTo>
                    <a:pt x="0" y="0"/>
                  </a:moveTo>
                  <a:lnTo>
                    <a:pt x="20116800" y="0"/>
                  </a:lnTo>
                  <a:lnTo>
                    <a:pt x="20116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7225" b="-307225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85725"/>
              <a:ext cx="20116800" cy="11830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 &amp; Future Scope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13435" y="2390775"/>
            <a:ext cx="3996690" cy="1939290"/>
            <a:chOff x="0" y="0"/>
            <a:chExt cx="5328920" cy="258572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328920" cy="2585720"/>
            </a:xfrm>
            <a:custGeom>
              <a:avLst/>
              <a:gdLst/>
              <a:ahLst/>
              <a:cxnLst/>
              <a:rect l="l" t="t" r="r" b="b"/>
              <a:pathLst>
                <a:path w="5328920" h="2585720">
                  <a:moveTo>
                    <a:pt x="0" y="166243"/>
                  </a:moveTo>
                  <a:cubicBezTo>
                    <a:pt x="0" y="74422"/>
                    <a:pt x="74422" y="0"/>
                    <a:pt x="166243" y="0"/>
                  </a:cubicBezTo>
                  <a:lnTo>
                    <a:pt x="5162677" y="0"/>
                  </a:lnTo>
                  <a:cubicBezTo>
                    <a:pt x="5254498" y="0"/>
                    <a:pt x="5328920" y="74422"/>
                    <a:pt x="5328920" y="166243"/>
                  </a:cubicBezTo>
                  <a:lnTo>
                    <a:pt x="5328920" y="2419477"/>
                  </a:lnTo>
                  <a:cubicBezTo>
                    <a:pt x="5328920" y="2511298"/>
                    <a:pt x="5254498" y="2585720"/>
                    <a:pt x="5162677" y="2585720"/>
                  </a:cubicBezTo>
                  <a:lnTo>
                    <a:pt x="166243" y="2585720"/>
                  </a:lnTo>
                  <a:cubicBezTo>
                    <a:pt x="74422" y="2585720"/>
                    <a:pt x="0" y="2511298"/>
                    <a:pt x="0" y="2419477"/>
                  </a:cubicBezTo>
                  <a:close/>
                </a:path>
              </a:pathLst>
            </a:custGeom>
            <a:solidFill>
              <a:srgbClr val="16213A"/>
            </a:solidFill>
            <a:ln w="19050" cap="sq">
              <a:solidFill>
                <a:srgbClr val="4F46E5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822960" y="2564892"/>
            <a:ext cx="3977640" cy="960120"/>
            <a:chOff x="0" y="0"/>
            <a:chExt cx="5303520" cy="12801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303520" cy="1280160"/>
            </a:xfrm>
            <a:custGeom>
              <a:avLst/>
              <a:gdLst/>
              <a:ahLst/>
              <a:cxnLst/>
              <a:rect l="l" t="t" r="r" b="b"/>
              <a:pathLst>
                <a:path w="5303520" h="1280160">
                  <a:moveTo>
                    <a:pt x="0" y="0"/>
                  </a:moveTo>
                  <a:lnTo>
                    <a:pt x="5303520" y="0"/>
                  </a:lnTo>
                  <a:lnTo>
                    <a:pt x="530352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723" b="-30723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114300"/>
              <a:ext cx="5303520" cy="13944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34D3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28700" y="3662172"/>
            <a:ext cx="3566160" cy="548640"/>
            <a:chOff x="0" y="0"/>
            <a:chExt cx="4754880" cy="73152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754880" cy="731520"/>
            </a:xfrm>
            <a:custGeom>
              <a:avLst/>
              <a:gdLst/>
              <a:ahLst/>
              <a:cxnLst/>
              <a:rect l="l" t="t" r="r" b="b"/>
              <a:pathLst>
                <a:path w="4754880" h="731520">
                  <a:moveTo>
                    <a:pt x="0" y="0"/>
                  </a:moveTo>
                  <a:lnTo>
                    <a:pt x="4754880" y="0"/>
                  </a:lnTo>
                  <a:lnTo>
                    <a:pt x="4754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6652" b="-76652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475488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Mongoose Models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996815" y="2390775"/>
            <a:ext cx="3996690" cy="1939290"/>
            <a:chOff x="0" y="0"/>
            <a:chExt cx="5328920" cy="258572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328920" cy="2585720"/>
            </a:xfrm>
            <a:custGeom>
              <a:avLst/>
              <a:gdLst/>
              <a:ahLst/>
              <a:cxnLst/>
              <a:rect l="l" t="t" r="r" b="b"/>
              <a:pathLst>
                <a:path w="5328920" h="2585720">
                  <a:moveTo>
                    <a:pt x="0" y="166243"/>
                  </a:moveTo>
                  <a:cubicBezTo>
                    <a:pt x="0" y="74422"/>
                    <a:pt x="74422" y="0"/>
                    <a:pt x="166243" y="0"/>
                  </a:cubicBezTo>
                  <a:lnTo>
                    <a:pt x="5162677" y="0"/>
                  </a:lnTo>
                  <a:cubicBezTo>
                    <a:pt x="5254498" y="0"/>
                    <a:pt x="5328920" y="74422"/>
                    <a:pt x="5328920" y="166243"/>
                  </a:cubicBezTo>
                  <a:lnTo>
                    <a:pt x="5328920" y="2419477"/>
                  </a:lnTo>
                  <a:cubicBezTo>
                    <a:pt x="5328920" y="2511298"/>
                    <a:pt x="5254498" y="2585720"/>
                    <a:pt x="5162677" y="2585720"/>
                  </a:cubicBezTo>
                  <a:lnTo>
                    <a:pt x="166243" y="2585720"/>
                  </a:lnTo>
                  <a:cubicBezTo>
                    <a:pt x="74422" y="2585720"/>
                    <a:pt x="0" y="2511298"/>
                    <a:pt x="0" y="2419477"/>
                  </a:cubicBezTo>
                  <a:close/>
                </a:path>
              </a:pathLst>
            </a:custGeom>
            <a:solidFill>
              <a:srgbClr val="16213A"/>
            </a:solidFill>
            <a:ln w="19050" cap="sq">
              <a:solidFill>
                <a:srgbClr val="4F46E5"/>
              </a:solidFill>
              <a:prstDash val="solid"/>
              <a:miter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5006340" y="2564892"/>
            <a:ext cx="3977640" cy="960120"/>
            <a:chOff x="0" y="0"/>
            <a:chExt cx="5303520" cy="128016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303520" cy="1280160"/>
            </a:xfrm>
            <a:custGeom>
              <a:avLst/>
              <a:gdLst/>
              <a:ahLst/>
              <a:cxnLst/>
              <a:rect l="l" t="t" r="r" b="b"/>
              <a:pathLst>
                <a:path w="5303520" h="1280160">
                  <a:moveTo>
                    <a:pt x="0" y="0"/>
                  </a:moveTo>
                  <a:lnTo>
                    <a:pt x="5303520" y="0"/>
                  </a:lnTo>
                  <a:lnTo>
                    <a:pt x="530352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723" b="-30723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114300"/>
              <a:ext cx="5303520" cy="13944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34D3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212080" y="3662172"/>
            <a:ext cx="3566160" cy="548640"/>
            <a:chOff x="0" y="0"/>
            <a:chExt cx="4754880" cy="73152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754880" cy="731520"/>
            </a:xfrm>
            <a:custGeom>
              <a:avLst/>
              <a:gdLst/>
              <a:ahLst/>
              <a:cxnLst/>
              <a:rect l="l" t="t" r="r" b="b"/>
              <a:pathLst>
                <a:path w="4754880" h="731520">
                  <a:moveTo>
                    <a:pt x="0" y="0"/>
                  </a:moveTo>
                  <a:lnTo>
                    <a:pt x="4754880" y="0"/>
                  </a:lnTo>
                  <a:lnTo>
                    <a:pt x="4754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6652" b="-76652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475488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API Resource Groups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180195" y="2390775"/>
            <a:ext cx="3996690" cy="1939290"/>
            <a:chOff x="0" y="0"/>
            <a:chExt cx="5328920" cy="258572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328920" cy="2585720"/>
            </a:xfrm>
            <a:custGeom>
              <a:avLst/>
              <a:gdLst/>
              <a:ahLst/>
              <a:cxnLst/>
              <a:rect l="l" t="t" r="r" b="b"/>
              <a:pathLst>
                <a:path w="5328920" h="2585720">
                  <a:moveTo>
                    <a:pt x="0" y="166243"/>
                  </a:moveTo>
                  <a:cubicBezTo>
                    <a:pt x="0" y="74422"/>
                    <a:pt x="74422" y="0"/>
                    <a:pt x="166243" y="0"/>
                  </a:cubicBezTo>
                  <a:lnTo>
                    <a:pt x="5162677" y="0"/>
                  </a:lnTo>
                  <a:cubicBezTo>
                    <a:pt x="5254498" y="0"/>
                    <a:pt x="5328920" y="74422"/>
                    <a:pt x="5328920" y="166243"/>
                  </a:cubicBezTo>
                  <a:lnTo>
                    <a:pt x="5328920" y="2419477"/>
                  </a:lnTo>
                  <a:cubicBezTo>
                    <a:pt x="5328920" y="2511298"/>
                    <a:pt x="5254498" y="2585720"/>
                    <a:pt x="5162677" y="2585720"/>
                  </a:cubicBezTo>
                  <a:lnTo>
                    <a:pt x="166243" y="2585720"/>
                  </a:lnTo>
                  <a:cubicBezTo>
                    <a:pt x="74422" y="2585720"/>
                    <a:pt x="0" y="2511298"/>
                    <a:pt x="0" y="2419477"/>
                  </a:cubicBezTo>
                  <a:close/>
                </a:path>
              </a:pathLst>
            </a:custGeom>
            <a:solidFill>
              <a:srgbClr val="16213A"/>
            </a:solidFill>
            <a:ln w="19050" cap="sq">
              <a:solidFill>
                <a:srgbClr val="4F46E5"/>
              </a:solidFill>
              <a:prstDash val="solid"/>
              <a:miter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9189720" y="2564892"/>
            <a:ext cx="3977640" cy="960120"/>
            <a:chOff x="0" y="0"/>
            <a:chExt cx="5303520" cy="128016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303520" cy="1280160"/>
            </a:xfrm>
            <a:custGeom>
              <a:avLst/>
              <a:gdLst/>
              <a:ahLst/>
              <a:cxnLst/>
              <a:rect l="l" t="t" r="r" b="b"/>
              <a:pathLst>
                <a:path w="5303520" h="1280160">
                  <a:moveTo>
                    <a:pt x="0" y="0"/>
                  </a:moveTo>
                  <a:lnTo>
                    <a:pt x="5303520" y="0"/>
                  </a:lnTo>
                  <a:lnTo>
                    <a:pt x="530352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723" b="-30723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114300"/>
              <a:ext cx="5303520" cy="13944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34D3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395460" y="3662172"/>
            <a:ext cx="3566160" cy="548640"/>
            <a:chOff x="0" y="0"/>
            <a:chExt cx="4754880" cy="73152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754880" cy="731520"/>
            </a:xfrm>
            <a:custGeom>
              <a:avLst/>
              <a:gdLst/>
              <a:ahLst/>
              <a:cxnLst/>
              <a:rect l="l" t="t" r="r" b="b"/>
              <a:pathLst>
                <a:path w="4754880" h="731520">
                  <a:moveTo>
                    <a:pt x="0" y="0"/>
                  </a:moveTo>
                  <a:lnTo>
                    <a:pt x="4754880" y="0"/>
                  </a:lnTo>
                  <a:lnTo>
                    <a:pt x="4754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6652" b="-76652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475488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Scoring Dimensions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3363575" y="2390775"/>
            <a:ext cx="3996690" cy="1939290"/>
            <a:chOff x="0" y="0"/>
            <a:chExt cx="5328920" cy="258572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5328920" cy="2585720"/>
            </a:xfrm>
            <a:custGeom>
              <a:avLst/>
              <a:gdLst/>
              <a:ahLst/>
              <a:cxnLst/>
              <a:rect l="l" t="t" r="r" b="b"/>
              <a:pathLst>
                <a:path w="5328920" h="2585720">
                  <a:moveTo>
                    <a:pt x="0" y="166243"/>
                  </a:moveTo>
                  <a:cubicBezTo>
                    <a:pt x="0" y="74422"/>
                    <a:pt x="74422" y="0"/>
                    <a:pt x="166243" y="0"/>
                  </a:cubicBezTo>
                  <a:lnTo>
                    <a:pt x="5162677" y="0"/>
                  </a:lnTo>
                  <a:cubicBezTo>
                    <a:pt x="5254498" y="0"/>
                    <a:pt x="5328920" y="74422"/>
                    <a:pt x="5328920" y="166243"/>
                  </a:cubicBezTo>
                  <a:lnTo>
                    <a:pt x="5328920" y="2419477"/>
                  </a:lnTo>
                  <a:cubicBezTo>
                    <a:pt x="5328920" y="2511298"/>
                    <a:pt x="5254498" y="2585720"/>
                    <a:pt x="5162677" y="2585720"/>
                  </a:cubicBezTo>
                  <a:lnTo>
                    <a:pt x="166243" y="2585720"/>
                  </a:lnTo>
                  <a:cubicBezTo>
                    <a:pt x="74422" y="2585720"/>
                    <a:pt x="0" y="2511298"/>
                    <a:pt x="0" y="2419477"/>
                  </a:cubicBezTo>
                  <a:close/>
                </a:path>
              </a:pathLst>
            </a:custGeom>
            <a:solidFill>
              <a:srgbClr val="16213A"/>
            </a:solidFill>
            <a:ln w="19050" cap="sq">
              <a:solidFill>
                <a:srgbClr val="4F46E5"/>
              </a:solidFill>
              <a:prstDash val="solid"/>
              <a:miter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13373100" y="2564892"/>
            <a:ext cx="3977640" cy="960120"/>
            <a:chOff x="0" y="0"/>
            <a:chExt cx="5303520" cy="128016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5303520" cy="1280160"/>
            </a:xfrm>
            <a:custGeom>
              <a:avLst/>
              <a:gdLst/>
              <a:ahLst/>
              <a:cxnLst/>
              <a:rect l="l" t="t" r="r" b="b"/>
              <a:pathLst>
                <a:path w="5303520" h="1280160">
                  <a:moveTo>
                    <a:pt x="0" y="0"/>
                  </a:moveTo>
                  <a:lnTo>
                    <a:pt x="5303520" y="0"/>
                  </a:lnTo>
                  <a:lnTo>
                    <a:pt x="530352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723" b="-30723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114300"/>
              <a:ext cx="5303520" cy="13944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34D3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3578840" y="3662172"/>
            <a:ext cx="3566160" cy="548640"/>
            <a:chOff x="0" y="0"/>
            <a:chExt cx="4754880" cy="73152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4754880" cy="731520"/>
            </a:xfrm>
            <a:custGeom>
              <a:avLst/>
              <a:gdLst/>
              <a:ahLst/>
              <a:cxnLst/>
              <a:rect l="l" t="t" r="r" b="b"/>
              <a:pathLst>
                <a:path w="4754880" h="731520">
                  <a:moveTo>
                    <a:pt x="0" y="0"/>
                  </a:moveTo>
                  <a:lnTo>
                    <a:pt x="4754880" y="0"/>
                  </a:lnTo>
                  <a:lnTo>
                    <a:pt x="4754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6652" b="-76652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475488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Gemini-Powered Feedback Engine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822960" y="4869180"/>
            <a:ext cx="8229600" cy="411480"/>
            <a:chOff x="0" y="0"/>
            <a:chExt cx="10972800" cy="54864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0972800" cy="548640"/>
            </a:xfrm>
            <a:custGeom>
              <a:avLst/>
              <a:gdLst/>
              <a:ahLst/>
              <a:cxnLst/>
              <a:rect l="l" t="t" r="r" b="b"/>
              <a:pathLst>
                <a:path w="10972800" h="54864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225">
                  <a:solidFill>
                    <a:srgbClr val="818C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FUTURE ENHANCEMENTS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38486" y="5337334"/>
            <a:ext cx="572452" cy="572452"/>
            <a:chOff x="0" y="0"/>
            <a:chExt cx="763270" cy="76327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763270" cy="763270"/>
            </a:xfrm>
            <a:custGeom>
              <a:avLst/>
              <a:gdLst/>
              <a:ahLst/>
              <a:cxnLst/>
              <a:rect l="l" t="t" r="r" b="b"/>
              <a:pathLst>
                <a:path w="763270" h="763270">
                  <a:moveTo>
                    <a:pt x="0" y="381635"/>
                  </a:moveTo>
                  <a:cubicBezTo>
                    <a:pt x="0" y="170815"/>
                    <a:pt x="170815" y="0"/>
                    <a:pt x="381635" y="0"/>
                  </a:cubicBezTo>
                  <a:cubicBezTo>
                    <a:pt x="592455" y="0"/>
                    <a:pt x="763270" y="170815"/>
                    <a:pt x="763270" y="381635"/>
                  </a:cubicBezTo>
                  <a:cubicBezTo>
                    <a:pt x="763270" y="592455"/>
                    <a:pt x="592455" y="763270"/>
                    <a:pt x="381635" y="763270"/>
                  </a:cubicBezTo>
                  <a:cubicBezTo>
                    <a:pt x="170815" y="763270"/>
                    <a:pt x="0" y="592455"/>
                    <a:pt x="0" y="381635"/>
                  </a:cubicBezTo>
                  <a:close/>
                </a:path>
              </a:pathLst>
            </a:custGeom>
            <a:solidFill>
              <a:srgbClr val="34D399">
                <a:alpha val="3137"/>
              </a:srgbClr>
            </a:solidFill>
            <a:ln w="23812" cap="sq">
              <a:solidFill>
                <a:srgbClr val="34D399"/>
              </a:solidFill>
              <a:prstDash val="solid"/>
              <a:miter/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866775" y="5325428"/>
            <a:ext cx="548640" cy="548640"/>
            <a:chOff x="0" y="0"/>
            <a:chExt cx="731520" cy="73152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19050"/>
              <a:ext cx="73152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72"/>
                </a:lnSpc>
              </a:pPr>
              <a:r>
                <a:rPr lang="en-US" sz="1560" b="1">
                  <a:solidFill>
                    <a:srgbClr val="34D3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+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577340" y="5417820"/>
            <a:ext cx="7475220" cy="438912"/>
            <a:chOff x="0" y="0"/>
            <a:chExt cx="9966960" cy="585216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9966960" cy="585216"/>
            </a:xfrm>
            <a:custGeom>
              <a:avLst/>
              <a:gdLst/>
              <a:ahLst/>
              <a:cxnLst/>
              <a:rect l="l" t="t" r="r" b="b"/>
              <a:pathLst>
                <a:path w="9966960" h="585216">
                  <a:moveTo>
                    <a:pt x="0" y="0"/>
                  </a:moveTo>
                  <a:lnTo>
                    <a:pt x="9966960" y="0"/>
                  </a:lnTo>
                  <a:lnTo>
                    <a:pt x="99669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1854" b="-281854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38100"/>
              <a:ext cx="9966960" cy="6233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b="1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Body-language analysis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577340" y="5897880"/>
            <a:ext cx="7475220" cy="1234440"/>
            <a:chOff x="0" y="0"/>
            <a:chExt cx="9966960" cy="164592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9966960" cy="1645920"/>
            </a:xfrm>
            <a:custGeom>
              <a:avLst/>
              <a:gdLst/>
              <a:ahLst/>
              <a:cxnLst/>
              <a:rect l="l" t="t" r="r" b="b"/>
              <a:pathLst>
                <a:path w="9966960" h="1645920">
                  <a:moveTo>
                    <a:pt x="0" y="0"/>
                  </a:moveTo>
                  <a:lnTo>
                    <a:pt x="9966960" y="0"/>
                  </a:lnTo>
                  <a:lnTo>
                    <a:pt x="996696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7992" b="-67992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66675"/>
              <a:ext cx="9966960" cy="17125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5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 the existing webcam feed for real posture &amp; expression scoring, not just presence detection.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9479566" y="5325428"/>
            <a:ext cx="572452" cy="572452"/>
            <a:chOff x="0" y="0"/>
            <a:chExt cx="763270" cy="76327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763270" cy="763270"/>
            </a:xfrm>
            <a:custGeom>
              <a:avLst/>
              <a:gdLst/>
              <a:ahLst/>
              <a:cxnLst/>
              <a:rect l="l" t="t" r="r" b="b"/>
              <a:pathLst>
                <a:path w="763270" h="763270">
                  <a:moveTo>
                    <a:pt x="0" y="381635"/>
                  </a:moveTo>
                  <a:cubicBezTo>
                    <a:pt x="0" y="170815"/>
                    <a:pt x="170815" y="0"/>
                    <a:pt x="381635" y="0"/>
                  </a:cubicBezTo>
                  <a:cubicBezTo>
                    <a:pt x="592455" y="0"/>
                    <a:pt x="763270" y="170815"/>
                    <a:pt x="763270" y="381635"/>
                  </a:cubicBezTo>
                  <a:cubicBezTo>
                    <a:pt x="763270" y="592455"/>
                    <a:pt x="592455" y="763270"/>
                    <a:pt x="381635" y="763270"/>
                  </a:cubicBezTo>
                  <a:cubicBezTo>
                    <a:pt x="170815" y="763270"/>
                    <a:pt x="0" y="592455"/>
                    <a:pt x="0" y="381635"/>
                  </a:cubicBezTo>
                  <a:close/>
                </a:path>
              </a:pathLst>
            </a:custGeom>
            <a:solidFill>
              <a:srgbClr val="34D399">
                <a:alpha val="3137"/>
              </a:srgbClr>
            </a:solidFill>
            <a:ln w="23812" cap="sq">
              <a:solidFill>
                <a:srgbClr val="34D399"/>
              </a:solidFill>
              <a:prstDash val="solid"/>
              <a:miter/>
            </a:ln>
          </p:spPr>
        </p:sp>
      </p:grpSp>
      <p:grpSp>
        <p:nvGrpSpPr>
          <p:cNvPr id="58" name="Group 58"/>
          <p:cNvGrpSpPr/>
          <p:nvPr/>
        </p:nvGrpSpPr>
        <p:grpSpPr>
          <a:xfrm>
            <a:off x="9503378" y="5325427"/>
            <a:ext cx="548640" cy="548640"/>
            <a:chOff x="0" y="0"/>
            <a:chExt cx="731520" cy="73152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60" name="TextBox 60"/>
            <p:cNvSpPr txBox="1"/>
            <p:nvPr/>
          </p:nvSpPr>
          <p:spPr>
            <a:xfrm>
              <a:off x="0" y="-19050"/>
              <a:ext cx="73152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72"/>
                </a:lnSpc>
              </a:pPr>
              <a:r>
                <a:rPr lang="en-US" sz="1560" b="1">
                  <a:solidFill>
                    <a:srgbClr val="34D3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+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0218420" y="5417820"/>
            <a:ext cx="7475220" cy="438912"/>
            <a:chOff x="0" y="0"/>
            <a:chExt cx="9966960" cy="585216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9966960" cy="585216"/>
            </a:xfrm>
            <a:custGeom>
              <a:avLst/>
              <a:gdLst/>
              <a:ahLst/>
              <a:cxnLst/>
              <a:rect l="l" t="t" r="r" b="b"/>
              <a:pathLst>
                <a:path w="9966960" h="585216">
                  <a:moveTo>
                    <a:pt x="0" y="0"/>
                  </a:moveTo>
                  <a:lnTo>
                    <a:pt x="9966960" y="0"/>
                  </a:lnTo>
                  <a:lnTo>
                    <a:pt x="99669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1854" b="-281854"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0" y="-38100"/>
              <a:ext cx="9966960" cy="6233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b="1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Resume-based questions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0213943" y="5897880"/>
            <a:ext cx="7475220" cy="1234440"/>
            <a:chOff x="0" y="0"/>
            <a:chExt cx="9966960" cy="164592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9966960" cy="1645920"/>
            </a:xfrm>
            <a:custGeom>
              <a:avLst/>
              <a:gdLst/>
              <a:ahLst/>
              <a:cxnLst/>
              <a:rect l="l" t="t" r="r" b="b"/>
              <a:pathLst>
                <a:path w="9966960" h="1645920">
                  <a:moveTo>
                    <a:pt x="0" y="0"/>
                  </a:moveTo>
                  <a:lnTo>
                    <a:pt x="9966960" y="0"/>
                  </a:lnTo>
                  <a:lnTo>
                    <a:pt x="996696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7992" b="-67992"/>
              </a:stretch>
            </a:blipFill>
          </p:spPr>
        </p:sp>
        <p:sp>
          <p:nvSpPr>
            <p:cNvPr id="66" name="TextBox 66"/>
            <p:cNvSpPr txBox="1"/>
            <p:nvPr/>
          </p:nvSpPr>
          <p:spPr>
            <a:xfrm>
              <a:off x="0" y="-66675"/>
              <a:ext cx="9966960" cy="17125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5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Parse an uploaded resume to generate personalized questions for the candidate's actual experience.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838486" y="7464076"/>
            <a:ext cx="572452" cy="572452"/>
            <a:chOff x="0" y="0"/>
            <a:chExt cx="763270" cy="76327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763270" cy="763270"/>
            </a:xfrm>
            <a:custGeom>
              <a:avLst/>
              <a:gdLst/>
              <a:ahLst/>
              <a:cxnLst/>
              <a:rect l="l" t="t" r="r" b="b"/>
              <a:pathLst>
                <a:path w="763270" h="763270">
                  <a:moveTo>
                    <a:pt x="0" y="381635"/>
                  </a:moveTo>
                  <a:cubicBezTo>
                    <a:pt x="0" y="170815"/>
                    <a:pt x="170815" y="0"/>
                    <a:pt x="381635" y="0"/>
                  </a:cubicBezTo>
                  <a:cubicBezTo>
                    <a:pt x="592455" y="0"/>
                    <a:pt x="763270" y="170815"/>
                    <a:pt x="763270" y="381635"/>
                  </a:cubicBezTo>
                  <a:cubicBezTo>
                    <a:pt x="763270" y="592455"/>
                    <a:pt x="592455" y="763270"/>
                    <a:pt x="381635" y="763270"/>
                  </a:cubicBezTo>
                  <a:cubicBezTo>
                    <a:pt x="170815" y="763270"/>
                    <a:pt x="0" y="592455"/>
                    <a:pt x="0" y="381635"/>
                  </a:cubicBezTo>
                  <a:close/>
                </a:path>
              </a:pathLst>
            </a:custGeom>
            <a:solidFill>
              <a:srgbClr val="34D399">
                <a:alpha val="3137"/>
              </a:srgbClr>
            </a:solidFill>
            <a:ln w="23812" cap="sq">
              <a:solidFill>
                <a:srgbClr val="34D399"/>
              </a:solidFill>
              <a:prstDash val="solid"/>
              <a:miter/>
            </a:ln>
          </p:spPr>
        </p:sp>
      </p:grpSp>
      <p:grpSp>
        <p:nvGrpSpPr>
          <p:cNvPr id="69" name="Group 69"/>
          <p:cNvGrpSpPr/>
          <p:nvPr/>
        </p:nvGrpSpPr>
        <p:grpSpPr>
          <a:xfrm>
            <a:off x="850392" y="7472648"/>
            <a:ext cx="548640" cy="548640"/>
            <a:chOff x="0" y="0"/>
            <a:chExt cx="731520" cy="73152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71" name="TextBox 71"/>
            <p:cNvSpPr txBox="1"/>
            <p:nvPr/>
          </p:nvSpPr>
          <p:spPr>
            <a:xfrm>
              <a:off x="0" y="-19050"/>
              <a:ext cx="73152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72"/>
                </a:lnSpc>
              </a:pPr>
              <a:r>
                <a:rPr lang="en-US" sz="1560" b="1">
                  <a:solidFill>
                    <a:srgbClr val="34D3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+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1577340" y="7543800"/>
            <a:ext cx="7475220" cy="438912"/>
            <a:chOff x="0" y="0"/>
            <a:chExt cx="9966960" cy="585216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9966960" cy="585216"/>
            </a:xfrm>
            <a:custGeom>
              <a:avLst/>
              <a:gdLst/>
              <a:ahLst/>
              <a:cxnLst/>
              <a:rect l="l" t="t" r="r" b="b"/>
              <a:pathLst>
                <a:path w="9966960" h="585216">
                  <a:moveTo>
                    <a:pt x="0" y="0"/>
                  </a:moveTo>
                  <a:lnTo>
                    <a:pt x="9966960" y="0"/>
                  </a:lnTo>
                  <a:lnTo>
                    <a:pt x="99669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1854" b="-281854"/>
              </a:stretch>
            </a:blipFill>
          </p:spPr>
        </p:sp>
        <p:sp>
          <p:nvSpPr>
            <p:cNvPr id="74" name="TextBox 74"/>
            <p:cNvSpPr txBox="1"/>
            <p:nvPr/>
          </p:nvSpPr>
          <p:spPr>
            <a:xfrm>
              <a:off x="0" y="-38100"/>
              <a:ext cx="9966960" cy="6233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b="1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Peer benchmarking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1577340" y="7827713"/>
            <a:ext cx="7475220" cy="1234440"/>
            <a:chOff x="0" y="0"/>
            <a:chExt cx="9966960" cy="1645920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9966960" cy="1645920"/>
            </a:xfrm>
            <a:custGeom>
              <a:avLst/>
              <a:gdLst/>
              <a:ahLst/>
              <a:cxnLst/>
              <a:rect l="l" t="t" r="r" b="b"/>
              <a:pathLst>
                <a:path w="9966960" h="1645920">
                  <a:moveTo>
                    <a:pt x="0" y="0"/>
                  </a:moveTo>
                  <a:lnTo>
                    <a:pt x="9966960" y="0"/>
                  </a:lnTo>
                  <a:lnTo>
                    <a:pt x="996696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7992" b="-67992"/>
              </a:stretch>
            </a:blipFill>
          </p:spPr>
        </p:sp>
        <p:sp>
          <p:nvSpPr>
            <p:cNvPr id="77" name="TextBox 77"/>
            <p:cNvSpPr txBox="1"/>
            <p:nvPr/>
          </p:nvSpPr>
          <p:spPr>
            <a:xfrm>
              <a:off x="0" y="-66675"/>
              <a:ext cx="9966960" cy="17125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5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Anonymous leaderboards comparing scores against others targeting the same role.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9479566" y="7464076"/>
            <a:ext cx="572452" cy="572452"/>
            <a:chOff x="0" y="0"/>
            <a:chExt cx="763270" cy="763270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763270" cy="763270"/>
            </a:xfrm>
            <a:custGeom>
              <a:avLst/>
              <a:gdLst/>
              <a:ahLst/>
              <a:cxnLst/>
              <a:rect l="l" t="t" r="r" b="b"/>
              <a:pathLst>
                <a:path w="763270" h="763270">
                  <a:moveTo>
                    <a:pt x="0" y="381635"/>
                  </a:moveTo>
                  <a:cubicBezTo>
                    <a:pt x="0" y="170815"/>
                    <a:pt x="170815" y="0"/>
                    <a:pt x="381635" y="0"/>
                  </a:cubicBezTo>
                  <a:cubicBezTo>
                    <a:pt x="592455" y="0"/>
                    <a:pt x="763270" y="170815"/>
                    <a:pt x="763270" y="381635"/>
                  </a:cubicBezTo>
                  <a:cubicBezTo>
                    <a:pt x="763270" y="592455"/>
                    <a:pt x="592455" y="763270"/>
                    <a:pt x="381635" y="763270"/>
                  </a:cubicBezTo>
                  <a:cubicBezTo>
                    <a:pt x="170815" y="763270"/>
                    <a:pt x="0" y="592455"/>
                    <a:pt x="0" y="381635"/>
                  </a:cubicBezTo>
                  <a:close/>
                </a:path>
              </a:pathLst>
            </a:custGeom>
            <a:solidFill>
              <a:srgbClr val="34D399">
                <a:alpha val="3137"/>
              </a:srgbClr>
            </a:solidFill>
            <a:ln w="23812" cap="sq">
              <a:solidFill>
                <a:srgbClr val="34D399"/>
              </a:solidFill>
              <a:prstDash val="solid"/>
              <a:miter/>
            </a:ln>
          </p:spPr>
        </p:sp>
      </p:grpSp>
      <p:grpSp>
        <p:nvGrpSpPr>
          <p:cNvPr id="80" name="Group 80"/>
          <p:cNvGrpSpPr/>
          <p:nvPr/>
        </p:nvGrpSpPr>
        <p:grpSpPr>
          <a:xfrm>
            <a:off x="9503378" y="7488936"/>
            <a:ext cx="548640" cy="548640"/>
            <a:chOff x="0" y="0"/>
            <a:chExt cx="731520" cy="731520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82" name="TextBox 82"/>
            <p:cNvSpPr txBox="1"/>
            <p:nvPr/>
          </p:nvSpPr>
          <p:spPr>
            <a:xfrm>
              <a:off x="0" y="-19050"/>
              <a:ext cx="73152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72"/>
                </a:lnSpc>
              </a:pPr>
              <a:r>
                <a:rPr lang="en-US" sz="1560" b="1">
                  <a:solidFill>
                    <a:srgbClr val="34D3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+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10218420" y="7543800"/>
            <a:ext cx="7475220" cy="438912"/>
            <a:chOff x="0" y="0"/>
            <a:chExt cx="9966960" cy="585216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9966960" cy="585216"/>
            </a:xfrm>
            <a:custGeom>
              <a:avLst/>
              <a:gdLst/>
              <a:ahLst/>
              <a:cxnLst/>
              <a:rect l="l" t="t" r="r" b="b"/>
              <a:pathLst>
                <a:path w="9966960" h="585216">
                  <a:moveTo>
                    <a:pt x="0" y="0"/>
                  </a:moveTo>
                  <a:lnTo>
                    <a:pt x="9966960" y="0"/>
                  </a:lnTo>
                  <a:lnTo>
                    <a:pt x="99669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1854" b="-281854"/>
              </a:stretch>
            </a:blipFill>
          </p:spPr>
        </p:sp>
        <p:sp>
          <p:nvSpPr>
            <p:cNvPr id="85" name="TextBox 85"/>
            <p:cNvSpPr txBox="1"/>
            <p:nvPr/>
          </p:nvSpPr>
          <p:spPr>
            <a:xfrm>
              <a:off x="0" y="-38100"/>
              <a:ext cx="9966960" cy="6233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b="1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Pluggable AI providers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10232993" y="7827713"/>
            <a:ext cx="7475220" cy="1234440"/>
            <a:chOff x="0" y="0"/>
            <a:chExt cx="9966960" cy="1645920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9966960" cy="1645920"/>
            </a:xfrm>
            <a:custGeom>
              <a:avLst/>
              <a:gdLst/>
              <a:ahLst/>
              <a:cxnLst/>
              <a:rect l="l" t="t" r="r" b="b"/>
              <a:pathLst>
                <a:path w="9966960" h="1645920">
                  <a:moveTo>
                    <a:pt x="0" y="0"/>
                  </a:moveTo>
                  <a:lnTo>
                    <a:pt x="9966960" y="0"/>
                  </a:lnTo>
                  <a:lnTo>
                    <a:pt x="996696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7992" b="-67992"/>
              </a:stretch>
            </a:blipFill>
          </p:spPr>
        </p:sp>
        <p:sp>
          <p:nvSpPr>
            <p:cNvPr id="88" name="TextBox 88"/>
            <p:cNvSpPr txBox="1"/>
            <p:nvPr/>
          </p:nvSpPr>
          <p:spPr>
            <a:xfrm>
              <a:off x="0" y="-66675"/>
              <a:ext cx="9966960" cy="17125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5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aiService.js is already isolated — swapping in another LLM needs no controller changes.</a:t>
              </a:r>
            </a:p>
          </p:txBody>
        </p:sp>
      </p:grpSp>
      <p:sp>
        <p:nvSpPr>
          <p:cNvPr id="89" name="AutoShape 89"/>
          <p:cNvSpPr/>
          <p:nvPr/>
        </p:nvSpPr>
        <p:spPr>
          <a:xfrm rot="3960">
            <a:off x="813425" y="9047798"/>
            <a:ext cx="16656568" cy="0"/>
          </a:xfrm>
          <a:prstGeom prst="line">
            <a:avLst/>
          </a:prstGeom>
          <a:ln w="9525" cap="rnd">
            <a:solidFill>
              <a:srgbClr val="2E3B5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0" name="Group 90"/>
          <p:cNvGrpSpPr/>
          <p:nvPr/>
        </p:nvGrpSpPr>
        <p:grpSpPr>
          <a:xfrm>
            <a:off x="822960" y="9326880"/>
            <a:ext cx="8229600" cy="548640"/>
            <a:chOff x="0" y="0"/>
            <a:chExt cx="10972800" cy="731520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10972800" cy="731520"/>
            </a:xfrm>
            <a:custGeom>
              <a:avLst/>
              <a:gdLst/>
              <a:ahLst/>
              <a:cxnLst/>
              <a:rect l="l" t="t" r="r" b="b"/>
              <a:pathLst>
                <a:path w="10972800" h="73152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92" name="TextBox 92"/>
            <p:cNvSpPr txBox="1"/>
            <p:nvPr/>
          </p:nvSpPr>
          <p:spPr>
            <a:xfrm>
              <a:off x="0" y="-38100"/>
              <a:ext cx="1097280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Thank you.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822960" y="9710928"/>
            <a:ext cx="8229600" cy="411480"/>
            <a:chOff x="0" y="0"/>
            <a:chExt cx="10972800" cy="548640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10972800" cy="548640"/>
            </a:xfrm>
            <a:custGeom>
              <a:avLst/>
              <a:gdLst/>
              <a:ahLst/>
              <a:cxnLst/>
              <a:rect l="l" t="t" r="r" b="b"/>
              <a:pathLst>
                <a:path w="10972800" h="54864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95" name="TextBox 95"/>
            <p:cNvSpPr txBox="1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Interview Practice Platform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16641623" y="9710928"/>
            <a:ext cx="822960" cy="411480"/>
            <a:chOff x="0" y="0"/>
            <a:chExt cx="1097280" cy="548640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1097280" cy="548640"/>
            </a:xfrm>
            <a:custGeom>
              <a:avLst/>
              <a:gdLst/>
              <a:ahLst/>
              <a:cxnLst/>
              <a:rect l="l" t="t" r="r" b="b"/>
              <a:pathLst>
                <a:path w="1097280" h="54864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98" name="TextBox 98"/>
            <p:cNvSpPr txBox="1"/>
            <p:nvPr/>
          </p:nvSpPr>
          <p:spPr>
            <a:xfrm>
              <a:off x="0" y="-28575"/>
              <a:ext cx="109728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</a:t>
              </a:r>
            </a:p>
          </p:txBody>
        </p:sp>
      </p:grpSp>
      <p:pic>
        <p:nvPicPr>
          <p:cNvPr id="100" name="Picture 99" descr="Our Team - KLH Bachupally">
            <a:extLst>
              <a:ext uri="{FF2B5EF4-FFF2-40B4-BE49-F238E27FC236}">
                <a16:creationId xmlns:a16="http://schemas.microsoft.com/office/drawing/2014/main" id="{6727B658-9B6F-78A2-5AE6-F619785A1F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72054" y="0"/>
            <a:ext cx="3115946" cy="161964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1275</Words>
  <Application>Microsoft Office PowerPoint</Application>
  <PresentationFormat>Custom</PresentationFormat>
  <Paragraphs>329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Calibri (MS) Bold</vt:lpstr>
      <vt:lpstr>Calibri (MS)</vt:lpstr>
      <vt:lpstr>Arial</vt:lpstr>
      <vt:lpstr>Courier New Bold</vt:lpstr>
      <vt:lpstr>Calibri</vt:lpstr>
      <vt:lpstr>Courier New</vt:lpstr>
      <vt:lpstr>Calibri (MS)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Intteree_Project_Presentation (1).pptx</dc:title>
  <cp:lastModifiedBy>kompalllypavan@outlook.com</cp:lastModifiedBy>
  <cp:revision>4</cp:revision>
  <dcterms:created xsi:type="dcterms:W3CDTF">2006-08-16T00:00:00Z</dcterms:created>
  <dcterms:modified xsi:type="dcterms:W3CDTF">2026-09-28T08:32:35Z</dcterms:modified>
  <dc:identifier>DAHV-qrcGjw</dc:identifier>
</cp:coreProperties>
</file>